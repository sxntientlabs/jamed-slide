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B031904-673D-43CF-9F90-FB8F105A521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A9EA63-57DF-41B6-A3B6-96D87F6E46BE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D113EF-E4A0-4288-A9F6-DD174277E4C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AF9745-81C1-4AB5-A463-0D4B5D057ED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EA4CE3-AF45-40D0-90A1-A605CEBA7A8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B7971D-3AD9-4E35-92F1-08A44370EC9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F8E42A-9FB6-435F-BAAB-E483FC211E7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C5AFDF-5981-4615-96EF-9C4C34D5DA3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E3660D-160E-4026-AF86-4D8D2885082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93FD1E-9B09-4A12-8270-2711187143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77ED3C-A935-49A6-80FD-38ADFD409A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4085760-807C-4596-B184-0DA509C2C9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A48C79F-EE79-4C4C-B10C-B35BDD436A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709A214-F0FC-4FE2-A935-724B662F7E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A266557-179E-47E7-804D-3906264A8D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E8AD454-6A38-4B9A-8E69-F8EAF96F6C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913BC3F-697D-4C93-8969-E6B25CD93B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6D8679B-E21C-4918-A01A-3803B88F157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6FD629D-7333-4D7F-96A5-BF7104FBD8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87AD1D0-A46E-4986-A7BE-DDBBA1F0CC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16"/>
          <p:cNvSpPr/>
          <p:nvPr/>
        </p:nvSpPr>
        <p:spPr>
          <a:xfrm>
            <a:off x="203040" y="152280"/>
            <a:ext cx="11785320" cy="655272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3FA567-3E82-48F2-AFBF-51A33703E8B7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0;p16"/>
          <p:cNvSpPr/>
          <p:nvPr/>
        </p:nvSpPr>
        <p:spPr>
          <a:xfrm>
            <a:off x="203040" y="152280"/>
            <a:ext cx="11785320" cy="655272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 rot="5400000">
            <a:off x="3833280" y="-1623240"/>
            <a:ext cx="4525560" cy="1097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F8581F-9876-457E-9EC3-5B0BCD9128D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0;p16"/>
          <p:cNvSpPr/>
          <p:nvPr/>
        </p:nvSpPr>
        <p:spPr>
          <a:xfrm>
            <a:off x="203040" y="152280"/>
            <a:ext cx="11785320" cy="655272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 rot="5400000">
            <a:off x="7285320" y="1828440"/>
            <a:ext cx="5851080" cy="274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 rot="5400000">
            <a:off x="1697400" y="-812880"/>
            <a:ext cx="5851080" cy="802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20A400-F96F-45DA-9058-A4B49AB08E5C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0;p16"/>
          <p:cNvSpPr/>
          <p:nvPr/>
        </p:nvSpPr>
        <p:spPr>
          <a:xfrm>
            <a:off x="203040" y="152280"/>
            <a:ext cx="11785320" cy="655272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3F3C03-809A-4574-A421-2C0A6F1AFFBD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0;p16"/>
          <p:cNvSpPr/>
          <p:nvPr/>
        </p:nvSpPr>
        <p:spPr>
          <a:xfrm>
            <a:off x="203040" y="152280"/>
            <a:ext cx="11785320" cy="655272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1619C0-D375-441A-B159-86C92F5F794E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10;p16"/>
          <p:cNvSpPr/>
          <p:nvPr/>
        </p:nvSpPr>
        <p:spPr>
          <a:xfrm>
            <a:off x="203040" y="152280"/>
            <a:ext cx="11785320" cy="655272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F5788A-7B5B-48ED-BCF6-AA4ED0D589E8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10;p16"/>
          <p:cNvSpPr/>
          <p:nvPr/>
        </p:nvSpPr>
        <p:spPr>
          <a:xfrm>
            <a:off x="203040" y="152280"/>
            <a:ext cx="11785320" cy="655272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2771E9-8C59-4662-ADA1-4E4498C296DE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0;p16"/>
          <p:cNvSpPr/>
          <p:nvPr/>
        </p:nvSpPr>
        <p:spPr>
          <a:xfrm>
            <a:off x="203040" y="152280"/>
            <a:ext cx="11785320" cy="655272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415AE2-8C87-4A01-A1A7-99E1D40B664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10;p16"/>
          <p:cNvSpPr/>
          <p:nvPr/>
        </p:nvSpPr>
        <p:spPr>
          <a:xfrm>
            <a:off x="203040" y="152280"/>
            <a:ext cx="11785320" cy="655272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533E88-92CF-42D3-9184-746A4AA2365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0;p16"/>
          <p:cNvSpPr/>
          <p:nvPr/>
        </p:nvSpPr>
        <p:spPr>
          <a:xfrm>
            <a:off x="203040" y="152280"/>
            <a:ext cx="11785320" cy="655272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9122CA-A4CB-429E-BCCF-F3D36D390CBA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0;p16"/>
          <p:cNvSpPr/>
          <p:nvPr/>
        </p:nvSpPr>
        <p:spPr>
          <a:xfrm>
            <a:off x="203040" y="152280"/>
            <a:ext cx="11785320" cy="655272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141425-43B4-4781-8D9C-258BCA746C08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LAPORAN JAGA PERINATOLOGI</a:t>
            </a:r>
            <a:br>
              <a:rPr sz="4400"/>
            </a:b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Hari…., Tanggal ….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1828800" y="3886200"/>
            <a:ext cx="8534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Mahasiswa: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Tim Jaga Perinatologi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: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DPJP Perinatologi 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Google Shape;92;p1"/>
          <p:cNvSpPr/>
          <p:nvPr/>
        </p:nvSpPr>
        <p:spPr>
          <a:xfrm>
            <a:off x="1707840" y="-55116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Google Shape;93;p1" descr="Makara-ui-fk.png"/>
          <p:cNvPicPr/>
          <p:nvPr/>
        </p:nvPicPr>
        <p:blipFill>
          <a:blip r:embed="rId1"/>
          <a:stretch/>
        </p:blipFill>
        <p:spPr>
          <a:xfrm>
            <a:off x="558360" y="476640"/>
            <a:ext cx="1117080" cy="1501920"/>
          </a:xfrm>
          <a:prstGeom prst="rect">
            <a:avLst/>
          </a:prstGeom>
          <a:ln w="0">
            <a:noFill/>
          </a:ln>
        </p:spPr>
      </p:pic>
      <p:pic>
        <p:nvPicPr>
          <p:cNvPr id="87" name="Google Shape;135;p25" descr=""/>
          <p:cNvPicPr/>
          <p:nvPr/>
        </p:nvPicPr>
        <p:blipFill>
          <a:blip r:embed="rId2"/>
          <a:stretch/>
        </p:blipFill>
        <p:spPr>
          <a:xfrm>
            <a:off x="8915400" y="715680"/>
            <a:ext cx="2792160" cy="65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Identitas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9" name="Google Shape;101;p2"/>
          <p:cNvGraphicFramePr/>
          <p:nvPr/>
        </p:nvGraphicFramePr>
        <p:xfrm>
          <a:off x="609480" y="1446120"/>
          <a:ext cx="7849800" cy="3897360"/>
        </p:xfrm>
        <a:graphic>
          <a:graphicData uri="http://schemas.openxmlformats.org/drawingml/2006/table">
            <a:tbl>
              <a:tblPr/>
              <a:tblGrid>
                <a:gridCol w="2310120"/>
                <a:gridCol w="5540040"/>
              </a:tblGrid>
              <a:tr h="428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Nama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35244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: 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Jenis kelamin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35244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: 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Usia/perawatan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35244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: 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Usia gestasi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35244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: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Berat lahir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35244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:      gram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No. RM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2728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 </a:t>
                      </a: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: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Alamat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35244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: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6600"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" name="PlaceHolder 2"/>
          <p:cNvSpPr>
            <a:spLocks noGrp="1"/>
          </p:cNvSpPr>
          <p:nvPr>
            <p:ph type="sldNum" idx="3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698F40-82FC-4B2F-AD08-0679986F3277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91" name="Google Shape;103;p2"/>
          <p:cNvGrpSpPr/>
          <p:nvPr/>
        </p:nvGrpSpPr>
        <p:grpSpPr>
          <a:xfrm>
            <a:off x="599760" y="4745520"/>
            <a:ext cx="10982520" cy="1779120"/>
            <a:chOff x="599760" y="4745520"/>
            <a:chExt cx="10982520" cy="1779120"/>
          </a:xfrm>
        </p:grpSpPr>
        <p:sp>
          <p:nvSpPr>
            <p:cNvPr id="92" name="Google Shape;104;p2"/>
            <p:cNvSpPr/>
            <p:nvPr/>
          </p:nvSpPr>
          <p:spPr>
            <a:xfrm>
              <a:off x="599760" y="5107320"/>
              <a:ext cx="10982520" cy="141732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4f81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" name="Google Shape;105;p2"/>
            <p:cNvSpPr/>
            <p:nvPr/>
          </p:nvSpPr>
          <p:spPr>
            <a:xfrm>
              <a:off x="599760" y="5107320"/>
              <a:ext cx="10982520" cy="14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2480" rIns="852480" tIns="520560" bIns="170640" anchor="t">
              <a:noAutofit/>
            </a:bodyPr>
            <a:p>
              <a:pPr marL="228600" indent="-76320">
                <a:lnSpc>
                  <a:spcPct val="90000"/>
                </a:lnSpc>
                <a:tabLst>
                  <a:tab algn="l" pos="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marL="228600" indent="-76320">
                <a:lnSpc>
                  <a:spcPct val="90000"/>
                </a:lnSpc>
                <a:spcBef>
                  <a:spcPts val="360"/>
                </a:spcBef>
                <a:tabLst>
                  <a:tab algn="l" pos="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" name="Google Shape;106;p2"/>
            <p:cNvSpPr/>
            <p:nvPr/>
          </p:nvSpPr>
          <p:spPr>
            <a:xfrm>
              <a:off x="1148760" y="4745520"/>
              <a:ext cx="7687440" cy="7376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5" name="Google Shape;107;p2"/>
            <p:cNvSpPr/>
            <p:nvPr/>
          </p:nvSpPr>
          <p:spPr>
            <a:xfrm>
              <a:off x="1184760" y="4781520"/>
              <a:ext cx="7615440" cy="66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520" rIns="29052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Keluhan Utama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113;p3"/>
          <p:cNvGrpSpPr/>
          <p:nvPr/>
        </p:nvGrpSpPr>
        <p:grpSpPr>
          <a:xfrm>
            <a:off x="609480" y="388080"/>
            <a:ext cx="10972440" cy="6081120"/>
            <a:chOff x="609480" y="388080"/>
            <a:chExt cx="10972440" cy="6081120"/>
          </a:xfrm>
        </p:grpSpPr>
        <p:sp>
          <p:nvSpPr>
            <p:cNvPr id="97" name="Google Shape;114;p3"/>
            <p:cNvSpPr/>
            <p:nvPr/>
          </p:nvSpPr>
          <p:spPr>
            <a:xfrm>
              <a:off x="609480" y="549000"/>
              <a:ext cx="10972440" cy="361296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bf504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" name="Google Shape;115;p3"/>
            <p:cNvSpPr/>
            <p:nvPr/>
          </p:nvSpPr>
          <p:spPr>
            <a:xfrm>
              <a:off x="609480" y="549000"/>
              <a:ext cx="10972440" cy="361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395640" bIns="120960" anchor="t">
              <a:noAutofit/>
            </a:bodyPr>
            <a:p>
              <a:pPr marL="171360" indent="-63360" algn="just">
                <a:lnSpc>
                  <a:spcPct val="90000"/>
                </a:lnSpc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" name="Google Shape;116;p3"/>
            <p:cNvSpPr/>
            <p:nvPr/>
          </p:nvSpPr>
          <p:spPr>
            <a:xfrm>
              <a:off x="1158120" y="388080"/>
              <a:ext cx="7680600" cy="441000"/>
            </a:xfrm>
            <a:prstGeom prst="roundRect">
              <a:avLst>
                <a:gd name="adj" fmla="val 16667"/>
              </a:avLst>
            </a:prstGeom>
            <a:solidFill>
              <a:srgbClr val="bf504d"/>
            </a:solidFill>
            <a:ln w="38100">
              <a:solidFill>
                <a:srgbClr val="ffffff"/>
              </a:solidFill>
              <a:round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0" name="Google Shape;117;p3"/>
            <p:cNvSpPr/>
            <p:nvPr/>
          </p:nvSpPr>
          <p:spPr>
            <a:xfrm>
              <a:off x="1179720" y="409680"/>
              <a:ext cx="7637400" cy="39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19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KONSULTASI ANTENATAL</a:t>
              </a:r>
              <a:endParaRPr b="0" lang="en-US" sz="19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" name="Google Shape;118;p3"/>
            <p:cNvSpPr/>
            <p:nvPr/>
          </p:nvSpPr>
          <p:spPr>
            <a:xfrm>
              <a:off x="609480" y="4494600"/>
              <a:ext cx="10972440" cy="197460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9bbb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" name="Google Shape;119;p3"/>
            <p:cNvSpPr/>
            <p:nvPr/>
          </p:nvSpPr>
          <p:spPr>
            <a:xfrm>
              <a:off x="609480" y="4494600"/>
              <a:ext cx="10972440" cy="1974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395640" bIns="128160" anchor="t">
              <a:noAutofit/>
            </a:bodyPr>
            <a:p>
              <a:pPr marL="171360" indent="-57240">
                <a:lnSpc>
                  <a:spcPct val="9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57240">
                <a:lnSpc>
                  <a:spcPct val="90000"/>
                </a:lnSpc>
                <a:spcBef>
                  <a:spcPts val="269"/>
                </a:spcBef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57240">
                <a:lnSpc>
                  <a:spcPct val="90000"/>
                </a:lnSpc>
                <a:spcBef>
                  <a:spcPts val="269"/>
                </a:spcBef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57240">
                <a:lnSpc>
                  <a:spcPct val="90000"/>
                </a:lnSpc>
                <a:spcBef>
                  <a:spcPts val="269"/>
                </a:spcBef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57240">
                <a:lnSpc>
                  <a:spcPct val="90000"/>
                </a:lnSpc>
                <a:spcBef>
                  <a:spcPts val="269"/>
                </a:spcBef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" name="Google Shape;120;p3"/>
            <p:cNvSpPr/>
            <p:nvPr/>
          </p:nvSpPr>
          <p:spPr>
            <a:xfrm>
              <a:off x="1158120" y="4264920"/>
              <a:ext cx="7680600" cy="50976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38100">
              <a:solidFill>
                <a:srgbClr val="ffffff"/>
              </a:solidFill>
              <a:round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" name="Google Shape;121;p3"/>
            <p:cNvSpPr/>
            <p:nvPr/>
          </p:nvSpPr>
          <p:spPr>
            <a:xfrm>
              <a:off x="1183320" y="4289760"/>
              <a:ext cx="7630920" cy="46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19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USG FETOMATERNAL</a:t>
              </a:r>
              <a:endParaRPr b="0" lang="en-US" sz="19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5" name="PlaceHolder 1"/>
          <p:cNvSpPr>
            <a:spLocks noGrp="1"/>
          </p:cNvSpPr>
          <p:nvPr>
            <p:ph type="sldNum" idx="3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9C5277-13D5-498E-8961-785B2E6B99EE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1" lang="en-US" sz="4400" spc="-1" strike="noStrike">
              <a:solidFill>
                <a:schemeClr val="dk2"/>
              </a:solidFill>
              <a:latin typeface="Calibri"/>
              <a:ea typeface="Calibri"/>
            </a:endParaRPr>
          </a:p>
        </p:txBody>
      </p:sp>
      <p:grpSp>
        <p:nvGrpSpPr>
          <p:cNvPr id="107" name="Google Shape;129;p4"/>
          <p:cNvGrpSpPr/>
          <p:nvPr/>
        </p:nvGrpSpPr>
        <p:grpSpPr>
          <a:xfrm>
            <a:off x="609480" y="1600200"/>
            <a:ext cx="10972440" cy="4517280"/>
            <a:chOff x="609480" y="1600200"/>
            <a:chExt cx="10972440" cy="4517280"/>
          </a:xfrm>
        </p:grpSpPr>
        <p:sp>
          <p:nvSpPr>
            <p:cNvPr id="108" name="Google Shape;130;p4"/>
            <p:cNvSpPr/>
            <p:nvPr/>
          </p:nvSpPr>
          <p:spPr>
            <a:xfrm>
              <a:off x="609480" y="1641240"/>
              <a:ext cx="10972440" cy="128484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49acc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" name="Google Shape;131;p4"/>
            <p:cNvSpPr/>
            <p:nvPr/>
          </p:nvSpPr>
          <p:spPr>
            <a:xfrm>
              <a:off x="609480" y="1641240"/>
              <a:ext cx="10972440" cy="128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333360" bIns="177840" anchor="t">
              <a:noAutofit/>
            </a:bodyPr>
            <a:p>
              <a:pPr marL="228600" indent="-69840">
                <a:lnSpc>
                  <a:spcPct val="90000"/>
                </a:lnSpc>
                <a:tabLst>
                  <a:tab algn="l" pos="0"/>
                </a:tabLst>
              </a:pP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  <a:p>
              <a:pPr marL="228600" indent="-69840">
                <a:lnSpc>
                  <a:spcPct val="90000"/>
                </a:lnSpc>
                <a:spcBef>
                  <a:spcPts val="374"/>
                </a:spcBef>
                <a:tabLst>
                  <a:tab algn="l" pos="0"/>
                </a:tabLst>
              </a:pP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" name="Google Shape;132;p4"/>
            <p:cNvSpPr/>
            <p:nvPr/>
          </p:nvSpPr>
          <p:spPr>
            <a:xfrm>
              <a:off x="1192320" y="1600200"/>
              <a:ext cx="8615160" cy="256680"/>
            </a:xfrm>
            <a:prstGeom prst="roundRect">
              <a:avLst>
                <a:gd name="adj" fmla="val 16667"/>
              </a:avLst>
            </a:prstGeom>
            <a:solidFill>
              <a:srgbClr val="49acc5"/>
            </a:solidFill>
            <a:ln w="38100">
              <a:solidFill>
                <a:srgbClr val="ffffff"/>
              </a:solidFill>
              <a:round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1" name="Google Shape;133;p4"/>
            <p:cNvSpPr/>
            <p:nvPr/>
          </p:nvSpPr>
          <p:spPr>
            <a:xfrm>
              <a:off x="1204920" y="1612800"/>
              <a:ext cx="8589960" cy="23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25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RIWAYAT PERSALINAN SEBELUMNYA</a:t>
              </a: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2" name="Google Shape;134;p4"/>
            <p:cNvSpPr/>
            <p:nvPr/>
          </p:nvSpPr>
          <p:spPr>
            <a:xfrm>
              <a:off x="609480" y="3025440"/>
              <a:ext cx="10972440" cy="128484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5fdf4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3" name="Google Shape;135;p4"/>
            <p:cNvSpPr/>
            <p:nvPr/>
          </p:nvSpPr>
          <p:spPr>
            <a:xfrm>
              <a:off x="609480" y="3025440"/>
              <a:ext cx="10972440" cy="128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333360" bIns="177840" anchor="t">
              <a:noAutofit/>
            </a:bodyPr>
            <a:p>
              <a:pPr marL="228600" indent="-69840">
                <a:lnSpc>
                  <a:spcPct val="90000"/>
                </a:lnSpc>
                <a:tabLst>
                  <a:tab algn="l" pos="0"/>
                </a:tabLst>
              </a:pP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  <a:p>
              <a:pPr marL="228600" indent="-69840">
                <a:lnSpc>
                  <a:spcPct val="90000"/>
                </a:lnSpc>
                <a:spcBef>
                  <a:spcPts val="374"/>
                </a:spcBef>
                <a:tabLst>
                  <a:tab algn="l" pos="0"/>
                </a:tabLst>
              </a:pP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4" name="Google Shape;136;p4"/>
            <p:cNvSpPr/>
            <p:nvPr/>
          </p:nvSpPr>
          <p:spPr>
            <a:xfrm>
              <a:off x="1158120" y="3000960"/>
              <a:ext cx="8683560" cy="252000"/>
            </a:xfrm>
            <a:prstGeom prst="roundRect">
              <a:avLst>
                <a:gd name="adj" fmla="val 16667"/>
              </a:avLst>
            </a:prstGeom>
            <a:solidFill>
              <a:srgbClr val="5fdf45"/>
            </a:solidFill>
            <a:ln w="38100">
              <a:solidFill>
                <a:srgbClr val="ffffff"/>
              </a:solidFill>
              <a:round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5" name="Google Shape;137;p4"/>
            <p:cNvSpPr/>
            <p:nvPr/>
          </p:nvSpPr>
          <p:spPr>
            <a:xfrm>
              <a:off x="1170720" y="3013200"/>
              <a:ext cx="8658720" cy="22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25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RIWAYAT PENYAKIT DAHULU</a:t>
              </a: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6" name="Google Shape;138;p4"/>
            <p:cNvSpPr/>
            <p:nvPr/>
          </p:nvSpPr>
          <p:spPr>
            <a:xfrm>
              <a:off x="609480" y="4411800"/>
              <a:ext cx="10972440" cy="170568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f6944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7" name="Google Shape;139;p4"/>
            <p:cNvSpPr/>
            <p:nvPr/>
          </p:nvSpPr>
          <p:spPr>
            <a:xfrm>
              <a:off x="609480" y="4411800"/>
              <a:ext cx="10972440" cy="170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333360" bIns="177840" anchor="t">
              <a:noAutofit/>
            </a:bodyPr>
            <a:p>
              <a:pPr marL="228600" indent="-69840">
                <a:lnSpc>
                  <a:spcPct val="90000"/>
                </a:lnSpc>
                <a:tabLst>
                  <a:tab algn="l" pos="0"/>
                </a:tabLst>
              </a:pP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  <a:p>
              <a:pPr marL="228600" indent="-69840">
                <a:lnSpc>
                  <a:spcPct val="90000"/>
                </a:lnSpc>
                <a:spcBef>
                  <a:spcPts val="374"/>
                </a:spcBef>
                <a:tabLst>
                  <a:tab algn="l" pos="0"/>
                </a:tabLst>
              </a:pP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8" name="Google Shape;140;p4"/>
            <p:cNvSpPr/>
            <p:nvPr/>
          </p:nvSpPr>
          <p:spPr>
            <a:xfrm>
              <a:off x="1158120" y="4388760"/>
              <a:ext cx="8683560" cy="259200"/>
            </a:xfrm>
            <a:prstGeom prst="roundRect">
              <a:avLst>
                <a:gd name="adj" fmla="val 16667"/>
              </a:avLst>
            </a:prstGeom>
            <a:solidFill>
              <a:srgbClr val="f69444"/>
            </a:solidFill>
            <a:ln w="38100">
              <a:solidFill>
                <a:srgbClr val="ffffff"/>
              </a:solidFill>
              <a:round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" name="Google Shape;141;p4"/>
            <p:cNvSpPr/>
            <p:nvPr/>
          </p:nvSpPr>
          <p:spPr>
            <a:xfrm>
              <a:off x="1171080" y="4401360"/>
              <a:ext cx="8658000" cy="23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25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RIWAYAT PENYAKIT KELUARGA</a:t>
              </a: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0" name="PlaceHolder 2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30333E-AF49-4470-A9A2-E3F66001AC08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1" lang="en-US" sz="4400" spc="-1" strike="noStrike">
              <a:solidFill>
                <a:schemeClr val="dk2"/>
              </a:solidFill>
              <a:latin typeface="Calibri"/>
              <a:ea typeface="Calibri"/>
            </a:endParaRPr>
          </a:p>
        </p:txBody>
      </p:sp>
      <p:grpSp>
        <p:nvGrpSpPr>
          <p:cNvPr id="122" name="Google Shape;149;p5"/>
          <p:cNvGrpSpPr/>
          <p:nvPr/>
        </p:nvGrpSpPr>
        <p:grpSpPr>
          <a:xfrm>
            <a:off x="609480" y="1600200"/>
            <a:ext cx="10972440" cy="3275280"/>
            <a:chOff x="609480" y="1600200"/>
            <a:chExt cx="10972440" cy="3275280"/>
          </a:xfrm>
        </p:grpSpPr>
        <p:sp>
          <p:nvSpPr>
            <p:cNvPr id="123" name="Google Shape;150;p5"/>
            <p:cNvSpPr/>
            <p:nvPr/>
          </p:nvSpPr>
          <p:spPr>
            <a:xfrm>
              <a:off x="609480" y="2084040"/>
              <a:ext cx="10972440" cy="279144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bf504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" name="Google Shape;151;p5"/>
            <p:cNvSpPr/>
            <p:nvPr/>
          </p:nvSpPr>
          <p:spPr>
            <a:xfrm>
              <a:off x="609480" y="2084040"/>
              <a:ext cx="10972440" cy="2791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1103760" bIns="170640" anchor="t">
              <a:noAutofit/>
            </a:bodyPr>
            <a:p>
              <a:pPr marL="268200" indent="-115920">
                <a:lnSpc>
                  <a:spcPct val="90000"/>
                </a:lnSpc>
                <a:tabLst>
                  <a:tab algn="l" pos="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marL="268200" indent="-115920">
                <a:lnSpc>
                  <a:spcPct val="90000"/>
                </a:lnSpc>
                <a:spcBef>
                  <a:spcPts val="360"/>
                </a:spcBef>
                <a:tabLst>
                  <a:tab algn="l" pos="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marL="268200" indent="-115920">
                <a:lnSpc>
                  <a:spcPct val="90000"/>
                </a:lnSpc>
                <a:spcBef>
                  <a:spcPts val="360"/>
                </a:spcBef>
                <a:tabLst>
                  <a:tab algn="l" pos="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marL="268200" indent="-115920">
                <a:lnSpc>
                  <a:spcPct val="90000"/>
                </a:lnSpc>
                <a:spcBef>
                  <a:spcPts val="360"/>
                </a:spcBef>
                <a:tabLst>
                  <a:tab algn="l" pos="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" name="Google Shape;152;p5"/>
            <p:cNvSpPr/>
            <p:nvPr/>
          </p:nvSpPr>
          <p:spPr>
            <a:xfrm>
              <a:off x="1132200" y="1600200"/>
              <a:ext cx="9723240" cy="895680"/>
            </a:xfrm>
            <a:prstGeom prst="roundRect">
              <a:avLst>
                <a:gd name="adj" fmla="val 16667"/>
              </a:avLst>
            </a:prstGeom>
            <a:solidFill>
              <a:srgbClr val="bf504d"/>
            </a:solidFill>
            <a:ln w="38100">
              <a:solidFill>
                <a:srgbClr val="ffffff"/>
              </a:solidFill>
              <a:round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" name="Google Shape;153;p5"/>
            <p:cNvSpPr/>
            <p:nvPr/>
          </p:nvSpPr>
          <p:spPr>
            <a:xfrm>
              <a:off x="1175760" y="1643760"/>
              <a:ext cx="9635760" cy="808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Persiapan Pertolongan Persalinan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09480" y="2304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Resusitasi neonatus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609480" y="116604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Bayi lahir secara ……… (proses persalinan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19044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9" name="Google Shape;161;p6"/>
          <p:cNvGraphicFramePr/>
          <p:nvPr/>
        </p:nvGraphicFramePr>
        <p:xfrm>
          <a:off x="609480" y="2565000"/>
          <a:ext cx="10972440" cy="3974400"/>
        </p:xfrm>
        <a:graphic>
          <a:graphicData uri="http://schemas.openxmlformats.org/drawingml/2006/table">
            <a:tbl>
              <a:tblPr/>
              <a:tblGrid>
                <a:gridCol w="774000"/>
                <a:gridCol w="1244520"/>
                <a:gridCol w="1064160"/>
                <a:gridCol w="1161720"/>
                <a:gridCol w="840600"/>
                <a:gridCol w="840600"/>
                <a:gridCol w="815400"/>
                <a:gridCol w="4230000"/>
              </a:tblGrid>
              <a:tr h="520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Usia (mnt)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Apnoe/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merintih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Retraksi/NCH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Tonus 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SpO2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Nadi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Suhu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Tindakan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8542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0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55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376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376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55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10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55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15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Stabilisasi (S.T.A.B.L.E)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Safe care &amp; sugar :  mg/dL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Temperature :  C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Airway: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Blood pressure: CRT     detik, nadi       x/menit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Lab works: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Emotional support: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Google Shape;169;p7"/>
          <p:cNvSpPr/>
          <p:nvPr/>
        </p:nvSpPr>
        <p:spPr>
          <a:xfrm>
            <a:off x="1836000" y="5853960"/>
            <a:ext cx="8519400" cy="503640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>
            <a:solidFill>
              <a:srgbClr val="dae5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Kesan: ……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Status Antropometri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3827160" cy="442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BB :      gram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TB :     cm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LK :     cm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Ballard score:  minggu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4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7C82C9-9E02-4E73-9BC7-B72115E85D84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Google Shape;177;p8"/>
          <p:cNvSpPr/>
          <p:nvPr/>
        </p:nvSpPr>
        <p:spPr>
          <a:xfrm>
            <a:off x="744480" y="4708800"/>
            <a:ext cx="3535200" cy="1079640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>
            <a:solidFill>
              <a:srgbClr val="0070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chemeClr val="dk1"/>
                </a:solidFill>
                <a:latin typeface="Calibri"/>
                <a:ea typeface="Calibri"/>
              </a:rPr>
              <a:t>Kesan:   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Google Shape;178;p8"/>
          <p:cNvSpPr/>
          <p:nvPr/>
        </p:nvSpPr>
        <p:spPr>
          <a:xfrm>
            <a:off x="8282520" y="3933000"/>
            <a:ext cx="45360" cy="7164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395e8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5200" bIns="25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8" name="Google Shape;179;p8" descr=""/>
          <p:cNvPicPr/>
          <p:nvPr/>
        </p:nvPicPr>
        <p:blipFill>
          <a:blip r:embed="rId1"/>
          <a:stretch/>
        </p:blipFill>
        <p:spPr>
          <a:xfrm>
            <a:off x="4365720" y="1150560"/>
            <a:ext cx="3830760" cy="5063400"/>
          </a:xfrm>
          <a:prstGeom prst="rect">
            <a:avLst/>
          </a:prstGeom>
          <a:ln w="0">
            <a:noFill/>
          </a:ln>
        </p:spPr>
      </p:pic>
      <p:pic>
        <p:nvPicPr>
          <p:cNvPr id="139" name="Google Shape;180;p8" descr=""/>
          <p:cNvPicPr/>
          <p:nvPr/>
        </p:nvPicPr>
        <p:blipFill>
          <a:blip r:embed="rId2"/>
          <a:stretch/>
        </p:blipFill>
        <p:spPr>
          <a:xfrm>
            <a:off x="8184240" y="1204560"/>
            <a:ext cx="3759480" cy="5009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Pemeriksaan Fisis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1" name="Google Shape;186;p9"/>
          <p:cNvGrpSpPr/>
          <p:nvPr/>
        </p:nvGrpSpPr>
        <p:grpSpPr>
          <a:xfrm>
            <a:off x="609480" y="1660680"/>
            <a:ext cx="10972440" cy="4290840"/>
            <a:chOff x="609480" y="1660680"/>
            <a:chExt cx="10972440" cy="4290840"/>
          </a:xfrm>
        </p:grpSpPr>
        <p:sp>
          <p:nvSpPr>
            <p:cNvPr id="142" name="Google Shape;187;p9"/>
            <p:cNvSpPr/>
            <p:nvPr/>
          </p:nvSpPr>
          <p:spPr>
            <a:xfrm>
              <a:off x="609480" y="1970640"/>
              <a:ext cx="10972440" cy="122328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4f81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" name="Google Shape;188;p9"/>
            <p:cNvSpPr/>
            <p:nvPr/>
          </p:nvSpPr>
          <p:spPr>
            <a:xfrm>
              <a:off x="609480" y="1970640"/>
              <a:ext cx="10972440" cy="122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437400" bIns="149400" anchor="t">
              <a:noAutofit/>
            </a:bodyPr>
            <a:p>
              <a:pPr marL="228600" indent="-95400">
                <a:lnSpc>
                  <a:spcPct val="90000"/>
                </a:lnSpc>
                <a:tabLst>
                  <a:tab algn="l" pos="0"/>
                </a:tabLst>
              </a:pP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  <a:p>
              <a:pPr marL="228600" indent="-95400">
                <a:lnSpc>
                  <a:spcPct val="90000"/>
                </a:lnSpc>
                <a:spcBef>
                  <a:spcPts val="315"/>
                </a:spcBef>
                <a:tabLst>
                  <a:tab algn="l" pos="0"/>
                </a:tabLst>
              </a:pP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" name="Google Shape;189;p9"/>
            <p:cNvSpPr/>
            <p:nvPr/>
          </p:nvSpPr>
          <p:spPr>
            <a:xfrm>
              <a:off x="1158120" y="1660680"/>
              <a:ext cx="7680600" cy="61956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" name="Google Shape;190;p9"/>
            <p:cNvSpPr/>
            <p:nvPr/>
          </p:nvSpPr>
          <p:spPr>
            <a:xfrm>
              <a:off x="1188360" y="1691280"/>
              <a:ext cx="7620120" cy="55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21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Keadaan Umum</a:t>
              </a: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6" name="Google Shape;191;p9"/>
            <p:cNvSpPr/>
            <p:nvPr/>
          </p:nvSpPr>
          <p:spPr>
            <a:xfrm>
              <a:off x="609480" y="3504240"/>
              <a:ext cx="10972440" cy="244728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4f81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" name="Google Shape;192;p9"/>
            <p:cNvSpPr/>
            <p:nvPr/>
          </p:nvSpPr>
          <p:spPr>
            <a:xfrm>
              <a:off x="609480" y="3504240"/>
              <a:ext cx="10972440" cy="2447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437400" bIns="163440" anchor="t">
              <a:noAutofit/>
            </a:bodyPr>
            <a:p>
              <a:pPr marL="228600" indent="-82440">
                <a:lnSpc>
                  <a:spcPct val="90000"/>
                </a:lnSpc>
                <a:tabLst>
                  <a:tab algn="l" pos="0"/>
                </a:tabLst>
              </a:pPr>
              <a:endParaRPr b="0" lang="en-US" sz="2300" spc="-1" strike="noStrike">
                <a:solidFill>
                  <a:srgbClr val="000000"/>
                </a:solidFill>
                <a:latin typeface="Arial"/>
              </a:endParaRPr>
            </a:p>
            <a:p>
              <a:pPr lvl="1" marL="228600" indent="-228600">
                <a:lnSpc>
                  <a:spcPct val="90000"/>
                </a:lnSpc>
                <a:spcBef>
                  <a:spcPts val="346"/>
                </a:spcBef>
                <a:buClr>
                  <a:srgbClr val="000000"/>
                </a:buClr>
                <a:buFont typeface="Calibri"/>
                <a:buChar char="•"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Denyut jantung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:    x/menit</a:t>
              </a:r>
              <a:endParaRPr b="0" lang="en-US" sz="2300" spc="-1" strike="noStrike">
                <a:solidFill>
                  <a:srgbClr val="000000"/>
                </a:solidFill>
                <a:latin typeface="Arial"/>
              </a:endParaRPr>
            </a:p>
            <a:p>
              <a:pPr lvl="1" marL="228600" indent="-228600">
                <a:lnSpc>
                  <a:spcPct val="90000"/>
                </a:lnSpc>
                <a:spcBef>
                  <a:spcPts val="346"/>
                </a:spcBef>
                <a:buClr>
                  <a:srgbClr val="000000"/>
                </a:buClr>
                <a:buFont typeface="Calibri"/>
                <a:buChar char="•"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Laju napas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:   x/menit</a:t>
              </a:r>
              <a:endParaRPr b="0" lang="en-US" sz="2300" spc="-1" strike="noStrike">
                <a:solidFill>
                  <a:srgbClr val="000000"/>
                </a:solidFill>
                <a:latin typeface="Arial"/>
              </a:endParaRPr>
            </a:p>
            <a:p>
              <a:pPr lvl="1" marL="228600" indent="-228600">
                <a:lnSpc>
                  <a:spcPct val="90000"/>
                </a:lnSpc>
                <a:spcBef>
                  <a:spcPts val="346"/>
                </a:spcBef>
                <a:buClr>
                  <a:srgbClr val="000000"/>
                </a:buClr>
                <a:buFont typeface="Calibri"/>
                <a:buChar char="•"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Suhu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:     C</a:t>
              </a:r>
              <a:endParaRPr b="0" lang="en-US" sz="2300" spc="-1" strike="noStrike">
                <a:solidFill>
                  <a:srgbClr val="000000"/>
                </a:solidFill>
                <a:latin typeface="Arial"/>
              </a:endParaRPr>
            </a:p>
            <a:p>
              <a:pPr lvl="1" marL="228600" indent="-228600">
                <a:lnSpc>
                  <a:spcPct val="90000"/>
                </a:lnSpc>
                <a:spcBef>
                  <a:spcPts val="346"/>
                </a:spcBef>
                <a:buClr>
                  <a:srgbClr val="000000"/>
                </a:buClr>
                <a:buFont typeface="Calibri"/>
                <a:buChar char="•"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Saturasi O</a:t>
              </a:r>
              <a:r>
                <a:rPr b="0" lang="en-US" sz="2300" spc="-1" strike="noStrike" baseline="-25000">
                  <a:solidFill>
                    <a:schemeClr val="dk1"/>
                  </a:solidFill>
                  <a:latin typeface="Calibri"/>
                  <a:ea typeface="Calibri"/>
                </a:rPr>
                <a:t>2</a:t>
              </a:r>
              <a:r>
                <a:rPr b="0" lang="en-US" sz="2300" spc="-1" strike="noStrike" baseline="-25000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 baseline="-25000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:    %</a:t>
              </a:r>
              <a:endParaRPr b="0" lang="en-US" sz="23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" name="Google Shape;193;p9"/>
            <p:cNvSpPr/>
            <p:nvPr/>
          </p:nvSpPr>
          <p:spPr>
            <a:xfrm>
              <a:off x="1158120" y="3308040"/>
              <a:ext cx="7680600" cy="61956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" name="Google Shape;194;p9"/>
            <p:cNvSpPr/>
            <p:nvPr/>
          </p:nvSpPr>
          <p:spPr>
            <a:xfrm>
              <a:off x="1188360" y="3338280"/>
              <a:ext cx="7620120" cy="55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21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Tanda Vital</a:t>
              </a: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0" name="PlaceHolder 2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F0188A-D38F-419F-84E8-097A78B953B0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1" name="Google Shape;200;p10"/>
          <p:cNvGraphicFramePr/>
          <p:nvPr/>
        </p:nvGraphicFramePr>
        <p:xfrm>
          <a:off x="609480" y="342000"/>
          <a:ext cx="10972440" cy="6212880"/>
        </p:xfrm>
        <a:graphic>
          <a:graphicData uri="http://schemas.openxmlformats.org/drawingml/2006/table">
            <a:tbl>
              <a:tblPr/>
              <a:tblGrid>
                <a:gridCol w="1904040"/>
                <a:gridCol w="9068400"/>
              </a:tblGrid>
              <a:tr h="364680">
                <a:tc>
                  <a:txBody>
                    <a:bodyPr lIns="65160" rIns="65160" tIns="342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ORGAN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 lIns="65160" rIns="65160" tIns="342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DESKRIPSI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</a:tr>
              <a:tr h="645480">
                <a:tc>
                  <a:txBody>
                    <a:bodyPr lIns="65160" rIns="65160" tIns="342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Kepala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5160" rIns="65160" tIns="342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Terdapat caput succedaneum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65160" rIns="65160" tIns="342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Mata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5160" rIns="65160" tIns="34200" bIns="3420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539640">
                <a:tc>
                  <a:txBody>
                    <a:bodyPr lIns="65160" rIns="65160" tIns="342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THT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5160" rIns="65160" tIns="34200" bIns="3420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662760">
                <a:tc>
                  <a:txBody>
                    <a:bodyPr lIns="65160" rIns="65160" tIns="342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Mulut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5160" rIns="65160" tIns="34200" bIns="3420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595800">
                <a:tc>
                  <a:txBody>
                    <a:bodyPr lIns="65160" rIns="65160" tIns="342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Dada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595800">
                <a:tc>
                  <a:txBody>
                    <a:bodyPr lIns="65160" rIns="65160" tIns="342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Jantung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65160" rIns="65160" tIns="342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Paru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65160" rIns="65160" tIns="342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Abdomen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5160" rIns="65160" tIns="34200" bIns="3420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893520">
                <a:tc>
                  <a:txBody>
                    <a:bodyPr lIns="51120" rIns="5112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Ekstremitas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1120" marR="5112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1120" rIns="511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1120" marR="51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297720">
                <a:tc>
                  <a:txBody>
                    <a:bodyPr lIns="51120" rIns="5112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Genitalia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1120" marR="5112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1120" rIns="51120" tIns="0" bIns="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1120" marR="51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Diagnosis (ICD 10)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923040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619776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Laboratorium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6" name="Google Shape;213;p12"/>
          <p:cNvGraphicFramePr/>
          <p:nvPr/>
        </p:nvGraphicFramePr>
        <p:xfrm>
          <a:off x="609480" y="1600200"/>
          <a:ext cx="5822280" cy="5430240"/>
        </p:xfrm>
        <a:graphic>
          <a:graphicData uri="http://schemas.openxmlformats.org/drawingml/2006/table">
            <a:tbl>
              <a:tblPr/>
              <a:tblGrid>
                <a:gridCol w="1455480"/>
                <a:gridCol w="1455480"/>
                <a:gridCol w="1455480"/>
                <a:gridCol w="1455480"/>
              </a:tblGrid>
              <a:tr h="513360"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Pemeriksaan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8cb3e3"/>
                    </a:solidFill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Nilai Rujukan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8cb3e3"/>
                    </a:solidFill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Unit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8cb3e3"/>
                    </a:solidFill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Hasil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8cb3e3"/>
                    </a:solidFill>
                  </a:tcPr>
                </a:tc>
              </a:tr>
              <a:tr h="282960">
                <a:tc>
                  <a:txBody>
                    <a:bodyPr lIns="25920" rIns="25920" tIns="25920" b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Hemoglobin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14.0 - 22.0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g/dL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tIns="25920" b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Hematokrit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24.0 - 75.0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tIns="25920" b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Eritrosit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5.00 - 7.00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10^6/µL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9840">
                <a:tc>
                  <a:txBody>
                    <a:bodyPr lIns="25920" rIns="25920" tIns="25920" b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MCV/VER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100.0 - 120.0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fL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tIns="25920" b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MCH/HER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31.0 - 37.0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pg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tIns="25920" b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MCHC/KHER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30.0 - 36.0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g/dL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13360">
                <a:tc>
                  <a:txBody>
                    <a:bodyPr lIns="25920" rIns="25920" tIns="25920" b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Jumlah Trombosit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100 - 450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10^3/µL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13360">
                <a:tc>
                  <a:txBody>
                    <a:bodyPr lIns="25920" rIns="25920" tIns="25920" b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Jumlah Leukosit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10.00 - 26.00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10^3/µL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tIns="25920" b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Basofil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0 - 2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tIns="25920" b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Eosinofil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1 - 6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tIns="25920" b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Neutrofil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40.0 - 80.0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tIns="25920" b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Limfosit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20 - 40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tIns="25920" b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Monosit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2 - 10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tIns="25920" b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7" name="Google Shape;214;p12"/>
          <p:cNvSpPr/>
          <p:nvPr/>
        </p:nvSpPr>
        <p:spPr>
          <a:xfrm>
            <a:off x="6774840" y="5589360"/>
            <a:ext cx="4824000" cy="822600"/>
          </a:xfrm>
          <a:prstGeom prst="rect">
            <a:avLst/>
          </a:prstGeom>
          <a:noFill/>
          <a:ln w="9525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Kesan: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Radiologi (kalau ada)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619776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Tata Laksana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Termoregulasi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: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Oksigenasi adekuat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: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Nutrisi &amp; cairan adekuat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: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Atasi infeksi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: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Pemantauan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Terima Kasih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subTitle"/>
          </p:nvPr>
        </p:nvSpPr>
        <p:spPr>
          <a:xfrm>
            <a:off x="1828800" y="3886200"/>
            <a:ext cx="8534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2013-11-15T04:27:30Z</dcterms:created>
  <dc:creator>Ludi Dhyani Rahmartani</dc:creator>
  <dc:description/>
  <dc:language>en-US</dc:language>
  <cp:lastModifiedBy/>
  <dcterms:modified xsi:type="dcterms:W3CDTF">2026-10-05T21:39:29Z</dcterms:modified>
  <cp:revision>1</cp:revision>
  <dc:subject/>
  <dc:title/>
</cp:coreProperties>
</file>