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6.xml.rels" ContentType="application/vnd.openxmlformats-package.relationships+xml"/>
  <Override PartName="/ppt/notesSlides/notesSlide1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1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1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1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F5F680F-4D69-4E47-9DE5-FFD2413A2DC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Nafas cepat dan dalam → hati-hati karena bisa dikira akibat causa metabolik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Cantumkan akral dingin/hangat → tidak terlalu akurat, tergantung suhu lingkungan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Cantumkan diuresis → pemantauan balance cairan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Nafas cepat dan dalam → hati-hati karena bisa dikira akibat causa metabolik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Cantumkan akral dingin/hangat → tidak terlalu akurat, tergantung suhu lingkungan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Cantumkan diuresis → pemantauan balance cairan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Nafas cepat dan dalam → hati-hati karena bisa dikira akibat causa metabolik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Cantumkan akral dingin/hangat → tidak terlalu akurat, tergantung suhu lingkungan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Cantumkan diuresis → pemantauan balance cairan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Nafas cepat dan dalam → hati-hati karena bisa dikira akibat causa metabolik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Cantumkan akral dingin/hangat → tidak terlalu akurat, tergantung suhu lingkungan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Cantumkan diuresis → pemantauan balance cairan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Faktor faktor yang mentrigger sesaknya harus digali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TB jarang sesak, tapi hati-hati kalo misal waktu awal TBnya emg ga ketauan, bisa aja tiba tiba sesak karena efusi pleuranya sendiri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Faktor faktor yang mentrigger sesaknya harus digali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TB jarang sesak, tapi hati-hati kalo misal waktu awal TBnya emg ga ketauan, bisa aja tiba tiba sesak karena efusi pleuranya sendiri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Kliegman RM, St. Geme JW III, Blum NJ. Nelson textbook of pediatrics. 21st ed. Philadelphia: Elsevier; 2019. p. 772.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Kliegman RM, St. Geme JW III, Blum NJ. Nelson textbook of pediatrics. 21st ed. Philadelphia: Elsevier; 2019. p. 772.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Lakukan perkusi karena kadang dapet klu terkait efusi pleura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Sepsis: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Tanda tanda disfungsi organ, bisa multipel bisa ½ aja → ginjal (AKI), paru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Mengancam kehidupan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Disregulasi imun pada faktor infeksi → tanda-tanda kuman ada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00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Anaknya demam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00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Ada mulai gangguan hasil lab → CRP, leukosit, segmen → neutrofil shift to the left &gt;70%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Cardiogenik: tanda gagal jantung (forward/backward)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Backward: cairan masuk kembali ke vena kava masuk ke jaringan jaringan jadi bengkak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Septic syok: kegagalan organ, mengancam nyawa, disfungsi imun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Disregulasi imun: CRP naik, leukopsit tinggi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Komponen laktat: kalo meningkat, sepsis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Nutrisi, edukasi, monitoring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Tulis rencana pemeriksaan → curiga permasalahan di ginjal, misal tatalaksananya apa.. Pake HD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Monitoring → terkait pasien ini awalnya kan dikasi oksigen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Pantau usaha napas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Saturasi oksigen → tentukan target saturasi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Target transfusi pada penyakit kronik tidak tinggi → 8.5 - 9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Nutrisi, edukasi, monitoring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Tulis rencana pemeriksaan → curiga permasalahan di ginjal, misal tatalaksananya apa.. Pake HD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Monitoring → terkait pasien ini awalnya kan dikasi oksigen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Pantau usaha napas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Saturasi oksigen → tentukan target saturasi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Target transfusi pada penyakit kronik tidak tinggi → 8.5 - 9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B30238D-9C86-4C77-BEF5-D27042E24C80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82F9C5-675F-4CA7-8A27-93F5E1ED244F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B52104-86FD-4259-B6CA-B9521BAC6CE1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F98E202-154B-41BF-819F-02BA412D0A12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56852EB-C17D-4622-BDE8-A78A6722E93F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A9840A-D4E1-4737-8350-CFA77FE78938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2C696DF-30FC-43AB-86EC-976BC6A54B96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F1DAF0A-FB3B-46BC-A6EB-BE196BF5B472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C7570A4-D935-4381-9BC5-A4B59C7B1861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F22CAFA-71B8-42DF-892C-2437CBDE7318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41E1539-AAB5-4F97-830F-8100E1E9A03F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ACE685B-3B06-467C-9ECC-2448CE41093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D09AA3-46A7-4141-BF27-17666AB42FEF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E5FDCC-7BDA-406B-BB5F-B53DB6312AC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</a:t>
            </a: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</a:t>
            </a: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D58452-1B26-4FAD-B00B-11EFEE88650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FD9EAF-C345-4E6D-83A5-EC3EB70F9C2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85840" cy="32630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629240" y="1369080"/>
            <a:ext cx="3885840" cy="32630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title"/>
          </p:nvPr>
        </p:nvSpPr>
        <p:spPr>
          <a:xfrm>
            <a:off x="628560" y="273960"/>
            <a:ext cx="5003280" cy="6001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93362"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ic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ed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5"/>
          </p:nvPr>
        </p:nvSpPr>
        <p:spPr>
          <a:xfrm>
            <a:off x="128520" y="4760280"/>
            <a:ext cx="342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92D8551-839E-4660-86F5-C68188A355E0}" type="slidenum">
              <a:rPr b="0" lang="en" sz="800" spc="-1" strike="noStrike">
                <a:solidFill>
                  <a:schemeClr val="lt1"/>
                </a:solidFill>
                <a:latin typeface="Calibri"/>
                <a:ea typeface="Calibri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ic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di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tit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088D21-2497-457E-B1CD-C994425272C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ed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7DE711-4BA0-4998-9F5B-0F517148C18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ed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C24840-FBCD-48B1-9CD0-0EB3E82D4C7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DA193B-1930-45F8-90F1-E31081D791A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5D1AE5-6187-414B-AE90-B244D773ABA4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5FCEF7-3768-461C-B9DA-BBF31B3EDAD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41;p34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9E3DC2-18E2-4338-8B4B-99C85FFDB57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59;p1"/>
          <p:cNvSpPr/>
          <p:nvPr/>
        </p:nvSpPr>
        <p:spPr>
          <a:xfrm>
            <a:off x="-380880" y="3302640"/>
            <a:ext cx="2390400" cy="21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Google Shape;60;p1"/>
          <p:cNvSpPr/>
          <p:nvPr/>
        </p:nvSpPr>
        <p:spPr>
          <a:xfrm>
            <a:off x="174240" y="947880"/>
            <a:ext cx="7849800" cy="35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200" spc="-1" strike="noStrike">
                <a:solidFill>
                  <a:srgbClr val="000000"/>
                </a:solidFill>
                <a:latin typeface="Poppins"/>
                <a:ea typeface="Poppins"/>
              </a:rPr>
              <a:t>Laporan Jaga Malam IGD RSABHK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300" spc="-1" strike="noStrike">
                <a:solidFill>
                  <a:srgbClr val="000000"/>
                </a:solidFill>
                <a:latin typeface="Poppins"/>
                <a:ea typeface="Poppins"/>
              </a:rPr>
              <a:t>Senin, 5 Oktober 2026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" sz="2200" spc="-1" strike="noStrike">
                <a:solidFill>
                  <a:srgbClr val="000000"/>
                </a:solidFill>
                <a:latin typeface="Poppins"/>
                <a:ea typeface="Poppins"/>
              </a:rPr>
              <a:t>Nama Mahasiswa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200" spc="-1" strike="noStrike">
                <a:solidFill>
                  <a:srgbClr val="000000"/>
                </a:solidFill>
                <a:latin typeface="Poppins"/>
                <a:ea typeface="Poppins"/>
              </a:rPr>
              <a:t>Fasilitator Laporan Jaga: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Poppins"/>
                <a:ea typeface="Poppins"/>
              </a:rPr>
              <a:t>Nama Fasil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Module: Pediatric and Adolescent Health - Rotation 4 - 2026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Google Shape;61;p1" descr=""/>
          <p:cNvPicPr/>
          <p:nvPr/>
        </p:nvPicPr>
        <p:blipFill>
          <a:blip r:embed="rId1"/>
          <a:stretch/>
        </p:blipFill>
        <p:spPr>
          <a:xfrm>
            <a:off x="6806160" y="3928680"/>
            <a:ext cx="2051280" cy="857520"/>
          </a:xfrm>
          <a:prstGeom prst="rect">
            <a:avLst/>
          </a:prstGeom>
          <a:ln w="0">
            <a:noFill/>
          </a:ln>
        </p:spPr>
      </p:pic>
      <p:sp>
        <p:nvSpPr>
          <p:cNvPr id="50" name="Google Shape;62;p1"/>
          <p:cNvSpPr/>
          <p:nvPr/>
        </p:nvSpPr>
        <p:spPr>
          <a:xfrm>
            <a:off x="223560" y="4723920"/>
            <a:ext cx="6336000" cy="3924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800" bIns="19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" name="Google Shape;63;p1" descr=""/>
          <p:cNvPicPr/>
          <p:nvPr/>
        </p:nvPicPr>
        <p:blipFill>
          <a:blip r:embed="rId2"/>
          <a:stretch/>
        </p:blipFill>
        <p:spPr>
          <a:xfrm>
            <a:off x="5644800" y="133920"/>
            <a:ext cx="786600" cy="604440"/>
          </a:xfrm>
          <a:prstGeom prst="rect">
            <a:avLst/>
          </a:prstGeom>
          <a:ln w="0">
            <a:noFill/>
          </a:ln>
        </p:spPr>
      </p:pic>
      <p:pic>
        <p:nvPicPr>
          <p:cNvPr id="52" name="Google Shape;64;p1" descr=""/>
          <p:cNvPicPr/>
          <p:nvPr/>
        </p:nvPicPr>
        <p:blipFill>
          <a:blip r:embed="rId3"/>
          <a:stretch/>
        </p:blipFill>
        <p:spPr>
          <a:xfrm>
            <a:off x="6510240" y="92880"/>
            <a:ext cx="2490120" cy="68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69;p2" descr=""/>
          <p:cNvPicPr/>
          <p:nvPr/>
        </p:nvPicPr>
        <p:blipFill>
          <a:blip r:embed="rId1"/>
          <a:stretch/>
        </p:blipFill>
        <p:spPr>
          <a:xfrm>
            <a:off x="7183800" y="423720"/>
            <a:ext cx="1642320" cy="686520"/>
          </a:xfrm>
          <a:prstGeom prst="rect">
            <a:avLst/>
          </a:prstGeom>
          <a:ln w="0">
            <a:noFill/>
          </a:ln>
        </p:spPr>
      </p:pic>
      <p:sp>
        <p:nvSpPr>
          <p:cNvPr id="54" name="Google Shape;70;p2"/>
          <p:cNvSpPr/>
          <p:nvPr/>
        </p:nvSpPr>
        <p:spPr>
          <a:xfrm>
            <a:off x="174240" y="1332000"/>
            <a:ext cx="8331480" cy="3924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800" bIns="19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Google Shape;71;p2"/>
          <p:cNvSpPr/>
          <p:nvPr/>
        </p:nvSpPr>
        <p:spPr>
          <a:xfrm>
            <a:off x="277200" y="443880"/>
            <a:ext cx="6117480" cy="5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600" spc="-1" strike="noStrike">
                <a:solidFill>
                  <a:srgbClr val="000000"/>
                </a:solidFill>
                <a:latin typeface="Poppins"/>
                <a:ea typeface="Poppins"/>
              </a:rPr>
              <a:t>Identitas Pasien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6" name="Google Shape;72;p2"/>
          <p:cNvGraphicFramePr/>
          <p:nvPr/>
        </p:nvGraphicFramePr>
        <p:xfrm>
          <a:off x="277200" y="1756800"/>
          <a:ext cx="8228520" cy="1985400"/>
        </p:xfrm>
        <a:graphic>
          <a:graphicData uri="http://schemas.openxmlformats.org/drawingml/2006/table">
            <a:tbl>
              <a:tblPr/>
              <a:tblGrid>
                <a:gridCol w="573120"/>
                <a:gridCol w="2389320"/>
                <a:gridCol w="3743280"/>
                <a:gridCol w="1522440"/>
              </a:tblGrid>
              <a:tr h="47052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800" spc="-1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No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800" spc="-1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Identitas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800" spc="-1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Diagnosis Kerja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800" spc="-1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Kegawatan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185040">
                <a:tc>
                  <a:txBody>
                    <a:bodyPr lIns="67320" rIns="67320" tIns="6984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0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1.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7320" marR="6732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4f81bd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67320" rIns="67320" tIns="6984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7320" marR="6732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4f81bd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67320" rIns="67320" tIns="6984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7320" marR="6732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4f81bd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67320" rIns="67320" tIns="6984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7320" marR="6732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4f81bd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185040">
                <a:tc>
                  <a:txBody>
                    <a:bodyPr lIns="67320" rIns="67320" tIns="6984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0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2.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7320" marR="6732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4f81bd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7320" rIns="67320" tIns="6984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7320" marR="6732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4f81bd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7320" rIns="67320" tIns="6984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7320" marR="6732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4f81bd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7320" rIns="67320" tIns="6984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7320" marR="6732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4f81bd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  <a:tr h="185040">
                <a:tc>
                  <a:txBody>
                    <a:bodyPr lIns="67320" rIns="67320" tIns="6984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0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3.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7320" marR="6732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4f81bd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7320" rIns="67320" tIns="6984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7320" marR="6732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4f81bd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7320" rIns="67320" tIns="6984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7320" marR="6732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4f81bd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7320" rIns="67320" tIns="6984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7320" marR="6732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4f81bd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  <a:tr h="185040">
                <a:tc>
                  <a:txBody>
                    <a:bodyPr lIns="67320" rIns="67320" tIns="6984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0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4.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7320" marR="6732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4f81bd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7320" rIns="67320" tIns="6984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7320" marR="6732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4f81bd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7320" rIns="67320" tIns="6984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7320" marR="6732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4f81bd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7320" rIns="67320" tIns="6984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7320" marR="67320">
                    <a:lnL w="9360">
                      <a:solidFill>
                        <a:srgbClr val="4f81bd"/>
                      </a:solidFill>
                      <a:prstDash val="solid"/>
                    </a:lnL>
                    <a:lnR w="9360">
                      <a:solidFill>
                        <a:srgbClr val="4f81bd"/>
                      </a:solidFill>
                      <a:prstDash val="solid"/>
                    </a:lnR>
                    <a:lnT w="9360">
                      <a:solidFill>
                        <a:srgbClr val="4f81bd"/>
                      </a:solidFill>
                      <a:prstDash val="solid"/>
                    </a:lnT>
                    <a:lnB w="9360">
                      <a:solidFill>
                        <a:srgbClr val="4f81bd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</a:tbl>
          </a:graphicData>
        </a:graphic>
      </p:graphicFrame>
      <p:pic>
        <p:nvPicPr>
          <p:cNvPr id="57" name="Google Shape;73;p2" descr=""/>
          <p:cNvPicPr/>
          <p:nvPr/>
        </p:nvPicPr>
        <p:blipFill>
          <a:blip r:embed="rId2"/>
          <a:stretch/>
        </p:blipFill>
        <p:spPr>
          <a:xfrm>
            <a:off x="3660120" y="464760"/>
            <a:ext cx="786600" cy="604440"/>
          </a:xfrm>
          <a:prstGeom prst="rect">
            <a:avLst/>
          </a:prstGeom>
          <a:ln w="0">
            <a:noFill/>
          </a:ln>
        </p:spPr>
      </p:pic>
      <p:pic>
        <p:nvPicPr>
          <p:cNvPr id="58" name="Google Shape;74;p2" descr=""/>
          <p:cNvPicPr/>
          <p:nvPr/>
        </p:nvPicPr>
        <p:blipFill>
          <a:blip r:embed="rId3"/>
          <a:stretch/>
        </p:blipFill>
        <p:spPr>
          <a:xfrm>
            <a:off x="4570560" y="423720"/>
            <a:ext cx="2490120" cy="68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79;p3"/>
          <p:cNvSpPr/>
          <p:nvPr/>
        </p:nvSpPr>
        <p:spPr>
          <a:xfrm>
            <a:off x="174240" y="1332000"/>
            <a:ext cx="8331480" cy="3924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800" bIns="19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Google Shape;80;p3"/>
          <p:cNvSpPr/>
          <p:nvPr/>
        </p:nvSpPr>
        <p:spPr>
          <a:xfrm>
            <a:off x="277200" y="443880"/>
            <a:ext cx="6117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000" spc="-1" strike="noStrike">
                <a:solidFill>
                  <a:srgbClr val="000000"/>
                </a:solidFill>
                <a:latin typeface="Calibri"/>
                <a:ea typeface="Calibri"/>
              </a:rPr>
              <a:t>Identitas Pasien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Google Shape;81;p3" descr=""/>
          <p:cNvPicPr/>
          <p:nvPr/>
        </p:nvPicPr>
        <p:blipFill>
          <a:blip r:embed="rId1"/>
          <a:stretch/>
        </p:blipFill>
        <p:spPr>
          <a:xfrm>
            <a:off x="6863400" y="369000"/>
            <a:ext cx="1642320" cy="686520"/>
          </a:xfrm>
          <a:prstGeom prst="rect">
            <a:avLst/>
          </a:prstGeom>
          <a:ln w="0">
            <a:noFill/>
          </a:ln>
        </p:spPr>
      </p:pic>
      <p:pic>
        <p:nvPicPr>
          <p:cNvPr id="62" name="Google Shape;82;p3" descr=""/>
          <p:cNvPicPr/>
          <p:nvPr/>
        </p:nvPicPr>
        <p:blipFill>
          <a:blip r:embed="rId2"/>
          <a:stretch/>
        </p:blipFill>
        <p:spPr>
          <a:xfrm>
            <a:off x="3339720" y="410040"/>
            <a:ext cx="786600" cy="604440"/>
          </a:xfrm>
          <a:prstGeom prst="rect">
            <a:avLst/>
          </a:prstGeom>
          <a:ln w="0">
            <a:noFill/>
          </a:ln>
        </p:spPr>
      </p:pic>
      <p:pic>
        <p:nvPicPr>
          <p:cNvPr id="63" name="Google Shape;83;p3" descr=""/>
          <p:cNvPicPr/>
          <p:nvPr/>
        </p:nvPicPr>
        <p:blipFill>
          <a:blip r:embed="rId3"/>
          <a:stretch/>
        </p:blipFill>
        <p:spPr>
          <a:xfrm>
            <a:off x="4249800" y="369000"/>
            <a:ext cx="2490120" cy="686520"/>
          </a:xfrm>
          <a:prstGeom prst="rect">
            <a:avLst/>
          </a:prstGeom>
          <a:ln w="0">
            <a:noFill/>
          </a:ln>
        </p:spPr>
      </p:pic>
      <p:sp>
        <p:nvSpPr>
          <p:cNvPr id="64" name="Google Shape;84;p3"/>
          <p:cNvSpPr/>
          <p:nvPr/>
        </p:nvSpPr>
        <p:spPr>
          <a:xfrm>
            <a:off x="1240560" y="1706400"/>
            <a:ext cx="6522840" cy="3210120"/>
          </a:xfrm>
          <a:prstGeom prst="roundRect">
            <a:avLst>
              <a:gd name="adj" fmla="val 16667"/>
            </a:avLst>
          </a:prstGeom>
          <a:solidFill>
            <a:srgbClr val="e7e6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Google Shape;85;p3"/>
          <p:cNvSpPr/>
          <p:nvPr/>
        </p:nvSpPr>
        <p:spPr>
          <a:xfrm>
            <a:off x="2066400" y="1933920"/>
            <a:ext cx="5127120" cy="275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Autofit/>
          </a:bodyPr>
          <a:p>
            <a:pPr marL="177840" indent="-120600" algn="just">
              <a:lnSpc>
                <a:spcPct val="70000"/>
              </a:lnSpc>
              <a:buClr>
                <a:srgbClr val="000000"/>
              </a:buClr>
              <a:buFont typeface="Arial"/>
              <a:buChar char="•"/>
            </a:pPr>
            <a:r>
              <a:rPr b="1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Nama</a:t>
            </a:r>
            <a:r>
              <a:rPr b="1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: 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  <a:p>
            <a:pPr marL="177840" indent="-120600" algn="just">
              <a:lnSpc>
                <a:spcPct val="7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</a:pPr>
            <a:r>
              <a:rPr b="1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NRM</a:t>
            </a:r>
            <a:r>
              <a:rPr b="1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: 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  <a:p>
            <a:pPr marL="177840" indent="-120600" algn="just">
              <a:lnSpc>
                <a:spcPct val="7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</a:pPr>
            <a:r>
              <a:rPr b="1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Tanggal Lahir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: 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  <a:p>
            <a:pPr marL="177840" indent="-120600" algn="just">
              <a:lnSpc>
                <a:spcPct val="7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</a:pPr>
            <a:r>
              <a:rPr b="1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Jenis Kelamin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: 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  <a:p>
            <a:pPr marL="177840" indent="-120600" algn="just">
              <a:lnSpc>
                <a:spcPct val="7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</a:pPr>
            <a:r>
              <a:rPr b="1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Usia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: 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  <a:p>
            <a:pPr marL="177840" indent="-120600" algn="just">
              <a:lnSpc>
                <a:spcPct val="7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</a:pPr>
            <a:r>
              <a:rPr b="1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Alamat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: 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  <a:p>
            <a:pPr marL="177840" indent="-120600" algn="just">
              <a:lnSpc>
                <a:spcPct val="7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</a:pPr>
            <a:r>
              <a:rPr b="1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Agama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: 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  <a:p>
            <a:pPr marL="177840" indent="-120600" algn="just">
              <a:lnSpc>
                <a:spcPct val="7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</a:pPr>
            <a:r>
              <a:rPr b="1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Status Pernikahan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620" spc="-1" strike="noStrike">
                <a:solidFill>
                  <a:srgbClr val="000000"/>
                </a:solidFill>
                <a:latin typeface="Poppins"/>
                <a:ea typeface="Poppins"/>
              </a:rPr>
              <a:t>: 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90;p4"/>
          <p:cNvSpPr/>
          <p:nvPr/>
        </p:nvSpPr>
        <p:spPr>
          <a:xfrm>
            <a:off x="174240" y="1332000"/>
            <a:ext cx="8331480" cy="3924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800" bIns="19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Google Shape;91;p4"/>
          <p:cNvSpPr/>
          <p:nvPr/>
        </p:nvSpPr>
        <p:spPr>
          <a:xfrm>
            <a:off x="277200" y="443880"/>
            <a:ext cx="6117480" cy="5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600" spc="-1" strike="noStrike">
                <a:solidFill>
                  <a:srgbClr val="000000"/>
                </a:solidFill>
                <a:latin typeface="Poppins"/>
                <a:ea typeface="Poppins"/>
              </a:rPr>
              <a:t>PAT Assessment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Google Shape;92;p4"/>
          <p:cNvSpPr/>
          <p:nvPr/>
        </p:nvSpPr>
        <p:spPr>
          <a:xfrm>
            <a:off x="174240" y="1502280"/>
            <a:ext cx="434484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28600" indent="-50760">
              <a:lnSpc>
                <a:spcPct val="90000"/>
              </a:lnSpc>
              <a:tabLst>
                <a:tab algn="l" pos="0"/>
              </a:tabLst>
            </a:pPr>
            <a:r>
              <a:rPr b="1" lang="en" sz="1900" spc="-1" strike="noStrike">
                <a:solidFill>
                  <a:srgbClr val="000000"/>
                </a:solidFill>
                <a:latin typeface="Poppins"/>
                <a:ea typeface="Poppins"/>
              </a:rPr>
              <a:t>Appearance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635040" indent="-399960">
              <a:lnSpc>
                <a:spcPct val="90000"/>
              </a:lnSpc>
              <a:buClr>
                <a:srgbClr val="000000"/>
              </a:buClr>
              <a:buFont typeface="Poppins"/>
              <a:buChar char="❑"/>
              <a:tabLst>
                <a:tab algn="l" pos="0"/>
              </a:tabLst>
            </a:pPr>
            <a:r>
              <a:rPr b="0" lang="en" sz="1900" spc="-1" strike="noStrike">
                <a:solidFill>
                  <a:srgbClr val="000000"/>
                </a:solidFill>
                <a:latin typeface="Poppins"/>
                <a:ea typeface="Poppins"/>
              </a:rPr>
              <a:t>Tonus</a:t>
            </a:r>
            <a:r>
              <a:rPr b="0" lang="en" sz="190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90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90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900" spc="-1" strike="noStrike">
                <a:solidFill>
                  <a:srgbClr val="000000"/>
                </a:solidFill>
                <a:latin typeface="Poppins"/>
                <a:ea typeface="Poppins"/>
              </a:rPr>
              <a:t>: Adekuat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635040" indent="-399960">
              <a:lnSpc>
                <a:spcPct val="90000"/>
              </a:lnSpc>
              <a:buClr>
                <a:srgbClr val="000000"/>
              </a:buClr>
              <a:buFont typeface="Poppins"/>
              <a:buChar char="❑"/>
              <a:tabLst>
                <a:tab algn="l" pos="0"/>
              </a:tabLst>
            </a:pPr>
            <a:r>
              <a:rPr b="0" lang="en" sz="1900" spc="-1" strike="noStrike">
                <a:solidFill>
                  <a:srgbClr val="000000"/>
                </a:solidFill>
                <a:latin typeface="Poppins"/>
                <a:ea typeface="Poppins"/>
              </a:rPr>
              <a:t>Interaction</a:t>
            </a:r>
            <a:r>
              <a:rPr b="0" lang="en" sz="190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900" spc="-1" strike="noStrike">
                <a:solidFill>
                  <a:srgbClr val="000000"/>
                </a:solidFill>
                <a:latin typeface="Poppins"/>
                <a:ea typeface="Poppins"/>
              </a:rPr>
              <a:t>: Adekuat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635040" indent="-399960">
              <a:lnSpc>
                <a:spcPct val="90000"/>
              </a:lnSpc>
              <a:buClr>
                <a:srgbClr val="000000"/>
              </a:buClr>
              <a:buFont typeface="Poppins"/>
              <a:buChar char="❑"/>
              <a:tabLst>
                <a:tab algn="l" pos="0"/>
              </a:tabLst>
            </a:pPr>
            <a:r>
              <a:rPr b="0" lang="en" sz="1900" spc="-1" strike="noStrike">
                <a:solidFill>
                  <a:srgbClr val="000000"/>
                </a:solidFill>
                <a:latin typeface="Poppins"/>
                <a:ea typeface="Poppins"/>
              </a:rPr>
              <a:t>Consolability  : Adekuat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635040" indent="-399960">
              <a:lnSpc>
                <a:spcPct val="90000"/>
              </a:lnSpc>
              <a:buClr>
                <a:srgbClr val="000000"/>
              </a:buClr>
              <a:buFont typeface="Poppins"/>
              <a:buChar char="❑"/>
              <a:tabLst>
                <a:tab algn="l" pos="0"/>
              </a:tabLst>
            </a:pPr>
            <a:r>
              <a:rPr b="0" lang="en" sz="1900" spc="-1" strike="noStrike">
                <a:solidFill>
                  <a:srgbClr val="000000"/>
                </a:solidFill>
                <a:latin typeface="Poppins"/>
                <a:ea typeface="Poppins"/>
              </a:rPr>
              <a:t>Look/Gaze</a:t>
            </a:r>
            <a:r>
              <a:rPr b="0" lang="en" sz="1900" spc="-1" strike="noStrike">
                <a:solidFill>
                  <a:srgbClr val="000000"/>
                </a:solidFill>
                <a:latin typeface="Poppins"/>
                <a:ea typeface="Poppins"/>
              </a:rPr>
              <a:t>	</a:t>
            </a:r>
            <a:r>
              <a:rPr b="0" lang="en" sz="1900" spc="-1" strike="noStrike">
                <a:solidFill>
                  <a:srgbClr val="000000"/>
                </a:solidFill>
                <a:latin typeface="Poppins"/>
                <a:ea typeface="Poppins"/>
              </a:rPr>
              <a:t>: Adekuat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635040" indent="-399960">
              <a:lnSpc>
                <a:spcPct val="90000"/>
              </a:lnSpc>
              <a:buClr>
                <a:srgbClr val="000000"/>
              </a:buClr>
              <a:buFont typeface="Poppins"/>
              <a:buChar char="❑"/>
              <a:tabLst>
                <a:tab algn="l" pos="0"/>
              </a:tabLst>
            </a:pPr>
            <a:r>
              <a:rPr b="0" lang="en" sz="1900" spc="-1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</a:rPr>
              <a:t>Speech/cry</a:t>
            </a:r>
            <a:r>
              <a:rPr b="0" lang="en" sz="1900" spc="-1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</a:rPr>
              <a:t>	</a:t>
            </a:r>
            <a:r>
              <a:rPr b="0" lang="en" sz="1900" spc="-1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</a:rPr>
              <a:t>: Adekuat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Google Shape;93;p4"/>
          <p:cNvSpPr/>
          <p:nvPr/>
        </p:nvSpPr>
        <p:spPr>
          <a:xfrm>
            <a:off x="4519440" y="1502280"/>
            <a:ext cx="415656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28600" indent="-50760">
              <a:lnSpc>
                <a:spcPct val="90000"/>
              </a:lnSpc>
              <a:tabLst>
                <a:tab algn="l" pos="0"/>
              </a:tabLst>
            </a:pPr>
            <a:r>
              <a:rPr b="1" lang="en" sz="1900" spc="-1" strike="noStrike">
                <a:solidFill>
                  <a:srgbClr val="000000"/>
                </a:solidFill>
                <a:latin typeface="Poppins"/>
                <a:ea typeface="Poppins"/>
              </a:rPr>
              <a:t>Breathing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635040" indent="-399960">
              <a:lnSpc>
                <a:spcPct val="90000"/>
              </a:lnSpc>
              <a:buClr>
                <a:srgbClr val="000000"/>
              </a:buClr>
              <a:buFont typeface="Poppins"/>
              <a:buChar char="❑"/>
              <a:tabLst>
                <a:tab algn="l" pos="0"/>
              </a:tabLst>
            </a:pPr>
            <a:r>
              <a:rPr b="0" lang="en" sz="1900" spc="-1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</a:rPr>
              <a:t>Napas cuping hidung (-)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635040" indent="-399960">
              <a:lnSpc>
                <a:spcPct val="90000"/>
              </a:lnSpc>
              <a:buClr>
                <a:srgbClr val="000000"/>
              </a:buClr>
              <a:buFont typeface="Poppins"/>
              <a:buChar char="❑"/>
              <a:tabLst>
                <a:tab algn="l" pos="0"/>
              </a:tabLst>
            </a:pPr>
            <a:r>
              <a:rPr b="0" lang="en" sz="1900" spc="-1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</a:rPr>
              <a:t>Suara napas tambahan stridor (-),  audible </a:t>
            </a:r>
            <a:r>
              <a:rPr b="0" i="1" lang="en" sz="1900" spc="-1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</a:rPr>
              <a:t>wheezing</a:t>
            </a:r>
            <a:r>
              <a:rPr b="0" lang="en" sz="1900" spc="-1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</a:rPr>
              <a:t> (-)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635040" indent="-399960">
              <a:lnSpc>
                <a:spcPct val="90000"/>
              </a:lnSpc>
              <a:buClr>
                <a:srgbClr val="000000"/>
              </a:buClr>
              <a:buFont typeface="Poppins"/>
              <a:buChar char="❑"/>
              <a:tabLst>
                <a:tab algn="l" pos="0"/>
              </a:tabLst>
            </a:pPr>
            <a:r>
              <a:rPr b="0" lang="en" sz="1900" spc="-1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</a:rPr>
              <a:t>Retraksi intercostal (-)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635040" indent="-399960">
              <a:lnSpc>
                <a:spcPct val="90000"/>
              </a:lnSpc>
              <a:buClr>
                <a:srgbClr val="000000"/>
              </a:buClr>
              <a:buFont typeface="Poppins"/>
              <a:buChar char="❑"/>
              <a:tabLst>
                <a:tab algn="l" pos="0"/>
              </a:tabLst>
            </a:pPr>
            <a:r>
              <a:rPr b="0" lang="en" sz="1900" spc="-1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</a:rPr>
              <a:t>Posisi abnormal (-)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177840">
              <a:lnSpc>
                <a:spcPct val="90000"/>
              </a:lnSpc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177840">
              <a:lnSpc>
                <a:spcPct val="90000"/>
              </a:lnSpc>
              <a:tabLst>
                <a:tab algn="l" pos="0"/>
              </a:tabLst>
            </a:pPr>
            <a:r>
              <a:rPr b="1" lang="en" sz="1900" spc="-1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</a:rPr>
              <a:t>Circulation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635040" indent="-399960">
              <a:lnSpc>
                <a:spcPct val="90000"/>
              </a:lnSpc>
              <a:buClr>
                <a:srgbClr val="000000"/>
              </a:buClr>
              <a:buFont typeface="Poppins"/>
              <a:buChar char="❑"/>
              <a:tabLst>
                <a:tab algn="l" pos="0"/>
              </a:tabLst>
            </a:pPr>
            <a:r>
              <a:rPr b="0" lang="en" sz="1900" spc="-1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</a:rPr>
              <a:t>Sianosis (-)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635040" indent="-399960">
              <a:lnSpc>
                <a:spcPct val="90000"/>
              </a:lnSpc>
              <a:buClr>
                <a:srgbClr val="000000"/>
              </a:buClr>
              <a:buFont typeface="Poppins"/>
              <a:buChar char="❑"/>
              <a:tabLst>
                <a:tab algn="l" pos="0"/>
              </a:tabLst>
            </a:pPr>
            <a:r>
              <a:rPr b="0" lang="en" sz="1900" spc="-1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</a:rPr>
              <a:t>Pucat (-)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635040" indent="-399960">
              <a:lnSpc>
                <a:spcPct val="90000"/>
              </a:lnSpc>
              <a:buClr>
                <a:srgbClr val="000000"/>
              </a:buClr>
              <a:buFont typeface="Poppins"/>
              <a:buChar char="❑"/>
              <a:tabLst>
                <a:tab algn="l" pos="0"/>
              </a:tabLst>
            </a:pPr>
            <a:r>
              <a:rPr b="0" lang="en" sz="1900" spc="-1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</a:rPr>
              <a:t>Kutis marmorata (-)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94;p4"/>
          <p:cNvSpPr/>
          <p:nvPr/>
        </p:nvSpPr>
        <p:spPr>
          <a:xfrm>
            <a:off x="277200" y="3999240"/>
            <a:ext cx="3891600" cy="70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rgbClr val="000000"/>
                </a:solidFill>
                <a:latin typeface="Poppins"/>
                <a:ea typeface="Poppins"/>
              </a:rPr>
              <a:t>KESAN: Stabil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Google Shape;95;p4" descr=""/>
          <p:cNvPicPr/>
          <p:nvPr/>
        </p:nvPicPr>
        <p:blipFill>
          <a:blip r:embed="rId1"/>
          <a:stretch/>
        </p:blipFill>
        <p:spPr>
          <a:xfrm>
            <a:off x="7133040" y="423720"/>
            <a:ext cx="1642320" cy="686520"/>
          </a:xfrm>
          <a:prstGeom prst="rect">
            <a:avLst/>
          </a:prstGeom>
          <a:ln w="0">
            <a:noFill/>
          </a:ln>
        </p:spPr>
      </p:pic>
      <p:pic>
        <p:nvPicPr>
          <p:cNvPr id="72" name="Google Shape;96;p4" descr=""/>
          <p:cNvPicPr/>
          <p:nvPr/>
        </p:nvPicPr>
        <p:blipFill>
          <a:blip r:embed="rId2"/>
          <a:stretch/>
        </p:blipFill>
        <p:spPr>
          <a:xfrm>
            <a:off x="3609360" y="464760"/>
            <a:ext cx="786600" cy="604440"/>
          </a:xfrm>
          <a:prstGeom prst="rect">
            <a:avLst/>
          </a:prstGeom>
          <a:ln w="0">
            <a:noFill/>
          </a:ln>
        </p:spPr>
      </p:pic>
      <p:pic>
        <p:nvPicPr>
          <p:cNvPr id="73" name="Google Shape;97;p4" descr=""/>
          <p:cNvPicPr/>
          <p:nvPr/>
        </p:nvPicPr>
        <p:blipFill>
          <a:blip r:embed="rId3"/>
          <a:stretch/>
        </p:blipFill>
        <p:spPr>
          <a:xfrm>
            <a:off x="4519440" y="423720"/>
            <a:ext cx="2490120" cy="68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102;p5"/>
          <p:cNvSpPr/>
          <p:nvPr/>
        </p:nvSpPr>
        <p:spPr>
          <a:xfrm>
            <a:off x="-380880" y="3302640"/>
            <a:ext cx="2390400" cy="21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Google Shape;103;p5"/>
          <p:cNvSpPr/>
          <p:nvPr/>
        </p:nvSpPr>
        <p:spPr>
          <a:xfrm>
            <a:off x="174240" y="1332000"/>
            <a:ext cx="8331480" cy="3924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800" bIns="19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Google Shape;104;p5"/>
          <p:cNvSpPr/>
          <p:nvPr/>
        </p:nvSpPr>
        <p:spPr>
          <a:xfrm>
            <a:off x="277200" y="514440"/>
            <a:ext cx="611748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700" spc="-1" strike="noStrike">
                <a:solidFill>
                  <a:srgbClr val="000000"/>
                </a:solidFill>
                <a:latin typeface="Poppins"/>
                <a:ea typeface="Poppins"/>
              </a:rPr>
              <a:t>Primary Survey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Google Shape;105;p5"/>
          <p:cNvSpPr/>
          <p:nvPr/>
        </p:nvSpPr>
        <p:spPr>
          <a:xfrm>
            <a:off x="174240" y="1550880"/>
            <a:ext cx="3787200" cy="332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301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Poppins"/>
              <a:buChar char="●"/>
            </a:pPr>
            <a:r>
              <a:rPr b="1" i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Airway: Clear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90000"/>
              </a:lnSpc>
              <a:buClr>
                <a:srgbClr val="000000"/>
              </a:buClr>
              <a:buFont typeface="Poppins"/>
              <a:buChar char="●"/>
            </a:pPr>
            <a:r>
              <a:rPr b="1" i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Breathing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90000"/>
              </a:lnSpc>
              <a:buClr>
                <a:srgbClr val="000000"/>
              </a:buClr>
              <a:buFont typeface="Calibri"/>
              <a:buChar char="○"/>
            </a:pPr>
            <a:r>
              <a:rPr b="1" i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RR: 26 x</a:t>
            </a:r>
            <a:r>
              <a:rPr b="0" i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90000"/>
              </a:lnSpc>
              <a:buClr>
                <a:srgbClr val="000000"/>
              </a:buClr>
              <a:buFont typeface="Poppins"/>
              <a:buChar char="○"/>
            </a:pPr>
            <a:r>
              <a:rPr b="0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Napas cuping hidung (-)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90000"/>
              </a:lnSpc>
              <a:buClr>
                <a:srgbClr val="000000"/>
              </a:buClr>
              <a:buFont typeface="Poppins"/>
              <a:buChar char="○"/>
            </a:pPr>
            <a:r>
              <a:rPr b="0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Retraksi interkostal (-)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00000"/>
              </a:lnSpc>
              <a:buClr>
                <a:srgbClr val="000000"/>
              </a:buClr>
              <a:buFont typeface="Poppins"/>
              <a:buChar char="○"/>
            </a:pPr>
            <a:r>
              <a:rPr b="0" i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Ronki (-/-), Wheezing (-/-)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00000"/>
              </a:lnSpc>
              <a:buClr>
                <a:srgbClr val="000000"/>
              </a:buClr>
              <a:buFont typeface="Poppins"/>
              <a:buChar char="○"/>
            </a:pPr>
            <a:r>
              <a:rPr b="0" i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SpO2: 98% on RA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90000"/>
              </a:lnSpc>
              <a:buClr>
                <a:srgbClr val="000000"/>
              </a:buClr>
              <a:buFont typeface="Poppins"/>
              <a:buChar char="●"/>
            </a:pPr>
            <a:r>
              <a:rPr b="1" i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Circulation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90000"/>
              </a:lnSpc>
              <a:buClr>
                <a:srgbClr val="000000"/>
              </a:buClr>
              <a:buFont typeface="Calibri"/>
              <a:buChar char="○"/>
            </a:pPr>
            <a:r>
              <a:rPr b="1" i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HR 128x/min</a:t>
            </a:r>
            <a:r>
              <a:rPr b="0" i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90000"/>
              </a:lnSpc>
              <a:buClr>
                <a:srgbClr val="000000"/>
              </a:buClr>
              <a:buFont typeface="Poppins"/>
              <a:buChar char="○"/>
            </a:pPr>
            <a:r>
              <a:rPr b="0" i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Pola reguler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90000"/>
              </a:lnSpc>
              <a:buClr>
                <a:srgbClr val="000000"/>
              </a:buClr>
              <a:buFont typeface="Poppins"/>
              <a:buChar char="○"/>
            </a:pPr>
            <a:r>
              <a:rPr b="0" i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Akral hangat, CRT &lt; 2 detik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90000"/>
              </a:lnSpc>
              <a:buClr>
                <a:srgbClr val="000000"/>
              </a:buClr>
              <a:buFont typeface="Poppins"/>
              <a:buChar char="○"/>
            </a:pPr>
            <a:r>
              <a:rPr b="0" i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Nadi Kuat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90000"/>
              </a:lnSpc>
              <a:buClr>
                <a:srgbClr val="000000"/>
              </a:buClr>
              <a:buFont typeface="Poppins"/>
              <a:buChar char="○"/>
            </a:pPr>
            <a:r>
              <a:rPr b="0" i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TD 120/76 (p90)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Google Shape;106;p5"/>
          <p:cNvSpPr/>
          <p:nvPr/>
        </p:nvSpPr>
        <p:spPr>
          <a:xfrm>
            <a:off x="3897360" y="1479960"/>
            <a:ext cx="518112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49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Poppins"/>
              <a:buChar char="•"/>
            </a:pPr>
            <a:r>
              <a:rPr b="0" lang="en" sz="1900" spc="-1" strike="noStrike">
                <a:solidFill>
                  <a:srgbClr val="000000"/>
                </a:solidFill>
                <a:latin typeface="Poppins"/>
                <a:ea typeface="Poppins"/>
              </a:rPr>
              <a:t>Disability: GCS 15 (E4V5M6), GDS 209 mg/dL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Poppins"/>
              <a:buChar char="•"/>
            </a:pPr>
            <a:r>
              <a:rPr b="0" lang="en" sz="1900" spc="-1" strike="noStrike">
                <a:solidFill>
                  <a:srgbClr val="000000"/>
                </a:solidFill>
                <a:latin typeface="Poppins"/>
                <a:ea typeface="Poppins"/>
              </a:rPr>
              <a:t>Exposure: Suhu 38,5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07;p5"/>
          <p:cNvSpPr/>
          <p:nvPr/>
        </p:nvSpPr>
        <p:spPr>
          <a:xfrm>
            <a:off x="4420440" y="4044600"/>
            <a:ext cx="3658680" cy="625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Kesan: takipneu,takikardia, dan hiperglikemia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Google Shape;108;p5" descr=""/>
          <p:cNvPicPr/>
          <p:nvPr/>
        </p:nvPicPr>
        <p:blipFill>
          <a:blip r:embed="rId1"/>
          <a:stretch/>
        </p:blipFill>
        <p:spPr>
          <a:xfrm>
            <a:off x="7081920" y="339840"/>
            <a:ext cx="1642320" cy="686520"/>
          </a:xfrm>
          <a:prstGeom prst="rect">
            <a:avLst/>
          </a:prstGeom>
          <a:ln w="0">
            <a:noFill/>
          </a:ln>
        </p:spPr>
      </p:pic>
      <p:pic>
        <p:nvPicPr>
          <p:cNvPr id="81" name="Google Shape;109;p5" descr=""/>
          <p:cNvPicPr/>
          <p:nvPr/>
        </p:nvPicPr>
        <p:blipFill>
          <a:blip r:embed="rId2"/>
          <a:stretch/>
        </p:blipFill>
        <p:spPr>
          <a:xfrm>
            <a:off x="3558240" y="381240"/>
            <a:ext cx="786600" cy="604440"/>
          </a:xfrm>
          <a:prstGeom prst="rect">
            <a:avLst/>
          </a:prstGeom>
          <a:ln w="0">
            <a:noFill/>
          </a:ln>
        </p:spPr>
      </p:pic>
      <p:pic>
        <p:nvPicPr>
          <p:cNvPr id="82" name="Google Shape;110;p5" descr=""/>
          <p:cNvPicPr/>
          <p:nvPr/>
        </p:nvPicPr>
        <p:blipFill>
          <a:blip r:embed="rId3"/>
          <a:stretch/>
        </p:blipFill>
        <p:spPr>
          <a:xfrm>
            <a:off x="4468320" y="339840"/>
            <a:ext cx="2490120" cy="68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115;h2748f6a11935b3f0_1_7"/>
          <p:cNvSpPr/>
          <p:nvPr/>
        </p:nvSpPr>
        <p:spPr>
          <a:xfrm>
            <a:off x="-380880" y="3302640"/>
            <a:ext cx="2390400" cy="21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Google Shape;116;h2748f6a11935b3f0_1_7"/>
          <p:cNvSpPr/>
          <p:nvPr/>
        </p:nvSpPr>
        <p:spPr>
          <a:xfrm>
            <a:off x="174240" y="1332000"/>
            <a:ext cx="8331480" cy="3924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800" bIns="19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Google Shape;117;h2748f6a11935b3f0_1_7"/>
          <p:cNvSpPr/>
          <p:nvPr/>
        </p:nvSpPr>
        <p:spPr>
          <a:xfrm>
            <a:off x="277200" y="514440"/>
            <a:ext cx="611748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700" spc="-1" strike="noStrike">
                <a:solidFill>
                  <a:srgbClr val="000000"/>
                </a:solidFill>
                <a:latin typeface="Poppins"/>
                <a:ea typeface="Poppins"/>
              </a:rPr>
              <a:t>Primary Survey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Google Shape;118;h2748f6a11935b3f0_1_7"/>
          <p:cNvSpPr/>
          <p:nvPr/>
        </p:nvSpPr>
        <p:spPr>
          <a:xfrm>
            <a:off x="174240" y="1550880"/>
            <a:ext cx="3787200" cy="332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301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Poppins"/>
              <a:buChar char="●"/>
            </a:pPr>
            <a:r>
              <a:rPr b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Airway: Clear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90000"/>
              </a:lnSpc>
              <a:buClr>
                <a:srgbClr val="000000"/>
              </a:buClr>
              <a:buFont typeface="Poppins"/>
              <a:buChar char="●"/>
            </a:pPr>
            <a:r>
              <a:rPr b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Breathing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90000"/>
              </a:lnSpc>
              <a:buClr>
                <a:srgbClr val="000000"/>
              </a:buClr>
              <a:buFont typeface="Calibri"/>
              <a:buChar char="○"/>
            </a:pPr>
            <a:r>
              <a:rPr b="0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RR: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90000"/>
              </a:lnSpc>
              <a:buClr>
                <a:srgbClr val="000000"/>
              </a:buClr>
              <a:buFont typeface="Poppins"/>
              <a:buChar char="○"/>
            </a:pPr>
            <a:r>
              <a:rPr b="0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Napas cuping hidung (-)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90000"/>
              </a:lnSpc>
              <a:buClr>
                <a:srgbClr val="000000"/>
              </a:buClr>
              <a:buFont typeface="Poppins"/>
              <a:buChar char="○"/>
            </a:pPr>
            <a:r>
              <a:rPr b="0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Retraksi interkostal (-)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00000"/>
              </a:lnSpc>
              <a:buClr>
                <a:srgbClr val="000000"/>
              </a:buClr>
              <a:buFont typeface="Poppins"/>
              <a:buChar char="○"/>
            </a:pPr>
            <a:r>
              <a:rPr b="0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Ronki (-/-), Wheezing (-/-)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00000"/>
              </a:lnSpc>
              <a:buClr>
                <a:srgbClr val="000000"/>
              </a:buClr>
              <a:buFont typeface="Poppins"/>
              <a:buChar char="○"/>
            </a:pPr>
            <a:r>
              <a:rPr b="0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SpO2: 98% on RA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90000"/>
              </a:lnSpc>
              <a:buClr>
                <a:srgbClr val="000000"/>
              </a:buClr>
              <a:buFont typeface="Poppins"/>
              <a:buChar char="●"/>
            </a:pPr>
            <a:r>
              <a:rPr b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Circulation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90000"/>
              </a:lnSpc>
              <a:buClr>
                <a:srgbClr val="000000"/>
              </a:buClr>
              <a:buFont typeface="Calibri"/>
              <a:buChar char="○"/>
            </a:pPr>
            <a:r>
              <a:rPr b="1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HR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90000"/>
              </a:lnSpc>
              <a:buClr>
                <a:srgbClr val="000000"/>
              </a:buClr>
              <a:buFont typeface="Poppins"/>
              <a:buChar char="○"/>
            </a:pPr>
            <a:r>
              <a:rPr b="0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Pola reguler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90000"/>
              </a:lnSpc>
              <a:buClr>
                <a:srgbClr val="000000"/>
              </a:buClr>
              <a:buFont typeface="Poppins"/>
              <a:buChar char="○"/>
            </a:pPr>
            <a:r>
              <a:rPr b="0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Akral hangat, CRT &lt; 2 detik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90000"/>
              </a:lnSpc>
              <a:buClr>
                <a:srgbClr val="000000"/>
              </a:buClr>
              <a:buFont typeface="Poppins"/>
              <a:buChar char="○"/>
            </a:pPr>
            <a:r>
              <a:rPr b="0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Nadi Kuat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90000"/>
              </a:lnSpc>
              <a:buClr>
                <a:srgbClr val="000000"/>
              </a:buClr>
              <a:buFont typeface="Poppins"/>
              <a:buChar char="○"/>
            </a:pPr>
            <a:r>
              <a:rPr b="0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TD 120/76 (p90)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119;h2748f6a11935b3f0_1_7"/>
          <p:cNvSpPr/>
          <p:nvPr/>
        </p:nvSpPr>
        <p:spPr>
          <a:xfrm>
            <a:off x="3897360" y="1479960"/>
            <a:ext cx="518112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301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Poppins"/>
              <a:buChar char="-"/>
            </a:pPr>
            <a:r>
              <a:rPr b="0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Disability: GCS 15 (E4V5M6),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90000"/>
              </a:lnSpc>
              <a:buClr>
                <a:srgbClr val="000000"/>
              </a:buClr>
              <a:buFont typeface="Poppins"/>
              <a:buChar char="-"/>
            </a:pPr>
            <a:r>
              <a:rPr b="0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GDS 209 mg/dL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90000"/>
              </a:lnSpc>
              <a:buClr>
                <a:srgbClr val="000000"/>
              </a:buClr>
              <a:buFont typeface="Poppins"/>
              <a:buChar char="-"/>
            </a:pPr>
            <a:r>
              <a:rPr b="0" lang="en" sz="1600" spc="-1" strike="noStrike">
                <a:solidFill>
                  <a:srgbClr val="000000"/>
                </a:solidFill>
                <a:latin typeface="Poppins"/>
                <a:ea typeface="Poppins"/>
              </a:rPr>
              <a:t>Exposure: Suhu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120;h2748f6a11935b3f0_1_7"/>
          <p:cNvSpPr/>
          <p:nvPr/>
        </p:nvSpPr>
        <p:spPr>
          <a:xfrm>
            <a:off x="4420440" y="4044600"/>
            <a:ext cx="3658680" cy="625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Kesan: takipneu,takikardia, dan hiperglikemia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Google Shape;121;h2748f6a11935b3f0_1_7" descr=""/>
          <p:cNvPicPr/>
          <p:nvPr/>
        </p:nvPicPr>
        <p:blipFill>
          <a:blip r:embed="rId1"/>
          <a:stretch/>
        </p:blipFill>
        <p:spPr>
          <a:xfrm>
            <a:off x="7081920" y="339840"/>
            <a:ext cx="1642320" cy="686520"/>
          </a:xfrm>
          <a:prstGeom prst="rect">
            <a:avLst/>
          </a:prstGeom>
          <a:ln w="0">
            <a:noFill/>
          </a:ln>
        </p:spPr>
      </p:pic>
      <p:pic>
        <p:nvPicPr>
          <p:cNvPr id="90" name="Google Shape;122;h2748f6a11935b3f0_1_7" descr=""/>
          <p:cNvPicPr/>
          <p:nvPr/>
        </p:nvPicPr>
        <p:blipFill>
          <a:blip r:embed="rId2"/>
          <a:stretch/>
        </p:blipFill>
        <p:spPr>
          <a:xfrm>
            <a:off x="3558240" y="381240"/>
            <a:ext cx="786600" cy="604440"/>
          </a:xfrm>
          <a:prstGeom prst="rect">
            <a:avLst/>
          </a:prstGeom>
          <a:ln w="0">
            <a:noFill/>
          </a:ln>
        </p:spPr>
      </p:pic>
      <p:pic>
        <p:nvPicPr>
          <p:cNvPr id="91" name="Google Shape;123;h2748f6a11935b3f0_1_7" descr=""/>
          <p:cNvPicPr/>
          <p:nvPr/>
        </p:nvPicPr>
        <p:blipFill>
          <a:blip r:embed="rId3"/>
          <a:stretch/>
        </p:blipFill>
        <p:spPr>
          <a:xfrm>
            <a:off x="4468320" y="339840"/>
            <a:ext cx="2490120" cy="68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128;h2748f6a11935b3f0_1_19"/>
          <p:cNvSpPr/>
          <p:nvPr/>
        </p:nvSpPr>
        <p:spPr>
          <a:xfrm>
            <a:off x="277200" y="1530000"/>
            <a:ext cx="8331480" cy="3924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800" bIns="19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129;h2748f6a11935b3f0_1_19"/>
          <p:cNvSpPr/>
          <p:nvPr/>
        </p:nvSpPr>
        <p:spPr>
          <a:xfrm>
            <a:off x="277200" y="419400"/>
            <a:ext cx="295416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en" sz="3400" spc="-1" strike="noStrike">
                <a:solidFill>
                  <a:srgbClr val="0c0c0c"/>
                </a:solidFill>
                <a:latin typeface="Poppins"/>
                <a:ea typeface="Poppins"/>
              </a:rPr>
              <a:t>Pediatric Assesment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Google Shape;130;h2748f6a11935b3f0_1_19" descr=""/>
          <p:cNvPicPr/>
          <p:nvPr/>
        </p:nvPicPr>
        <p:blipFill>
          <a:blip r:embed="rId1"/>
          <a:stretch/>
        </p:blipFill>
        <p:spPr>
          <a:xfrm>
            <a:off x="7081920" y="339840"/>
            <a:ext cx="1642320" cy="686520"/>
          </a:xfrm>
          <a:prstGeom prst="rect">
            <a:avLst/>
          </a:prstGeom>
          <a:ln w="0">
            <a:noFill/>
          </a:ln>
        </p:spPr>
      </p:pic>
      <p:pic>
        <p:nvPicPr>
          <p:cNvPr id="95" name="Google Shape;131;h2748f6a11935b3f0_1_19" descr=""/>
          <p:cNvPicPr/>
          <p:nvPr/>
        </p:nvPicPr>
        <p:blipFill>
          <a:blip r:embed="rId2"/>
          <a:stretch/>
        </p:blipFill>
        <p:spPr>
          <a:xfrm>
            <a:off x="3558240" y="381240"/>
            <a:ext cx="786600" cy="604440"/>
          </a:xfrm>
          <a:prstGeom prst="rect">
            <a:avLst/>
          </a:prstGeom>
          <a:ln w="0">
            <a:noFill/>
          </a:ln>
        </p:spPr>
      </p:pic>
      <p:pic>
        <p:nvPicPr>
          <p:cNvPr id="96" name="Google Shape;132;h2748f6a11935b3f0_1_19" descr=""/>
          <p:cNvPicPr/>
          <p:nvPr/>
        </p:nvPicPr>
        <p:blipFill>
          <a:blip r:embed="rId3"/>
          <a:stretch/>
        </p:blipFill>
        <p:spPr>
          <a:xfrm>
            <a:off x="4468320" y="339840"/>
            <a:ext cx="2490120" cy="686520"/>
          </a:xfrm>
          <a:prstGeom prst="rect">
            <a:avLst/>
          </a:prstGeom>
          <a:ln w="0">
            <a:noFill/>
          </a:ln>
        </p:spPr>
      </p:pic>
      <p:sp>
        <p:nvSpPr>
          <p:cNvPr id="97" name="Google Shape;133;h2748f6a11935b3f0_1_19"/>
          <p:cNvSpPr/>
          <p:nvPr/>
        </p:nvSpPr>
        <p:spPr>
          <a:xfrm>
            <a:off x="0" y="3957480"/>
            <a:ext cx="4344840" cy="440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Kesan: </a:t>
            </a:r>
            <a:r>
              <a:rPr b="1" i="1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Cardiopulmonary failure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oogle Shape;134;h2748f6a11935b3f0_1_19"/>
          <p:cNvSpPr/>
          <p:nvPr/>
        </p:nvSpPr>
        <p:spPr>
          <a:xfrm>
            <a:off x="4345200" y="1657800"/>
            <a:ext cx="6313320" cy="281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 marL="91440" indent="-95400">
              <a:lnSpc>
                <a:spcPct val="115000"/>
              </a:lnSpc>
              <a:spcBef>
                <a:spcPts val="1599"/>
              </a:spcBef>
              <a:buClr>
                <a:srgbClr val="1cade4"/>
              </a:buClr>
              <a:buFont typeface="Poppins"/>
              <a:buChar char=" "/>
            </a:pPr>
            <a:r>
              <a:rPr b="1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Breathing: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Poppins"/>
              <a:buChar char="-"/>
            </a:pPr>
            <a:r>
              <a:rPr b="0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Retraksi: (-)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Poppins"/>
              <a:buChar char="-"/>
            </a:pPr>
            <a:r>
              <a:rPr b="0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Nafas cuping hidung: (-)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Poppins"/>
              <a:buChar char="-"/>
            </a:pPr>
            <a:r>
              <a:rPr b="0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Suara nafas tambahan: (-)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Poppins"/>
              <a:buChar char="-"/>
            </a:pPr>
            <a:r>
              <a:rPr b="0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Pola napas: (-)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 </a:t>
            </a:r>
            <a:r>
              <a:rPr b="1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Body Colour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400"/>
              </a:spcBef>
              <a:buClr>
                <a:srgbClr val="000000"/>
              </a:buClr>
              <a:buFont typeface="Poppins"/>
              <a:buChar char="-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Pallor: (-)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Poppins"/>
              <a:buChar char="-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Mottling: (-)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Poppins"/>
              <a:buChar char="-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Cyanosis: (-)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Google Shape;135;h2748f6a11935b3f0_1_19"/>
          <p:cNvSpPr/>
          <p:nvPr/>
        </p:nvSpPr>
        <p:spPr>
          <a:xfrm>
            <a:off x="277200" y="1650960"/>
            <a:ext cx="4067640" cy="253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marL="91440" indent="-95400">
              <a:lnSpc>
                <a:spcPct val="100000"/>
              </a:lnSpc>
              <a:buClr>
                <a:srgbClr val="1cade4"/>
              </a:buClr>
              <a:buFont typeface="Poppins"/>
              <a:buChar char=" "/>
            </a:pPr>
            <a:r>
              <a:rPr b="1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Behaviour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Poppins"/>
              <a:buChar char="-"/>
            </a:pPr>
            <a:r>
              <a:rPr b="0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Tonus: lemah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Poppins"/>
              <a:buChar char="-"/>
            </a:pPr>
            <a:r>
              <a:rPr b="0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Interactiveness: adekuat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Poppins"/>
              <a:buChar char="-"/>
            </a:pPr>
            <a:r>
              <a:rPr b="0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Consolability: adekuat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Poppins"/>
              <a:buChar char="-"/>
            </a:pPr>
            <a:r>
              <a:rPr b="0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Look/gaze: adekuat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Poppins"/>
              <a:buChar char="-"/>
            </a:pPr>
            <a:r>
              <a:rPr b="0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Speech/cry: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Google Shape;136;h2748f6a11935b3f0_1_19"/>
          <p:cNvSpPr/>
          <p:nvPr/>
        </p:nvSpPr>
        <p:spPr>
          <a:xfrm>
            <a:off x="3017880" y="950040"/>
            <a:ext cx="295416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en" sz="3400" spc="-1" strike="noStrike">
                <a:solidFill>
                  <a:srgbClr val="0c0c0c"/>
                </a:solidFill>
                <a:latin typeface="Poppins"/>
                <a:ea typeface="Poppins"/>
              </a:rPr>
              <a:t>Triangle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41;g3fab2fb4e6a_0_5"/>
          <p:cNvSpPr/>
          <p:nvPr/>
        </p:nvSpPr>
        <p:spPr>
          <a:xfrm>
            <a:off x="-380880" y="3302640"/>
            <a:ext cx="2390400" cy="21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Google Shape;142;g3fab2fb4e6a_0_5"/>
          <p:cNvSpPr/>
          <p:nvPr/>
        </p:nvSpPr>
        <p:spPr>
          <a:xfrm>
            <a:off x="174240" y="1332000"/>
            <a:ext cx="8331480" cy="3924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800" bIns="19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Google Shape;143;g3fab2fb4e6a_0_5"/>
          <p:cNvSpPr/>
          <p:nvPr/>
        </p:nvSpPr>
        <p:spPr>
          <a:xfrm>
            <a:off x="190800" y="465120"/>
            <a:ext cx="6117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000000"/>
                </a:solidFill>
                <a:latin typeface="Poppins"/>
                <a:ea typeface="Poppins"/>
              </a:rPr>
              <a:t>Secondary Survey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Google Shape;144;g3fab2fb4e6a_0_5"/>
          <p:cNvSpPr/>
          <p:nvPr/>
        </p:nvSpPr>
        <p:spPr>
          <a:xfrm>
            <a:off x="174240" y="1479960"/>
            <a:ext cx="804420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Poppins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Poppins"/>
                <a:ea typeface="Poppins"/>
              </a:rPr>
              <a:t>Allergy: Tidak ada alergi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Poppins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Poppins"/>
                <a:ea typeface="Poppins"/>
              </a:rPr>
              <a:t>Medication: NovoRapid 11–13–11 IU, Levemir 13 IU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Poppins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Poppins"/>
                <a:ea typeface="Poppins"/>
              </a:rPr>
              <a:t>Past Medical History: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Poppins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Poppins"/>
                <a:ea typeface="Poppins"/>
              </a:rPr>
              <a:t>Last Meal</a:t>
            </a:r>
            <a:r>
              <a:rPr b="0" lang="en" sz="1800" spc="-1" strike="noStrike">
                <a:solidFill>
                  <a:schemeClr val="dk1"/>
                </a:solidFill>
                <a:latin typeface="Poppins"/>
                <a:ea typeface="Poppins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Poppins"/>
                <a:ea typeface="Poppins"/>
              </a:rPr>
              <a:t>: Terakhir makan pukul 07.00, makan telur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Poppins"/>
              <a:buChar char="•"/>
            </a:pPr>
            <a:r>
              <a:rPr b="1" lang="en" sz="1800" spc="-1" strike="noStrike">
                <a:solidFill>
                  <a:schemeClr val="dk1"/>
                </a:solidFill>
                <a:latin typeface="Poppins"/>
                <a:ea typeface="Poppins"/>
              </a:rPr>
              <a:t>Event Lead : Demam 8 jam SMRS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Google Shape;145;g3fab2fb4e6a_0_5" descr=""/>
          <p:cNvPicPr/>
          <p:nvPr/>
        </p:nvPicPr>
        <p:blipFill>
          <a:blip r:embed="rId1"/>
          <a:stretch/>
        </p:blipFill>
        <p:spPr>
          <a:xfrm>
            <a:off x="7081920" y="339840"/>
            <a:ext cx="1642320" cy="686520"/>
          </a:xfrm>
          <a:prstGeom prst="rect">
            <a:avLst/>
          </a:prstGeom>
          <a:ln w="0">
            <a:noFill/>
          </a:ln>
        </p:spPr>
      </p:pic>
      <p:pic>
        <p:nvPicPr>
          <p:cNvPr id="106" name="Google Shape;146;g3fab2fb4e6a_0_5" descr=""/>
          <p:cNvPicPr/>
          <p:nvPr/>
        </p:nvPicPr>
        <p:blipFill>
          <a:blip r:embed="rId2"/>
          <a:stretch/>
        </p:blipFill>
        <p:spPr>
          <a:xfrm>
            <a:off x="3558240" y="381240"/>
            <a:ext cx="786600" cy="604440"/>
          </a:xfrm>
          <a:prstGeom prst="rect">
            <a:avLst/>
          </a:prstGeom>
          <a:ln w="0">
            <a:noFill/>
          </a:ln>
        </p:spPr>
      </p:pic>
      <p:pic>
        <p:nvPicPr>
          <p:cNvPr id="107" name="Google Shape;147;g3fab2fb4e6a_0_5" descr=""/>
          <p:cNvPicPr/>
          <p:nvPr/>
        </p:nvPicPr>
        <p:blipFill>
          <a:blip r:embed="rId3"/>
          <a:stretch/>
        </p:blipFill>
        <p:spPr>
          <a:xfrm>
            <a:off x="4468320" y="339840"/>
            <a:ext cx="2490120" cy="68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52;g3f9ac711f7c_0_1"/>
          <p:cNvSpPr/>
          <p:nvPr/>
        </p:nvSpPr>
        <p:spPr>
          <a:xfrm>
            <a:off x="174240" y="1332000"/>
            <a:ext cx="8331480" cy="3924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800" bIns="19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Google Shape;153;g3f9ac711f7c_0_1"/>
          <p:cNvSpPr/>
          <p:nvPr/>
        </p:nvSpPr>
        <p:spPr>
          <a:xfrm>
            <a:off x="174240" y="-7560"/>
            <a:ext cx="50018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000000"/>
                </a:solidFill>
                <a:latin typeface="Poppins"/>
                <a:ea typeface="Poppins"/>
              </a:rPr>
              <a:t>Riwayat Penyakit Sekarang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Google Shape;154;g3f9ac711f7c_0_1" descr=""/>
          <p:cNvPicPr/>
          <p:nvPr/>
        </p:nvPicPr>
        <p:blipFill>
          <a:blip r:embed="rId1"/>
          <a:stretch/>
        </p:blipFill>
        <p:spPr>
          <a:xfrm>
            <a:off x="7581240" y="363960"/>
            <a:ext cx="1202040" cy="502560"/>
          </a:xfrm>
          <a:prstGeom prst="rect">
            <a:avLst/>
          </a:prstGeom>
          <a:ln w="0">
            <a:noFill/>
          </a:ln>
        </p:spPr>
      </p:pic>
      <p:pic>
        <p:nvPicPr>
          <p:cNvPr id="111" name="Google Shape;155;g3f9ac711f7c_0_1" descr=""/>
          <p:cNvPicPr/>
          <p:nvPr/>
        </p:nvPicPr>
        <p:blipFill>
          <a:blip r:embed="rId2"/>
          <a:stretch/>
        </p:blipFill>
        <p:spPr>
          <a:xfrm>
            <a:off x="5001840" y="393840"/>
            <a:ext cx="575640" cy="442440"/>
          </a:xfrm>
          <a:prstGeom prst="rect">
            <a:avLst/>
          </a:prstGeom>
          <a:ln w="0">
            <a:noFill/>
          </a:ln>
        </p:spPr>
      </p:pic>
      <p:pic>
        <p:nvPicPr>
          <p:cNvPr id="112" name="Google Shape;156;g3f9ac711f7c_0_1" descr=""/>
          <p:cNvPicPr/>
          <p:nvPr/>
        </p:nvPicPr>
        <p:blipFill>
          <a:blip r:embed="rId3"/>
          <a:stretch/>
        </p:blipFill>
        <p:spPr>
          <a:xfrm>
            <a:off x="5668200" y="363960"/>
            <a:ext cx="1822680" cy="502560"/>
          </a:xfrm>
          <a:prstGeom prst="rect">
            <a:avLst/>
          </a:prstGeom>
          <a:ln w="0">
            <a:noFill/>
          </a:ln>
        </p:spPr>
      </p:pic>
      <p:sp>
        <p:nvSpPr>
          <p:cNvPr id="113" name="Google Shape;157;g3f9ac711f7c_0_1"/>
          <p:cNvSpPr/>
          <p:nvPr/>
        </p:nvSpPr>
        <p:spPr>
          <a:xfrm>
            <a:off x="174240" y="1419120"/>
            <a:ext cx="833148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xxxx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62;p8"/>
          <p:cNvSpPr/>
          <p:nvPr/>
        </p:nvSpPr>
        <p:spPr>
          <a:xfrm>
            <a:off x="174240" y="1332000"/>
            <a:ext cx="8331480" cy="3924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800" bIns="19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Google Shape;163;p8"/>
          <p:cNvSpPr/>
          <p:nvPr/>
        </p:nvSpPr>
        <p:spPr>
          <a:xfrm>
            <a:off x="228240" y="330480"/>
            <a:ext cx="500184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500" spc="-1" strike="noStrike">
                <a:solidFill>
                  <a:srgbClr val="000000"/>
                </a:solidFill>
                <a:latin typeface="Poppins"/>
                <a:ea typeface="Poppins"/>
              </a:rPr>
              <a:t>Riwayat Penyakit Sekarang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Google Shape;164;p8" descr=""/>
          <p:cNvPicPr/>
          <p:nvPr/>
        </p:nvPicPr>
        <p:blipFill>
          <a:blip r:embed="rId1"/>
          <a:stretch/>
        </p:blipFill>
        <p:spPr>
          <a:xfrm>
            <a:off x="7581240" y="363960"/>
            <a:ext cx="1202040" cy="502560"/>
          </a:xfrm>
          <a:prstGeom prst="rect">
            <a:avLst/>
          </a:prstGeom>
          <a:ln w="0">
            <a:noFill/>
          </a:ln>
        </p:spPr>
      </p:pic>
      <p:pic>
        <p:nvPicPr>
          <p:cNvPr id="117" name="Google Shape;165;p8" descr=""/>
          <p:cNvPicPr/>
          <p:nvPr/>
        </p:nvPicPr>
        <p:blipFill>
          <a:blip r:embed="rId2"/>
          <a:stretch/>
        </p:blipFill>
        <p:spPr>
          <a:xfrm>
            <a:off x="5001840" y="393840"/>
            <a:ext cx="575640" cy="442440"/>
          </a:xfrm>
          <a:prstGeom prst="rect">
            <a:avLst/>
          </a:prstGeom>
          <a:ln w="0">
            <a:noFill/>
          </a:ln>
        </p:spPr>
      </p:pic>
      <p:pic>
        <p:nvPicPr>
          <p:cNvPr id="118" name="Google Shape;166;p8" descr=""/>
          <p:cNvPicPr/>
          <p:nvPr/>
        </p:nvPicPr>
        <p:blipFill>
          <a:blip r:embed="rId3"/>
          <a:stretch/>
        </p:blipFill>
        <p:spPr>
          <a:xfrm>
            <a:off x="5668200" y="363960"/>
            <a:ext cx="1822680" cy="502560"/>
          </a:xfrm>
          <a:prstGeom prst="rect">
            <a:avLst/>
          </a:prstGeom>
          <a:ln w="0">
            <a:noFill/>
          </a:ln>
        </p:spPr>
      </p:pic>
      <p:sp>
        <p:nvSpPr>
          <p:cNvPr id="119" name="Google Shape;167;p8"/>
          <p:cNvSpPr/>
          <p:nvPr/>
        </p:nvSpPr>
        <p:spPr>
          <a:xfrm>
            <a:off x="174240" y="1380240"/>
            <a:ext cx="833148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Poppins"/>
                <a:ea typeface="Poppins"/>
              </a:rPr>
              <a:t>xxxx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72;p9"/>
          <p:cNvSpPr/>
          <p:nvPr/>
        </p:nvSpPr>
        <p:spPr>
          <a:xfrm>
            <a:off x="4799880" y="3984480"/>
            <a:ext cx="423396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173;p9"/>
          <p:cNvSpPr/>
          <p:nvPr/>
        </p:nvSpPr>
        <p:spPr>
          <a:xfrm>
            <a:off x="174240" y="1332000"/>
            <a:ext cx="8331480" cy="3924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800" bIns="19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Google Shape;174;p9"/>
          <p:cNvSpPr/>
          <p:nvPr/>
        </p:nvSpPr>
        <p:spPr>
          <a:xfrm>
            <a:off x="-280800" y="1616760"/>
            <a:ext cx="518112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914400" indent="-3618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Poppins"/>
              <a:buChar char="•"/>
            </a:pPr>
            <a:r>
              <a:rPr b="1" lang="en" sz="2100" spc="-1" strike="noStrike">
                <a:solidFill>
                  <a:srgbClr val="000000"/>
                </a:solidFill>
                <a:latin typeface="Poppins"/>
                <a:ea typeface="Poppins"/>
              </a:rPr>
              <a:t>Riwayat Penyakit Dahulu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175;p9"/>
          <p:cNvSpPr/>
          <p:nvPr/>
        </p:nvSpPr>
        <p:spPr>
          <a:xfrm>
            <a:off x="4572000" y="1617840"/>
            <a:ext cx="423396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618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Poppins"/>
              <a:buChar char="•"/>
            </a:pPr>
            <a:r>
              <a:rPr b="1" lang="en" sz="2100" spc="-1" strike="noStrike">
                <a:solidFill>
                  <a:srgbClr val="000000"/>
                </a:solidFill>
                <a:latin typeface="Poppins"/>
                <a:ea typeface="Poppins"/>
              </a:rPr>
              <a:t>Riwayat Penyakit Keluarga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Google Shape;176;p9" descr=""/>
          <p:cNvPicPr/>
          <p:nvPr/>
        </p:nvPicPr>
        <p:blipFill>
          <a:blip r:embed="rId1"/>
          <a:stretch/>
        </p:blipFill>
        <p:spPr>
          <a:xfrm>
            <a:off x="7052760" y="399960"/>
            <a:ext cx="1642320" cy="686520"/>
          </a:xfrm>
          <a:prstGeom prst="rect">
            <a:avLst/>
          </a:prstGeom>
          <a:ln w="0">
            <a:noFill/>
          </a:ln>
        </p:spPr>
      </p:pic>
      <p:pic>
        <p:nvPicPr>
          <p:cNvPr id="125" name="Google Shape;177;p9" descr=""/>
          <p:cNvPicPr/>
          <p:nvPr/>
        </p:nvPicPr>
        <p:blipFill>
          <a:blip r:embed="rId2"/>
          <a:stretch/>
        </p:blipFill>
        <p:spPr>
          <a:xfrm>
            <a:off x="3529080" y="441000"/>
            <a:ext cx="786600" cy="604440"/>
          </a:xfrm>
          <a:prstGeom prst="rect">
            <a:avLst/>
          </a:prstGeom>
          <a:ln w="0">
            <a:noFill/>
          </a:ln>
        </p:spPr>
      </p:pic>
      <p:pic>
        <p:nvPicPr>
          <p:cNvPr id="126" name="Google Shape;178;p9" descr=""/>
          <p:cNvPicPr/>
          <p:nvPr/>
        </p:nvPicPr>
        <p:blipFill>
          <a:blip r:embed="rId3"/>
          <a:stretch/>
        </p:blipFill>
        <p:spPr>
          <a:xfrm>
            <a:off x="4439160" y="399960"/>
            <a:ext cx="2490120" cy="68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83;p10"/>
          <p:cNvSpPr/>
          <p:nvPr/>
        </p:nvSpPr>
        <p:spPr>
          <a:xfrm>
            <a:off x="174240" y="1332000"/>
            <a:ext cx="8331480" cy="3924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800" bIns="19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Google Shape;184;p10"/>
          <p:cNvSpPr/>
          <p:nvPr/>
        </p:nvSpPr>
        <p:spPr>
          <a:xfrm>
            <a:off x="315000" y="398520"/>
            <a:ext cx="5001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000" spc="-1" strike="noStrike">
                <a:solidFill>
                  <a:srgbClr val="000000"/>
                </a:solidFill>
                <a:latin typeface="Calibri"/>
                <a:ea typeface="Calibri"/>
              </a:rPr>
              <a:t>Secondary Survey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Google Shape;185;p10" descr=""/>
          <p:cNvPicPr/>
          <p:nvPr/>
        </p:nvPicPr>
        <p:blipFill>
          <a:blip r:embed="rId1"/>
          <a:stretch/>
        </p:blipFill>
        <p:spPr>
          <a:xfrm>
            <a:off x="7052760" y="361800"/>
            <a:ext cx="1642320" cy="686520"/>
          </a:xfrm>
          <a:prstGeom prst="rect">
            <a:avLst/>
          </a:prstGeom>
          <a:ln w="0">
            <a:noFill/>
          </a:ln>
        </p:spPr>
      </p:pic>
      <p:pic>
        <p:nvPicPr>
          <p:cNvPr id="130" name="Google Shape;186;p10" descr=""/>
          <p:cNvPicPr/>
          <p:nvPr/>
        </p:nvPicPr>
        <p:blipFill>
          <a:blip r:embed="rId2"/>
          <a:stretch/>
        </p:blipFill>
        <p:spPr>
          <a:xfrm>
            <a:off x="3529080" y="402840"/>
            <a:ext cx="786600" cy="604440"/>
          </a:xfrm>
          <a:prstGeom prst="rect">
            <a:avLst/>
          </a:prstGeom>
          <a:ln w="0">
            <a:noFill/>
          </a:ln>
        </p:spPr>
      </p:pic>
      <p:pic>
        <p:nvPicPr>
          <p:cNvPr id="131" name="Google Shape;187;p10" descr=""/>
          <p:cNvPicPr/>
          <p:nvPr/>
        </p:nvPicPr>
        <p:blipFill>
          <a:blip r:embed="rId3"/>
          <a:stretch/>
        </p:blipFill>
        <p:spPr>
          <a:xfrm>
            <a:off x="4439160" y="361800"/>
            <a:ext cx="2490120" cy="686520"/>
          </a:xfrm>
          <a:prstGeom prst="rect">
            <a:avLst/>
          </a:prstGeom>
          <a:ln w="0">
            <a:noFill/>
          </a:ln>
        </p:spPr>
      </p:pic>
      <p:sp>
        <p:nvSpPr>
          <p:cNvPr id="132" name="Google Shape;188;p10"/>
          <p:cNvSpPr/>
          <p:nvPr/>
        </p:nvSpPr>
        <p:spPr>
          <a:xfrm>
            <a:off x="225360" y="1581480"/>
            <a:ext cx="3999600" cy="41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Riwayat Kehamilan dan Persalinan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189;p10"/>
          <p:cNvSpPr/>
          <p:nvPr/>
        </p:nvSpPr>
        <p:spPr>
          <a:xfrm>
            <a:off x="4498560" y="1581480"/>
            <a:ext cx="399960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Riwayat Imunisasi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94;p13"/>
          <p:cNvSpPr/>
          <p:nvPr/>
        </p:nvSpPr>
        <p:spPr>
          <a:xfrm>
            <a:off x="174240" y="1332000"/>
            <a:ext cx="8331480" cy="3924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800" bIns="19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Google Shape;195;p13"/>
          <p:cNvSpPr/>
          <p:nvPr/>
        </p:nvSpPr>
        <p:spPr>
          <a:xfrm>
            <a:off x="315000" y="398520"/>
            <a:ext cx="50018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000" spc="-1" strike="noStrike">
                <a:solidFill>
                  <a:srgbClr val="000000"/>
                </a:solidFill>
                <a:latin typeface="Calibri"/>
                <a:ea typeface="Calibri"/>
              </a:rPr>
              <a:t>Nutrisi dan Tumbuh Kembang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Google Shape;196;p13"/>
          <p:cNvSpPr/>
          <p:nvPr/>
        </p:nvSpPr>
        <p:spPr>
          <a:xfrm>
            <a:off x="225360" y="1581480"/>
            <a:ext cx="3999600" cy="41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Riwayat Nutrisi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197;p13"/>
          <p:cNvSpPr/>
          <p:nvPr/>
        </p:nvSpPr>
        <p:spPr>
          <a:xfrm>
            <a:off x="4498560" y="1581480"/>
            <a:ext cx="399960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Riwayat Tumbuh Kembang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Google Shape;198;p13" descr=""/>
          <p:cNvPicPr/>
          <p:nvPr/>
        </p:nvPicPr>
        <p:blipFill>
          <a:blip r:embed="rId1"/>
          <a:stretch/>
        </p:blipFill>
        <p:spPr>
          <a:xfrm>
            <a:off x="7872480" y="260640"/>
            <a:ext cx="1048320" cy="438120"/>
          </a:xfrm>
          <a:prstGeom prst="rect">
            <a:avLst/>
          </a:prstGeom>
          <a:ln w="0">
            <a:noFill/>
          </a:ln>
        </p:spPr>
      </p:pic>
      <p:pic>
        <p:nvPicPr>
          <p:cNvPr id="139" name="Google Shape;199;p13" descr=""/>
          <p:cNvPicPr/>
          <p:nvPr/>
        </p:nvPicPr>
        <p:blipFill>
          <a:blip r:embed="rId2"/>
          <a:stretch/>
        </p:blipFill>
        <p:spPr>
          <a:xfrm>
            <a:off x="5623200" y="286920"/>
            <a:ext cx="502200" cy="385920"/>
          </a:xfrm>
          <a:prstGeom prst="rect">
            <a:avLst/>
          </a:prstGeom>
          <a:ln w="0">
            <a:noFill/>
          </a:ln>
        </p:spPr>
      </p:pic>
      <p:pic>
        <p:nvPicPr>
          <p:cNvPr id="140" name="Google Shape;200;p13" descr=""/>
          <p:cNvPicPr/>
          <p:nvPr/>
        </p:nvPicPr>
        <p:blipFill>
          <a:blip r:embed="rId3"/>
          <a:stretch/>
        </p:blipFill>
        <p:spPr>
          <a:xfrm>
            <a:off x="6204240" y="260640"/>
            <a:ext cx="1589400" cy="43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205;p11"/>
          <p:cNvSpPr/>
          <p:nvPr/>
        </p:nvSpPr>
        <p:spPr>
          <a:xfrm>
            <a:off x="232200" y="455040"/>
            <a:ext cx="867888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500" spc="-1" strike="noStrike">
                <a:solidFill>
                  <a:srgbClr val="000000"/>
                </a:solidFill>
                <a:latin typeface="Calibri"/>
                <a:ea typeface="Calibri"/>
              </a:rPr>
              <a:t>Antropometri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Google Shape;206;p11"/>
          <p:cNvSpPr/>
          <p:nvPr/>
        </p:nvSpPr>
        <p:spPr>
          <a:xfrm>
            <a:off x="281520" y="1191240"/>
            <a:ext cx="22489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457200" indent="-336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Poppins"/>
              <a:buChar char="•"/>
            </a:pPr>
            <a:r>
              <a:rPr b="0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BB: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457200" indent="-336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Poppins"/>
              <a:buChar char="•"/>
            </a:pPr>
            <a:r>
              <a:rPr b="0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TB: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oogle Shape;207;p11"/>
          <p:cNvSpPr/>
          <p:nvPr/>
        </p:nvSpPr>
        <p:spPr>
          <a:xfrm>
            <a:off x="281520" y="2260080"/>
            <a:ext cx="4812480" cy="14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457200" indent="-336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Poppins"/>
              <a:buChar char="•"/>
            </a:pPr>
            <a:r>
              <a:rPr b="0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BB/U: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457200" indent="-336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Poppins"/>
              <a:buChar char="•"/>
            </a:pPr>
            <a:r>
              <a:rPr b="0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TB/U: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457200" indent="-336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Poppins"/>
              <a:buChar char="•"/>
            </a:pPr>
            <a:r>
              <a:rPr b="0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BB/TB: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" sz="1700" spc="-1" strike="noStrike">
                <a:solidFill>
                  <a:schemeClr val="dk1"/>
                </a:solidFill>
                <a:latin typeface="Poppins"/>
                <a:ea typeface="Poppins"/>
              </a:rPr>
              <a:t>Kesan: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Google Shape;208;p11" descr=""/>
          <p:cNvPicPr/>
          <p:nvPr/>
        </p:nvPicPr>
        <p:blipFill>
          <a:blip r:embed="rId1"/>
          <a:srcRect l="5337" t="14133" r="8573" b="2233"/>
          <a:stretch/>
        </p:blipFill>
        <p:spPr>
          <a:xfrm>
            <a:off x="4926240" y="99360"/>
            <a:ext cx="3816720" cy="494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213;p14"/>
          <p:cNvSpPr/>
          <p:nvPr/>
        </p:nvSpPr>
        <p:spPr>
          <a:xfrm>
            <a:off x="174240" y="1332000"/>
            <a:ext cx="8331480" cy="3924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800" bIns="19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Google Shape;214;p14"/>
          <p:cNvSpPr/>
          <p:nvPr/>
        </p:nvSpPr>
        <p:spPr>
          <a:xfrm>
            <a:off x="315000" y="398520"/>
            <a:ext cx="5001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000" spc="-1" strike="noStrike">
                <a:solidFill>
                  <a:srgbClr val="000000"/>
                </a:solidFill>
                <a:latin typeface="Calibri"/>
                <a:ea typeface="Calibri"/>
              </a:rPr>
              <a:t>Pemeriksaan Fisik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215;p14"/>
          <p:cNvSpPr/>
          <p:nvPr/>
        </p:nvSpPr>
        <p:spPr>
          <a:xfrm>
            <a:off x="229680" y="1506960"/>
            <a:ext cx="850536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36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Poppins"/>
              <a:buChar char="●"/>
            </a:pPr>
            <a:r>
              <a:rPr b="0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Keadaan Umum: Tampak sakit sedang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457200" indent="-336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Poppins"/>
              <a:buChar char="●"/>
            </a:pPr>
            <a:r>
              <a:rPr b="0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Kesadaran: </a:t>
            </a:r>
            <a:r>
              <a:rPr b="0" lang="en" sz="1700" spc="-1" strike="noStrike">
                <a:solidFill>
                  <a:schemeClr val="dk1"/>
                </a:solidFill>
                <a:latin typeface="Poppins"/>
                <a:ea typeface="Poppins"/>
              </a:rPr>
              <a:t>GCS E4V5M6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457200" indent="-336600">
              <a:lnSpc>
                <a:spcPct val="115000"/>
              </a:lnSpc>
              <a:spcBef>
                <a:spcPts val="1001"/>
              </a:spcBef>
              <a:buClr>
                <a:srgbClr val="000000"/>
              </a:buClr>
              <a:buFont typeface="Poppins"/>
              <a:buChar char="●"/>
            </a:pPr>
            <a:r>
              <a:rPr b="1" lang="en" sz="1700" spc="-1" strike="noStrike">
                <a:solidFill>
                  <a:schemeClr val="dk1"/>
                </a:solidFill>
                <a:latin typeface="Poppins"/>
                <a:ea typeface="Poppins"/>
              </a:rPr>
              <a:t>Suhu: 38,5  C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457200" indent="-336600">
              <a:lnSpc>
                <a:spcPct val="115000"/>
              </a:lnSpc>
              <a:buClr>
                <a:srgbClr val="000000"/>
              </a:buClr>
              <a:buFont typeface="Poppins"/>
              <a:buChar char="●"/>
            </a:pPr>
            <a:r>
              <a:rPr b="0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TD : 120/76 mmHg (lengan kanan)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457200" indent="-336600">
              <a:lnSpc>
                <a:spcPct val="115000"/>
              </a:lnSpc>
              <a:buClr>
                <a:srgbClr val="000000"/>
              </a:buClr>
              <a:buFont typeface="Poppins"/>
              <a:buChar char="●"/>
            </a:pPr>
            <a:r>
              <a:rPr b="0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Laju nadi:  </a:t>
            </a:r>
            <a:r>
              <a:rPr b="1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128x/menit</a:t>
            </a:r>
            <a:r>
              <a:rPr b="0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, irama reguler, isi</a:t>
            </a:r>
            <a:r>
              <a:rPr b="1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 </a:t>
            </a:r>
            <a:r>
              <a:rPr b="0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kuat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457200" indent="-336600">
              <a:lnSpc>
                <a:spcPct val="115000"/>
              </a:lnSpc>
              <a:buClr>
                <a:srgbClr val="000000"/>
              </a:buClr>
              <a:buFont typeface="Calibri"/>
              <a:buChar char="●"/>
            </a:pPr>
            <a:r>
              <a:rPr b="0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RR: </a:t>
            </a:r>
            <a:r>
              <a:rPr b="1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26x/menit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457200" indent="-336600">
              <a:lnSpc>
                <a:spcPct val="115000"/>
              </a:lnSpc>
              <a:buClr>
                <a:srgbClr val="000000"/>
              </a:buClr>
              <a:buFont typeface="Poppins"/>
              <a:buChar char="●"/>
            </a:pPr>
            <a:r>
              <a:rPr b="0" lang="en" sz="1700" spc="-1" strike="noStrike">
                <a:solidFill>
                  <a:srgbClr val="000000"/>
                </a:solidFill>
                <a:latin typeface="Poppins"/>
                <a:ea typeface="Poppins"/>
              </a:rPr>
              <a:t>SpO2: 98% on room air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Google Shape;216;p14" descr=""/>
          <p:cNvPicPr/>
          <p:nvPr/>
        </p:nvPicPr>
        <p:blipFill>
          <a:blip r:embed="rId1"/>
          <a:stretch/>
        </p:blipFill>
        <p:spPr>
          <a:xfrm>
            <a:off x="7204680" y="452520"/>
            <a:ext cx="1198800" cy="501120"/>
          </a:xfrm>
          <a:prstGeom prst="rect">
            <a:avLst/>
          </a:prstGeom>
          <a:ln w="0">
            <a:noFill/>
          </a:ln>
        </p:spPr>
      </p:pic>
      <p:pic>
        <p:nvPicPr>
          <p:cNvPr id="149" name="Google Shape;217;p14" descr=""/>
          <p:cNvPicPr/>
          <p:nvPr/>
        </p:nvPicPr>
        <p:blipFill>
          <a:blip r:embed="rId2"/>
          <a:stretch/>
        </p:blipFill>
        <p:spPr>
          <a:xfrm>
            <a:off x="4632120" y="482400"/>
            <a:ext cx="574200" cy="441360"/>
          </a:xfrm>
          <a:prstGeom prst="rect">
            <a:avLst/>
          </a:prstGeom>
          <a:ln w="0">
            <a:noFill/>
          </a:ln>
        </p:spPr>
      </p:pic>
      <p:pic>
        <p:nvPicPr>
          <p:cNvPr id="150" name="Google Shape;218;p14" descr=""/>
          <p:cNvPicPr/>
          <p:nvPr/>
        </p:nvPicPr>
        <p:blipFill>
          <a:blip r:embed="rId3"/>
          <a:stretch/>
        </p:blipFill>
        <p:spPr>
          <a:xfrm>
            <a:off x="5296680" y="452520"/>
            <a:ext cx="1817640" cy="501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223;p15"/>
          <p:cNvSpPr/>
          <p:nvPr/>
        </p:nvSpPr>
        <p:spPr>
          <a:xfrm flipH="1" rot="10800000">
            <a:off x="3189600" y="488880"/>
            <a:ext cx="2585520" cy="3852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440" bIns="19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Google Shape;224;p15"/>
          <p:cNvSpPr/>
          <p:nvPr/>
        </p:nvSpPr>
        <p:spPr>
          <a:xfrm>
            <a:off x="2401200" y="0"/>
            <a:ext cx="434160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2700" spc="-1" strike="noStrike">
                <a:solidFill>
                  <a:srgbClr val="000000"/>
                </a:solidFill>
                <a:latin typeface="Poppins"/>
                <a:ea typeface="Poppins"/>
              </a:rPr>
              <a:t>Status Generalis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3" name="Google Shape;225;p15"/>
          <p:cNvGraphicFramePr/>
          <p:nvPr/>
        </p:nvGraphicFramePr>
        <p:xfrm>
          <a:off x="394200" y="642600"/>
          <a:ext cx="8175960" cy="4388040"/>
        </p:xfrm>
        <a:graphic>
          <a:graphicData uri="http://schemas.openxmlformats.org/drawingml/2006/table">
            <a:tbl>
              <a:tblPr/>
              <a:tblGrid>
                <a:gridCol w="1352520"/>
                <a:gridCol w="6823440"/>
              </a:tblGrid>
              <a:tr h="362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Kepala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</a:rPr>
                        <a:t>Normosefali, rambut tidak susah dicabut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4935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Mata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</a:rPr>
                        <a:t>Konjungtiva tidak pucat, tidak ada infeksi konjungtiva, tidak ada sklera ikterik, pupil bulat isokor 3mm/3 mm, refleks cahaya langsung positif bilateral dan refleks cahaya tidak langsung positif bilateral lambat, tidak ada mata cekung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62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</a:rPr>
                        <a:t>Mulut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62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Leher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</a:rPr>
                        <a:t>Tidak ada pembesaran KGB, JVP tidak meningkat, tonsil T1-T1, kaku kuduk (-)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62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Dada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</a:rPr>
                        <a:t>Kembang dada simetris,</a:t>
                      </a:r>
                      <a:r>
                        <a:rPr b="1" lang="en" sz="1100" spc="-1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</a:rPr>
                        <a:t> </a:t>
                      </a:r>
                      <a:r>
                        <a:rPr b="0" lang="en" sz="1100" spc="-1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</a:rPr>
                        <a:t>retraksi intercostal (-)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62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Jantung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Bunyi jantung S1 dan S2 normal, tidak ada murmur, tidak ada gallop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62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Paru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Suara paru vesikuler bilateral, ronkhi (-/-), wheezing (-/-)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62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Abdomen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Supel, buncit, tidak terdapat nyeri tekan, tidak teraba hepatosplenomegali, bising usus positif 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62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Ekstremitas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Akral hangat</a:t>
                      </a:r>
                      <a:r>
                        <a:rPr b="1" lang="en" sz="11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, </a:t>
                      </a:r>
                      <a:r>
                        <a:rPr b="0" lang="en" sz="11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CRT &lt;2 detik, tidak ada edema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55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Kulit dan kelamin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</a:rPr>
                        <a:t>Dalam batas normal, turgor kulit cukup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230;p20"/>
          <p:cNvSpPr/>
          <p:nvPr/>
        </p:nvSpPr>
        <p:spPr>
          <a:xfrm>
            <a:off x="7012080" y="2066760"/>
            <a:ext cx="1871640" cy="1119240"/>
          </a:xfrm>
          <a:prstGeom prst="rect">
            <a:avLst/>
          </a:prstGeom>
          <a:solidFill>
            <a:schemeClr val="lt1"/>
          </a:solidFill>
          <a:ln w="1905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Lato"/>
                <a:ea typeface="Lato"/>
              </a:rPr>
              <a:t>Kesimpulan: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Lato"/>
                <a:ea typeface="Lato"/>
              </a:rPr>
              <a:t>Leukositosis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Lato"/>
                <a:ea typeface="Lato"/>
              </a:rPr>
              <a:t>Trombositosis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Lato"/>
              <a:buChar char="●"/>
              <a:tabLst>
                <a:tab algn="l" pos="0"/>
              </a:tabLst>
            </a:pPr>
            <a:r>
              <a:rPr b="0" i="1" lang="en" sz="1200" spc="-1" strike="noStrike">
                <a:solidFill>
                  <a:srgbClr val="000000"/>
                </a:solidFill>
                <a:latin typeface="Lato"/>
                <a:ea typeface="Lato"/>
              </a:rPr>
              <a:t>Shift to the left</a:t>
            </a:r>
            <a:r>
              <a:rPr b="0" lang="en" sz="1200" spc="-1" strike="noStrike">
                <a:solidFill>
                  <a:srgbClr val="000000"/>
                </a:solidFill>
                <a:latin typeface="Lato"/>
                <a:ea typeface="Lato"/>
              </a:rPr>
              <a:t> → infeksi bakteri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5" name="Google Shape;231;p20"/>
          <p:cNvGraphicFramePr/>
          <p:nvPr/>
        </p:nvGraphicFramePr>
        <p:xfrm>
          <a:off x="0" y="0"/>
          <a:ext cx="6656400" cy="5209920"/>
        </p:xfrm>
        <a:graphic>
          <a:graphicData uri="http://schemas.openxmlformats.org/drawingml/2006/table">
            <a:tbl>
              <a:tblPr/>
              <a:tblGrid>
                <a:gridCol w="1971720"/>
                <a:gridCol w="1726200"/>
                <a:gridCol w="1302120"/>
                <a:gridCol w="1655640"/>
              </a:tblGrid>
              <a:tr h="233280">
                <a:tc gridSpan="2">
                  <a:txBody>
                    <a:bodyPr lIns="68400" rIns="68400" tIns="34200" bIns="342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1"/>
                          </a:solidFill>
                          <a:latin typeface="Lato"/>
                          <a:ea typeface="Lato"/>
                        </a:rPr>
                        <a:t>HEMATOLOGI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1"/>
                          </a:solidFill>
                          <a:latin typeface="Lato"/>
                          <a:ea typeface="Lato"/>
                        </a:rPr>
                        <a:t>Satuan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pc="-1" strike="noStrike">
                          <a:solidFill>
                            <a:schemeClr val="dk1"/>
                          </a:solidFill>
                          <a:latin typeface="Lato"/>
                          <a:ea typeface="Lato"/>
                        </a:rPr>
                        <a:t>Nilai rujukan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7188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Hemoglobin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15.1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g/dL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13.0 – 18.0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22716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Hematokrit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44.5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40.0 – 54.0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22716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Jumlah Leukosit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14.27 ↑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10³/µL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4.50 – 13.00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261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Hitung Jenis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261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Basofil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0.3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0.0 – 1.0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261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Eosinofil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0.0 ↓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1.0 – 6.0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</a:tr>
              <a:tr h="261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Neutrofil Batang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0.0 ↓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2.0 – 6.0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</a:tr>
              <a:tr h="261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Neutrofil Segmen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86.3 ↑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50.0 – 70.0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261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Neutrofil Segmen Absolut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12.32 ↑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10³/µL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1.80 – 8.00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261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Limfosit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8.3 ↓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20.0 – 40.0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</a:tr>
              <a:tr h="261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Limfosit Absolut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1.18 ↓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10³/µL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1.20 – 5.20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</a:tr>
              <a:tr h="261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Monosit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5.1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2.0 – 9.0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2610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Jumlah Trombosit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466 ↑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ribu/µL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</a:rPr>
                        <a:t>150 – 450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717600" y="525960"/>
            <a:ext cx="2346120" cy="6001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650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chemeClr val="dk1"/>
                </a:solidFill>
                <a:latin typeface="Arial"/>
                <a:ea typeface="Arial"/>
              </a:rPr>
              <a:t>Pemeriksaan penunjang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237;p22"/>
          <p:cNvSpPr/>
          <p:nvPr/>
        </p:nvSpPr>
        <p:spPr>
          <a:xfrm>
            <a:off x="174240" y="1332000"/>
            <a:ext cx="8331480" cy="3924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800" bIns="19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Google Shape;238;p22"/>
          <p:cNvSpPr/>
          <p:nvPr/>
        </p:nvSpPr>
        <p:spPr>
          <a:xfrm>
            <a:off x="315000" y="398520"/>
            <a:ext cx="5001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000" spc="-1" strike="noStrike">
                <a:solidFill>
                  <a:srgbClr val="000000"/>
                </a:solidFill>
                <a:latin typeface="Calibri"/>
                <a:ea typeface="Calibri"/>
              </a:rPr>
              <a:t>Diagnosis kerja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239;p22"/>
          <p:cNvSpPr/>
          <p:nvPr/>
        </p:nvSpPr>
        <p:spPr>
          <a:xfrm>
            <a:off x="229680" y="1430640"/>
            <a:ext cx="657108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1" lang="en" sz="1500" spc="-1" strike="noStrike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Google Shape;240;p22" descr=""/>
          <p:cNvPicPr/>
          <p:nvPr/>
        </p:nvPicPr>
        <p:blipFill>
          <a:blip r:embed="rId1"/>
          <a:stretch/>
        </p:blipFill>
        <p:spPr>
          <a:xfrm>
            <a:off x="6863400" y="398520"/>
            <a:ext cx="1642320" cy="686520"/>
          </a:xfrm>
          <a:prstGeom prst="rect">
            <a:avLst/>
          </a:prstGeom>
          <a:ln w="0">
            <a:noFill/>
          </a:ln>
        </p:spPr>
      </p:pic>
      <p:pic>
        <p:nvPicPr>
          <p:cNvPr id="161" name="Google Shape;241;p22" descr=""/>
          <p:cNvPicPr/>
          <p:nvPr/>
        </p:nvPicPr>
        <p:blipFill>
          <a:blip r:embed="rId2"/>
          <a:stretch/>
        </p:blipFill>
        <p:spPr>
          <a:xfrm>
            <a:off x="3339720" y="439560"/>
            <a:ext cx="786600" cy="604440"/>
          </a:xfrm>
          <a:prstGeom prst="rect">
            <a:avLst/>
          </a:prstGeom>
          <a:ln w="0">
            <a:noFill/>
          </a:ln>
        </p:spPr>
      </p:pic>
      <p:pic>
        <p:nvPicPr>
          <p:cNvPr id="162" name="Google Shape;242;p22" descr=""/>
          <p:cNvPicPr/>
          <p:nvPr/>
        </p:nvPicPr>
        <p:blipFill>
          <a:blip r:embed="rId3"/>
          <a:stretch/>
        </p:blipFill>
        <p:spPr>
          <a:xfrm>
            <a:off x="4249800" y="398520"/>
            <a:ext cx="2490120" cy="68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247;g3f9aebdfa45_0_28"/>
          <p:cNvSpPr/>
          <p:nvPr/>
        </p:nvSpPr>
        <p:spPr>
          <a:xfrm>
            <a:off x="315000" y="398520"/>
            <a:ext cx="500184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500" spc="-1" strike="noStrike">
                <a:solidFill>
                  <a:srgbClr val="000000"/>
                </a:solidFill>
                <a:latin typeface="Poppins"/>
                <a:ea typeface="Poppins"/>
              </a:rPr>
              <a:t>Tata laksana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Google Shape;248;g3f9aebdfa45_0_28"/>
          <p:cNvSpPr/>
          <p:nvPr/>
        </p:nvSpPr>
        <p:spPr>
          <a:xfrm>
            <a:off x="459000" y="1532160"/>
            <a:ext cx="7464600" cy="33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n" sz="2000" spc="-1" strike="noStrike">
                <a:solidFill>
                  <a:schemeClr val="dk1"/>
                </a:solidFill>
                <a:latin typeface="Poppins"/>
                <a:ea typeface="Poppins"/>
              </a:rPr>
              <a:t>xxxx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Google Shape;249;g3f9aebdfa45_0_28" descr=""/>
          <p:cNvPicPr/>
          <p:nvPr/>
        </p:nvPicPr>
        <p:blipFill>
          <a:blip r:embed="rId1"/>
          <a:stretch/>
        </p:blipFill>
        <p:spPr>
          <a:xfrm>
            <a:off x="6987240" y="216000"/>
            <a:ext cx="1642320" cy="686520"/>
          </a:xfrm>
          <a:prstGeom prst="rect">
            <a:avLst/>
          </a:prstGeom>
          <a:ln w="0">
            <a:noFill/>
          </a:ln>
        </p:spPr>
      </p:pic>
      <p:pic>
        <p:nvPicPr>
          <p:cNvPr id="166" name="Google Shape;250;g3f9aebdfa45_0_28" descr=""/>
          <p:cNvPicPr/>
          <p:nvPr/>
        </p:nvPicPr>
        <p:blipFill>
          <a:blip r:embed="rId2"/>
          <a:stretch/>
        </p:blipFill>
        <p:spPr>
          <a:xfrm>
            <a:off x="3463560" y="257040"/>
            <a:ext cx="786600" cy="604440"/>
          </a:xfrm>
          <a:prstGeom prst="rect">
            <a:avLst/>
          </a:prstGeom>
          <a:ln w="0">
            <a:noFill/>
          </a:ln>
        </p:spPr>
      </p:pic>
      <p:pic>
        <p:nvPicPr>
          <p:cNvPr id="167" name="Google Shape;251;g3f9aebdfa45_0_28" descr=""/>
          <p:cNvPicPr/>
          <p:nvPr/>
        </p:nvPicPr>
        <p:blipFill>
          <a:blip r:embed="rId3"/>
          <a:stretch/>
        </p:blipFill>
        <p:spPr>
          <a:xfrm>
            <a:off x="4373640" y="216000"/>
            <a:ext cx="2490120" cy="686520"/>
          </a:xfrm>
          <a:prstGeom prst="rect">
            <a:avLst/>
          </a:prstGeom>
          <a:ln w="0">
            <a:noFill/>
          </a:ln>
        </p:spPr>
      </p:pic>
      <p:sp>
        <p:nvSpPr>
          <p:cNvPr id="168" name="Google Shape;252;g3f9aebdfa45_0_28"/>
          <p:cNvSpPr/>
          <p:nvPr/>
        </p:nvSpPr>
        <p:spPr>
          <a:xfrm>
            <a:off x="174240" y="1332000"/>
            <a:ext cx="8829720" cy="2052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0440" bIns="10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257;p24"/>
          <p:cNvSpPr/>
          <p:nvPr/>
        </p:nvSpPr>
        <p:spPr>
          <a:xfrm>
            <a:off x="241560" y="257040"/>
            <a:ext cx="3298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000000"/>
                </a:solidFill>
                <a:latin typeface="Poppins"/>
                <a:ea typeface="Poppins"/>
              </a:rPr>
              <a:t>Rencana Monitoring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Google Shape;258;p24"/>
          <p:cNvSpPr/>
          <p:nvPr/>
        </p:nvSpPr>
        <p:spPr>
          <a:xfrm>
            <a:off x="340200" y="1585440"/>
            <a:ext cx="8463240" cy="33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Poppins"/>
                <a:ea typeface="Poppins"/>
              </a:rPr>
              <a:t>xxx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Google Shape;259;p24" descr=""/>
          <p:cNvPicPr/>
          <p:nvPr/>
        </p:nvPicPr>
        <p:blipFill>
          <a:blip r:embed="rId1"/>
          <a:stretch/>
        </p:blipFill>
        <p:spPr>
          <a:xfrm>
            <a:off x="6987240" y="216000"/>
            <a:ext cx="1642320" cy="686520"/>
          </a:xfrm>
          <a:prstGeom prst="rect">
            <a:avLst/>
          </a:prstGeom>
          <a:ln w="0">
            <a:noFill/>
          </a:ln>
        </p:spPr>
      </p:pic>
      <p:pic>
        <p:nvPicPr>
          <p:cNvPr id="172" name="Google Shape;260;p24" descr=""/>
          <p:cNvPicPr/>
          <p:nvPr/>
        </p:nvPicPr>
        <p:blipFill>
          <a:blip r:embed="rId2"/>
          <a:stretch/>
        </p:blipFill>
        <p:spPr>
          <a:xfrm>
            <a:off x="3463560" y="257040"/>
            <a:ext cx="786600" cy="604440"/>
          </a:xfrm>
          <a:prstGeom prst="rect">
            <a:avLst/>
          </a:prstGeom>
          <a:ln w="0">
            <a:noFill/>
          </a:ln>
        </p:spPr>
      </p:pic>
      <p:pic>
        <p:nvPicPr>
          <p:cNvPr id="173" name="Google Shape;261;p24" descr=""/>
          <p:cNvPicPr/>
          <p:nvPr/>
        </p:nvPicPr>
        <p:blipFill>
          <a:blip r:embed="rId3"/>
          <a:stretch/>
        </p:blipFill>
        <p:spPr>
          <a:xfrm>
            <a:off x="4373640" y="216000"/>
            <a:ext cx="2490120" cy="686520"/>
          </a:xfrm>
          <a:prstGeom prst="rect">
            <a:avLst/>
          </a:prstGeom>
          <a:ln w="0">
            <a:noFill/>
          </a:ln>
        </p:spPr>
      </p:pic>
      <p:sp>
        <p:nvSpPr>
          <p:cNvPr id="174" name="Google Shape;262;p24"/>
          <p:cNvSpPr/>
          <p:nvPr/>
        </p:nvSpPr>
        <p:spPr>
          <a:xfrm>
            <a:off x="174240" y="1332000"/>
            <a:ext cx="8829720" cy="2052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0440" bIns="10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267;g3f9ac711f7c_0_10"/>
          <p:cNvSpPr/>
          <p:nvPr/>
        </p:nvSpPr>
        <p:spPr>
          <a:xfrm>
            <a:off x="-380880" y="3302640"/>
            <a:ext cx="2390400" cy="21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268;g3f9ac711f7c_0_10"/>
          <p:cNvSpPr/>
          <p:nvPr/>
        </p:nvSpPr>
        <p:spPr>
          <a:xfrm>
            <a:off x="174240" y="947880"/>
            <a:ext cx="7849800" cy="39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200" spc="-1" strike="noStrike">
                <a:solidFill>
                  <a:srgbClr val="000000"/>
                </a:solidFill>
                <a:latin typeface="Poppins"/>
                <a:ea typeface="Poppins"/>
              </a:rPr>
              <a:t>Terima Kasih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000000"/>
                </a:solidFill>
                <a:latin typeface="Poppins"/>
                <a:ea typeface="Poppins"/>
              </a:rPr>
              <a:t>Module: Pediatric and Adolescent Health - Rotation 4 - 2026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Google Shape;269;g3f9ac711f7c_0_10" descr=""/>
          <p:cNvPicPr/>
          <p:nvPr/>
        </p:nvPicPr>
        <p:blipFill>
          <a:blip r:embed="rId1"/>
          <a:stretch/>
        </p:blipFill>
        <p:spPr>
          <a:xfrm>
            <a:off x="6806160" y="3928680"/>
            <a:ext cx="2051280" cy="857520"/>
          </a:xfrm>
          <a:prstGeom prst="rect">
            <a:avLst/>
          </a:prstGeom>
          <a:ln w="0">
            <a:noFill/>
          </a:ln>
        </p:spPr>
      </p:pic>
      <p:sp>
        <p:nvSpPr>
          <p:cNvPr id="178" name="Google Shape;270;g3f9ac711f7c_0_10"/>
          <p:cNvSpPr/>
          <p:nvPr/>
        </p:nvSpPr>
        <p:spPr>
          <a:xfrm>
            <a:off x="174240" y="4472640"/>
            <a:ext cx="6336000" cy="39240"/>
          </a:xfrm>
          <a:prstGeom prst="rect">
            <a:avLst/>
          </a:prstGeom>
          <a:solidFill>
            <a:srgbClr val="1155cc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800" bIns="19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9" name="Google Shape;271;g3f9ac711f7c_0_10" descr=""/>
          <p:cNvPicPr/>
          <p:nvPr/>
        </p:nvPicPr>
        <p:blipFill>
          <a:blip r:embed="rId2"/>
          <a:stretch/>
        </p:blipFill>
        <p:spPr>
          <a:xfrm>
            <a:off x="5644800" y="133920"/>
            <a:ext cx="786600" cy="604440"/>
          </a:xfrm>
          <a:prstGeom prst="rect">
            <a:avLst/>
          </a:prstGeom>
          <a:ln w="0">
            <a:noFill/>
          </a:ln>
        </p:spPr>
      </p:pic>
      <p:pic>
        <p:nvPicPr>
          <p:cNvPr id="180" name="Google Shape;272;g3f9ac711f7c_0_10" descr=""/>
          <p:cNvPicPr/>
          <p:nvPr/>
        </p:nvPicPr>
        <p:blipFill>
          <a:blip r:embed="rId3"/>
          <a:stretch/>
        </p:blipFill>
        <p:spPr>
          <a:xfrm>
            <a:off x="6510240" y="92880"/>
            <a:ext cx="2490120" cy="68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2026-10-07T21:10:29Z</dcterms:modified>
  <cp:revision>1</cp:revision>
  <dc:subject/>
  <dc:title/>
</cp:coreProperties>
</file>