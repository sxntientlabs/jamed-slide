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notesMasterIdLst>
    <p:notesMasterId r:id="rId24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dt" idx="4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4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4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3FDF30-01B3-413E-8131-890652642A3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54D04D-AD76-4AEA-89B4-FBFE66FDBE89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2D423E-C374-46A0-A2AC-8E79E36230FD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dibaca: baik/tidak saja, jika ada masalah dibacakan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KESIMPULAN…. ada kegawatan/tidak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95FF94-CC97-483A-BA4E-C0F31850AD5D}" type="slidenum">
              <a:rPr b="0" lang="e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A76F1C-4D09-4B67-A2DA-0924DFFBD229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384120" y="685800"/>
            <a:ext cx="6082920" cy="34225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Calibri"/>
                <a:ea typeface="Calibri"/>
              </a:rPr>
              <a:t>tulispoin-poinpenting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B984CF-3547-4B0E-8FD0-B25FEDA0257C}" type="slidenum">
              <a:rPr b="0" lang="e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4BB29C-7B07-44D0-A08D-E3D87D8324BE}" type="slidenum">
              <a:rPr b="0" lang="en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dibacakan kesannya saja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2990E6-9964-496D-A54F-B44428333458}" type="slidenum">
              <a:rPr b="0" lang="en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399D51-2EE8-43B1-BECC-09B3CF8F031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87EF48-6D4A-4086-A3F1-96ECD33EEAB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4BC1A4-EC86-4068-A233-7AC020C03905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AC893C-0FEB-41A0-B31E-6BDB80547C0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3D3932-1F17-44FB-96A8-F8DCA943C0E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768816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3A0A86-F86A-4C12-8D63-A8440F37EFA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7B0E774-EC13-4EE4-8A29-F6F64DAAA92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73FDE02-8A84-4D73-9ECE-ADE36AC210E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306993-C33D-4716-A97B-645520FB659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E25C8B4-44FC-497B-BE8E-12AC6A1C6CD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1A0D30-9C4B-4AF6-867C-5E16E127ABC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E39DF42-CC64-4A60-BD3A-0A429BBFE0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D235170-EC23-4855-A760-78A5143D0E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5CAFD1B-C389-479E-BE8B-95FB6525B5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EC9809F-1D02-478A-94A0-3A4D29E416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768816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49CC70A-FC45-472B-8EF7-33037AE882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67B6640-AD42-48DB-8302-71BF71583B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C0EB3B3-BE91-4939-BDD2-4204B71C6A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EB09F40A-96FC-4C6C-BAD9-BF88A1CB4D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9F361A7-F5E1-4162-961C-8CE2335445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ADF59693-98D2-47F5-8498-DC4CBCBB01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DAC3C50-5A12-4009-A91E-E4D97DB869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752881-7100-4799-B04E-11F1D4C34F5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724AB3-06F7-4C80-8FAF-C7B8D08D867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CF16DD-F49D-405F-A664-93EE381D5FF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CA55C7-A7FF-4FC6-BA9A-DE7A75D25C4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FA2877-BF5F-4705-81BA-773BA1EBFF1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C15E28-BA50-4232-90B5-A6B4A7BBD42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0ED540-5D3F-4CF5-84A7-D463BF2F8C7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A0D0BF-C3B3-443C-8926-96F8E80B994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5C63F6-06E2-4561-A2B7-08738FA1060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33A20F-DE68-4B75-A6A6-AD9A4FFD2A1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81C730-9E8D-4F9D-9204-BEE0E224D17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7" name="Google Shape;58;p14"/>
          <p:cNvSpPr/>
          <p:nvPr/>
        </p:nvSpPr>
        <p:spPr>
          <a:xfrm>
            <a:off x="0" y="0"/>
            <a:ext cx="9143640" cy="3428640"/>
          </a:xfrm>
          <a:prstGeom prst="rect">
            <a:avLst/>
          </a:prstGeom>
          <a:solidFill>
            <a:srgbClr val="1482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Google Shape;59;p14"/>
          <p:cNvSpPr/>
          <p:nvPr/>
        </p:nvSpPr>
        <p:spPr>
          <a:xfrm>
            <a:off x="0" y="0"/>
            <a:ext cx="9143640" cy="34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428640"/>
              <a:gd name="textAreaBottom" fmla="*/ 3429000 h 342864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2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13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4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5A945C-DF08-4BCF-A966-B9EAC50D2056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3" name="Google Shape;65;p14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482ab"/>
            </a:solidFill>
            <a:round/>
          </a:ln>
        </p:spPr>
      </p:cxn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 rot="5400000">
            <a:off x="2904840" y="-421560"/>
            <a:ext cx="3017160" cy="72896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3704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5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6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7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C953457-34C6-4A69-B2CF-AFF1D7257AE3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 rot="5400000">
            <a:off x="5500800" y="1614600"/>
            <a:ext cx="4057560" cy="1971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68400" bIns="684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 rot="5400000">
            <a:off x="1557360" y="-242640"/>
            <a:ext cx="4057560" cy="56862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8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9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0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9519DB0-4B47-4F2E-B557-74C901B7E2A3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9" name="Google Shape;133;p24"/>
          <p:cNvCxnSpPr/>
          <p:nvPr/>
        </p:nvCxnSpPr>
        <p:spPr>
          <a:xfrm flipV="1">
            <a:off x="7543800" y="4428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1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FB4D6C5-0999-4654-B991-786B905B0A08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6824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49208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4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5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6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1C6B080-AF65-4992-82BA-1E35EB8328C2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9" name="Google Shape;80;p17"/>
          <p:cNvSpPr/>
          <p:nvPr/>
        </p:nvSpPr>
        <p:spPr>
          <a:xfrm>
            <a:off x="0" y="0"/>
            <a:ext cx="9143640" cy="3428640"/>
          </a:xfrm>
          <a:prstGeom prst="rect">
            <a:avLst/>
          </a:prstGeom>
          <a:solidFill>
            <a:srgbClr val="1d9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81;p17"/>
          <p:cNvSpPr/>
          <p:nvPr/>
        </p:nvSpPr>
        <p:spPr>
          <a:xfrm>
            <a:off x="0" y="0"/>
            <a:ext cx="9143640" cy="34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428640"/>
              <a:gd name="textAreaBottom" fmla="*/ 3429000 h 342864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27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ftr" idx="28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sldNum" idx="29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6109B52-8425-4D4B-8405-A4BC0AA2FD49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6" name="Google Shape;87;p17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482ab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68240" y="1634760"/>
            <a:ext cx="3566160" cy="616680"/>
          </a:xfrm>
          <a:prstGeom prst="rect">
            <a:avLst/>
          </a:prstGeom>
          <a:noFill/>
          <a:ln w="0">
            <a:noFill/>
          </a:ln>
        </p:spPr>
        <p:txBody>
          <a:bodyPr lIns="102960" rIns="102960" tIns="34200" bIns="34200" anchor="ctr">
            <a:normAutofit fontScale="58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768240" y="2225880"/>
            <a:ext cx="3566160" cy="2505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493160" y="1634760"/>
            <a:ext cx="3566160" cy="616680"/>
          </a:xfrm>
          <a:prstGeom prst="rect">
            <a:avLst/>
          </a:prstGeom>
          <a:noFill/>
          <a:ln w="0">
            <a:noFill/>
          </a:ln>
        </p:spPr>
        <p:txBody>
          <a:bodyPr lIns="102960" rIns="102960" tIns="34200" bIns="34200" anchor="ctr">
            <a:normAutofit fontScale="58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493160" y="2225880"/>
            <a:ext cx="3566160" cy="2505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dt" idx="30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ftr" idx="31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32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79A65C6-077C-45F2-8E13-DD236D013C5A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33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34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35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F14DD83-E783-422D-8C2C-4708E6EBC7CB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3" name="PlaceHolder 1"/>
          <p:cNvSpPr>
            <a:spLocks noGrp="1"/>
          </p:cNvSpPr>
          <p:nvPr>
            <p:ph type="dt" idx="36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37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8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7A6EE3-7039-4920-A884-5F0D332F455B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68240" y="353520"/>
            <a:ext cx="3291480" cy="1302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286160" y="617400"/>
            <a:ext cx="4258440" cy="3888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768240" y="1693080"/>
            <a:ext cx="3291480" cy="2821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7422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9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40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41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ACEDCC-1427-432C-97D4-33E361C8F23B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1480" cy="3428640"/>
          </a:xfrm>
          <a:prstGeom prst="rect">
            <a:avLst/>
          </a:prstGeom>
          <a:solidFill>
            <a:srgbClr val="76ceef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42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43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44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2D9C30D-A6CD-47D0-8B09-7E58191EE2B8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20" name="Google Shape;120;p22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26200" y="1787040"/>
            <a:ext cx="7576920" cy="1102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45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LAPORAN JAGA IGD</a:t>
            </a:r>
            <a:br>
              <a:rPr sz="4500"/>
            </a:b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HARI, TANGGAL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501480" y="3567600"/>
            <a:ext cx="6879600" cy="13143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Tim mahasiswa jaga: ……….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Fasilitator Laporan Jaga: dr……..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DPJP Jaga: dr. …………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142;p25" descr="Makara-ui-fk.png"/>
          <p:cNvPicPr/>
          <p:nvPr/>
        </p:nvPicPr>
        <p:blipFill>
          <a:blip r:embed="rId1"/>
          <a:stretch/>
        </p:blipFill>
        <p:spPr>
          <a:xfrm>
            <a:off x="6507720" y="3592080"/>
            <a:ext cx="959400" cy="128952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143;p25"/>
          <p:cNvSpPr/>
          <p:nvPr/>
        </p:nvSpPr>
        <p:spPr>
          <a:xfrm>
            <a:off x="183600" y="-551160"/>
            <a:ext cx="13824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7381080" y="3886200"/>
            <a:ext cx="1685880" cy="52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59440" y="96480"/>
            <a:ext cx="8017560" cy="92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PASIEN BARU:  ……. PASIEN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Google Shape;150;p26"/>
          <p:cNvGraphicFramePr/>
          <p:nvPr/>
        </p:nvGraphicFramePr>
        <p:xfrm>
          <a:off x="348840" y="1018080"/>
          <a:ext cx="8228160" cy="2796120"/>
        </p:xfrm>
        <a:graphic>
          <a:graphicData uri="http://schemas.openxmlformats.org/drawingml/2006/table">
            <a:tbl>
              <a:tblPr/>
              <a:tblGrid>
                <a:gridCol w="515160"/>
                <a:gridCol w="1722600"/>
                <a:gridCol w="4509360"/>
                <a:gridCol w="1480320"/>
              </a:tblGrid>
              <a:tr h="2372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No.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Tw Cen MT"/>
                          <a:ea typeface="Tw Cen MT"/>
                        </a:rPr>
                        <a:t>.Nama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Tw Cen MT"/>
                          <a:ea typeface="Tw Cen MT"/>
                        </a:rPr>
                        <a:t>Diagnosis 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Kegawatan (True/False)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506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1. 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Inisial/jenis kelamin/usia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4622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398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398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4.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4784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5.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IDENTITAS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70520" y="1353600"/>
            <a:ext cx="4832640" cy="2537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63360" indent="-114480">
              <a:lnSpc>
                <a:spcPct val="80000"/>
              </a:lnSpc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Nama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Usia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Tanggal lahir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Jenis kelamin 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NRM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Alamat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49208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  <p:sp>
        <p:nvSpPr>
          <p:cNvPr id="137" name="Google Shape;158;p27"/>
          <p:cNvSpPr/>
          <p:nvPr/>
        </p:nvSpPr>
        <p:spPr>
          <a:xfrm>
            <a:off x="354960" y="3890880"/>
            <a:ext cx="7805520" cy="922680"/>
          </a:xfrm>
          <a:prstGeom prst="roundRect">
            <a:avLst>
              <a:gd name="adj" fmla="val 16667"/>
            </a:avLst>
          </a:prstGeom>
          <a:solidFill>
            <a:srgbClr val="d0eef9"/>
          </a:solidFill>
          <a:ln w="15875">
            <a:solidFill>
              <a:srgbClr val="147e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Keluhan utama: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i="1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PEDIATRIC ASSESSMENT TRIANGLE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768240" y="132192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Autofit/>
          </a:bodyPr>
          <a:p>
            <a:pPr marL="63360" indent="-1270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Behaviour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300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Tonus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Interactiveness`</a:t>
            </a: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Consolability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Look or gaze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Speech and cry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63360" indent="-127080">
              <a:lnSpc>
                <a:spcPct val="90000"/>
              </a:lnSpc>
              <a:spcBef>
                <a:spcPts val="1199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Breathing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Body Colour</a:t>
            </a:r>
            <a:r>
              <a:rPr b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66;p28"/>
          <p:cNvSpPr/>
          <p:nvPr/>
        </p:nvSpPr>
        <p:spPr>
          <a:xfrm>
            <a:off x="347760" y="4375800"/>
            <a:ext cx="8448120" cy="62316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Kesan: Tidak terdapat kegawatdaruratan/kegawatan respirasi/kegawatan sirkulasi/kegawatan neurologi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i="1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PRIMARY SURVEY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68240" y="136476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93486"/>
          </a:bodyPr>
          <a:p>
            <a:pPr marL="63360" indent="-1144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Airway</a:t>
            </a: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Breathing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Circulation</a:t>
            </a: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Disability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Exposure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Allergy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498680" indent="-12708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Medication history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Past illness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Last meal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Events leading to admission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74;p29"/>
          <p:cNvSpPr/>
          <p:nvPr/>
        </p:nvSpPr>
        <p:spPr>
          <a:xfrm>
            <a:off x="228960" y="4565520"/>
            <a:ext cx="8686440" cy="34488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Kesan: ………..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99840" y="336240"/>
            <a:ext cx="8229240" cy="6598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br>
              <a:rPr sz="3800"/>
            </a:br>
            <a:r>
              <a:rPr b="0" i="1" lang="en" sz="3800" spc="-1" strike="noStrike">
                <a:solidFill>
                  <a:srgbClr val="0c0c0c"/>
                </a:solidFill>
                <a:latin typeface="Calibri"/>
                <a:ea typeface="Calibri"/>
              </a:rPr>
              <a:t>SECONDARY SURVEY</a:t>
            </a:r>
            <a:br>
              <a:rPr sz="3800"/>
            </a:br>
            <a:r>
              <a:rPr b="0" lang="en" sz="3800" spc="-1" strike="noStrike">
                <a:solidFill>
                  <a:srgbClr val="0c0c0c"/>
                </a:solidFill>
                <a:latin typeface="Calibri"/>
                <a:ea typeface="Calibri"/>
              </a:rPr>
              <a:t>RIWAYAT PENYAKIT SEKARANG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86;p31"/>
          <p:cNvGrpSpPr/>
          <p:nvPr/>
        </p:nvGrpSpPr>
        <p:grpSpPr>
          <a:xfrm>
            <a:off x="721440" y="145440"/>
            <a:ext cx="7969320" cy="4824720"/>
            <a:chOff x="721440" y="145440"/>
            <a:chExt cx="7969320" cy="4824720"/>
          </a:xfrm>
        </p:grpSpPr>
        <p:sp>
          <p:nvSpPr>
            <p:cNvPr id="146" name="Google Shape;187;p31"/>
            <p:cNvSpPr/>
            <p:nvPr/>
          </p:nvSpPr>
          <p:spPr>
            <a:xfrm>
              <a:off x="721440" y="588240"/>
              <a:ext cx="7969320" cy="10393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3b88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Google Shape;188;p31"/>
            <p:cNvSpPr/>
            <p:nvPr/>
          </p:nvSpPr>
          <p:spPr>
            <a:xfrm>
              <a:off x="721440" y="588240"/>
              <a:ext cx="7969320" cy="103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3860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20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 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Google Shape;189;p31"/>
            <p:cNvSpPr/>
            <p:nvPr/>
          </p:nvSpPr>
          <p:spPr>
            <a:xfrm>
              <a:off x="1119600" y="14544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3b8850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Google Shape;190;p31"/>
            <p:cNvSpPr/>
            <p:nvPr/>
          </p:nvSpPr>
          <p:spPr>
            <a:xfrm>
              <a:off x="1162800" y="18864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penyakit dahulu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Google Shape;191;p31"/>
            <p:cNvSpPr/>
            <p:nvPr/>
          </p:nvSpPr>
          <p:spPr>
            <a:xfrm>
              <a:off x="721440" y="2175840"/>
              <a:ext cx="7969320" cy="10864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4c96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Google Shape;192;p31"/>
            <p:cNvSpPr/>
            <p:nvPr/>
          </p:nvSpPr>
          <p:spPr>
            <a:xfrm>
              <a:off x="721440" y="2175840"/>
              <a:ext cx="7969320" cy="10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49400" anchor="t">
              <a:noAutofit/>
            </a:bodyPr>
            <a:p>
              <a:pPr lvl="1" marL="216000" indent="-20952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21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Google Shape;193;p31"/>
            <p:cNvSpPr/>
            <p:nvPr/>
          </p:nvSpPr>
          <p:spPr>
            <a:xfrm>
              <a:off x="1119600" y="178992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4c9679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Google Shape;194;p31"/>
            <p:cNvSpPr/>
            <p:nvPr/>
          </p:nvSpPr>
          <p:spPr>
            <a:xfrm>
              <a:off x="1162800" y="183312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penyakit keluarga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Google Shape;195;p31"/>
            <p:cNvSpPr/>
            <p:nvPr/>
          </p:nvSpPr>
          <p:spPr>
            <a:xfrm>
              <a:off x="721440" y="3883680"/>
              <a:ext cx="7969320" cy="10864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60a2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Google Shape;196;p31"/>
            <p:cNvSpPr/>
            <p:nvPr/>
          </p:nvSpPr>
          <p:spPr>
            <a:xfrm>
              <a:off x="721440" y="3883680"/>
              <a:ext cx="7969320" cy="10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49400" anchor="t">
              <a:noAutofit/>
            </a:bodyPr>
            <a:p>
              <a:pPr lvl="1" marL="216000" indent="-20952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1" lang="en" sz="21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Google Shape;197;p31"/>
            <p:cNvSpPr/>
            <p:nvPr/>
          </p:nvSpPr>
          <p:spPr>
            <a:xfrm>
              <a:off x="1119600" y="348120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60a29e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Google Shape;198;p31"/>
            <p:cNvSpPr/>
            <p:nvPr/>
          </p:nvSpPr>
          <p:spPr>
            <a:xfrm>
              <a:off x="1162800" y="352476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Kehamilan &amp; Kelahiran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204;p32"/>
          <p:cNvGrpSpPr/>
          <p:nvPr/>
        </p:nvGrpSpPr>
        <p:grpSpPr>
          <a:xfrm>
            <a:off x="757080" y="325800"/>
            <a:ext cx="7515000" cy="4471200"/>
            <a:chOff x="757080" y="325800"/>
            <a:chExt cx="7515000" cy="4471200"/>
          </a:xfrm>
        </p:grpSpPr>
        <p:sp>
          <p:nvSpPr>
            <p:cNvPr id="159" name="Google Shape;205;p32"/>
            <p:cNvSpPr/>
            <p:nvPr/>
          </p:nvSpPr>
          <p:spPr>
            <a:xfrm>
              <a:off x="757080" y="73152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2383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Google Shape;206;p32"/>
            <p:cNvSpPr/>
            <p:nvPr/>
          </p:nvSpPr>
          <p:spPr>
            <a:xfrm>
              <a:off x="757080" y="73152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Google Shape;207;p32"/>
            <p:cNvSpPr/>
            <p:nvPr/>
          </p:nvSpPr>
          <p:spPr>
            <a:xfrm>
              <a:off x="1132920" y="325800"/>
              <a:ext cx="5260320" cy="840960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Google Shape;208;p32"/>
            <p:cNvSpPr/>
            <p:nvPr/>
          </p:nvSpPr>
          <p:spPr>
            <a:xfrm>
              <a:off x="1173960" y="367200"/>
              <a:ext cx="5178240" cy="7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17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Imunisasi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Google Shape;209;p32"/>
            <p:cNvSpPr/>
            <p:nvPr/>
          </p:nvSpPr>
          <p:spPr>
            <a:xfrm>
              <a:off x="757080" y="223524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24ce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Google Shape;210;p32"/>
            <p:cNvSpPr/>
            <p:nvPr/>
          </p:nvSpPr>
          <p:spPr>
            <a:xfrm>
              <a:off x="757080" y="223524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Google Shape;211;p32"/>
            <p:cNvSpPr/>
            <p:nvPr/>
          </p:nvSpPr>
          <p:spPr>
            <a:xfrm>
              <a:off x="1132920" y="1888200"/>
              <a:ext cx="5329800" cy="779760"/>
            </a:xfrm>
            <a:prstGeom prst="roundRect">
              <a:avLst>
                <a:gd name="adj" fmla="val 16667"/>
              </a:avLst>
            </a:prstGeom>
            <a:solidFill>
              <a:srgbClr val="24ced7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Google Shape;212;p32"/>
            <p:cNvSpPr/>
            <p:nvPr/>
          </p:nvSpPr>
          <p:spPr>
            <a:xfrm>
              <a:off x="1171080" y="1926000"/>
              <a:ext cx="525348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Nutrisi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Google Shape;213;p32"/>
            <p:cNvSpPr/>
            <p:nvPr/>
          </p:nvSpPr>
          <p:spPr>
            <a:xfrm>
              <a:off x="757080" y="380988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42ba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Google Shape;214;p32"/>
            <p:cNvSpPr/>
            <p:nvPr/>
          </p:nvSpPr>
          <p:spPr>
            <a:xfrm>
              <a:off x="757080" y="380988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Google Shape;215;p32"/>
            <p:cNvSpPr/>
            <p:nvPr/>
          </p:nvSpPr>
          <p:spPr>
            <a:xfrm>
              <a:off x="1132920" y="3389040"/>
              <a:ext cx="5260320" cy="84096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Google Shape;216;p32"/>
            <p:cNvSpPr/>
            <p:nvPr/>
          </p:nvSpPr>
          <p:spPr>
            <a:xfrm>
              <a:off x="1173960" y="3430080"/>
              <a:ext cx="5178240" cy="7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18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sosioekonomi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958840" y="318600"/>
            <a:ext cx="3617640" cy="524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62347"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STATUS ANTROPOMETRI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14440" y="843120"/>
            <a:ext cx="7658280" cy="3477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63360" indent="-1522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kg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TB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cm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BB/U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TB/U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BB/TB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Height age:  tahun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RDA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    kkal/hari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23;p33"/>
          <p:cNvSpPr/>
          <p:nvPr/>
        </p:nvSpPr>
        <p:spPr>
          <a:xfrm>
            <a:off x="1938960" y="4290840"/>
            <a:ext cx="5657760" cy="4568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>
            <a:solidFill>
              <a:srgbClr val="27ce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 : Gizi ……. perawakan ……..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PEMERIKSAAN FISIS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29;p34"/>
          <p:cNvSpPr/>
          <p:nvPr/>
        </p:nvSpPr>
        <p:spPr>
          <a:xfrm>
            <a:off x="457200" y="1414440"/>
            <a:ext cx="8308800" cy="403920"/>
          </a:xfrm>
          <a:prstGeom prst="rect">
            <a:avLst/>
          </a:prstGeom>
          <a:gradFill rotWithShape="0"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cade4"/>
            </a:solidFill>
            <a:round/>
          </a:ln>
          <a:effectLst>
            <a:outerShdw algn="ctr" blurRad="50760" dir="5400000" dist="1260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lt1"/>
                </a:solidFill>
                <a:latin typeface="Twentieth Century"/>
                <a:ea typeface="Twentieth Century"/>
              </a:rPr>
              <a:t>Keadaan Umum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30;p34"/>
          <p:cNvSpPr/>
          <p:nvPr/>
        </p:nvSpPr>
        <p:spPr>
          <a:xfrm>
            <a:off x="461520" y="1915920"/>
            <a:ext cx="8304480" cy="34236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Kesadaran ……..(GCS ……..)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31;p34"/>
          <p:cNvSpPr/>
          <p:nvPr/>
        </p:nvSpPr>
        <p:spPr>
          <a:xfrm>
            <a:off x="457200" y="2482560"/>
            <a:ext cx="8308800" cy="403920"/>
          </a:xfrm>
          <a:prstGeom prst="rect">
            <a:avLst/>
          </a:prstGeom>
          <a:gradFill rotWithShape="0"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cade4"/>
            </a:solidFill>
            <a:round/>
          </a:ln>
          <a:effectLst>
            <a:outerShdw algn="ctr" blurRad="50760" dir="5400000" dist="1260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lt1"/>
                </a:solidFill>
                <a:latin typeface="Twentieth Century"/>
                <a:ea typeface="Twentieth Century"/>
              </a:rPr>
              <a:t>Tanda Vital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32;p34"/>
          <p:cNvSpPr/>
          <p:nvPr/>
        </p:nvSpPr>
        <p:spPr>
          <a:xfrm>
            <a:off x="461520" y="3002040"/>
            <a:ext cx="8304480" cy="143964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Tekanan darah: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Laju nadi: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Laju napas: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Suhu: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SpO2: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237;p35"/>
          <p:cNvGraphicFramePr/>
          <p:nvPr/>
        </p:nvGraphicFramePr>
        <p:xfrm>
          <a:off x="293760" y="203760"/>
          <a:ext cx="8568360" cy="4693320"/>
        </p:xfrm>
        <a:graphic>
          <a:graphicData uri="http://schemas.openxmlformats.org/drawingml/2006/table">
            <a:tbl>
              <a:tblPr/>
              <a:tblGrid>
                <a:gridCol w="1395360"/>
                <a:gridCol w="7173000"/>
              </a:tblGrid>
              <a:tr h="328320">
                <a:tc>
                  <a:txBody>
                    <a:bodyPr lIns="48960" rIns="48960" tIns="25560" bIns="255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Organ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Deskripsi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40248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Kepala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72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Mata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3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Mulut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72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Leher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0004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Dada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513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Jantung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39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Paru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171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Abdomen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453960">
                <a:tc>
                  <a:txBody>
                    <a:bodyPr lIns="38520" rIns="385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Ekstremitas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8520" rIns="385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52080">
                <a:tc>
                  <a:txBody>
                    <a:bodyPr lIns="38520" rIns="385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Kulit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8520" rIns="385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DIAGNOSIS AWAL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380880" indent="-387360">
              <a:lnSpc>
                <a:spcPct val="90000"/>
              </a:lnSpc>
              <a:buClr>
                <a:srgbClr val="1cade4"/>
              </a:buClr>
              <a:buFont typeface="Twentieth Century"/>
              <a:buAutoNum type="arabicPeriod"/>
            </a:pP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……………………………………</a:t>
            </a: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. (ICD 10…..)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TATA LAKSANA AWAL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PEMERIKSAAN PENUNJANG </a:t>
            </a:r>
            <a:br>
              <a:rPr sz="3800"/>
            </a:b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(LABORATORIUM, RADIOLOGI)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DIAGNOSIS AKHIR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380880" indent="-387360">
              <a:lnSpc>
                <a:spcPct val="90000"/>
              </a:lnSpc>
              <a:buClr>
                <a:srgbClr val="1cade4"/>
              </a:buClr>
              <a:buFont typeface="Twentieth Century"/>
              <a:buAutoNum type="arabicPeriod"/>
            </a:pP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………………………………</a:t>
            </a: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.(ICD 10 …………)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TATA LAKSANA AKHIR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 algn="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TERIMA KASIH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2026-10-05T22:00:58Z</dcterms:modified>
  <cp:revision>1</cp:revision>
  <dc:subject/>
  <dc:title/>
</cp:coreProperties>
</file>