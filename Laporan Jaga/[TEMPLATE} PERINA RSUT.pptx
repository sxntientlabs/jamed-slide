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B5E024-5BB2-44E9-9BE7-A0E5C757216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30C94E-DEC2-4F1F-9D36-65E41583E852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62C5ED-7E29-4691-A979-F52FEF947B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21493C-6AB3-4306-97B0-5246993BD15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E8456A-E0C8-4375-94C2-E1FB4E66ABA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A5752A-6E7E-4486-ACA0-FDD9D3DC1C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6AE58F-94F4-40CC-9CE4-EF24FD3044C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A61FA2-0712-4342-9C2B-FDDEA6EA259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BC1735-F05E-4D2D-A944-117FDA30AFC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7A35FE-8D51-42B6-A6B2-811FFA35F0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0F111D-5FAA-489C-AA96-81E8F2B7A1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929828E-6225-472A-B2A6-42D066A3BC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054A407-D830-41E6-B376-5D2C291969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00ED807-5CB6-4DA8-9534-91F190023A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452DCE2-0D5F-4262-B541-D5845D57FD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175460-C664-410C-8F64-4756C4D1C4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0A3AF4E-1461-4CC3-BD40-4DFFFEEFE8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58DC2CD-3412-4261-BEC2-F3DA77EF08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AC94455-CBE5-433D-8E87-B661546E15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B119DC4-51CD-4001-AC9E-EB99EEA28D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C9A8FB-A6A8-4090-99ED-470B520FA7B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0A5E44-5138-4DB2-B3E9-27F36629477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52E9FB-2CCB-406A-B823-C9C587AFC87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D4DA3C-9A15-41DB-8B48-06294172833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579A94-0860-4E39-9EDF-7715315C814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46E4E2-DCDC-4170-829F-F46F9AED3CC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9B2B3E-A78E-4060-A9CA-478BC2FE4FB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360204-427E-4DF0-8AEF-6BE132143AF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D3CA51-BDC4-4EF6-8A92-9EE398F1D98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1E1605-D9DF-4A1B-9454-5E45B251F74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5232AB-51AA-4ED0-9B78-3CEB96A4DB8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LAPORAN JAGA PERINATOLOGI</a:t>
            </a:r>
            <a:br>
              <a:rPr sz="4400"/>
            </a:b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Hari…., Tanggal ….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344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Mahasiswa: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Tim Jaga Perinatologi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DPJP Perinatologi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92;p1"/>
          <p:cNvSpPr/>
          <p:nvPr/>
        </p:nvSpPr>
        <p:spPr>
          <a:xfrm>
            <a:off x="1707840" y="-55116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93;p1" descr="Makara-ui-fk.png"/>
          <p:cNvPicPr/>
          <p:nvPr/>
        </p:nvPicPr>
        <p:blipFill>
          <a:blip r:embed="rId1"/>
          <a:stretch/>
        </p:blipFill>
        <p:spPr>
          <a:xfrm>
            <a:off x="558360" y="476640"/>
            <a:ext cx="1116360" cy="150120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10182600" y="315000"/>
            <a:ext cx="1476000" cy="128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Identitas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2" name="Google Shape;101;p2"/>
          <p:cNvGraphicFramePr/>
          <p:nvPr/>
        </p:nvGraphicFramePr>
        <p:xfrm>
          <a:off x="609480" y="1266120"/>
          <a:ext cx="10820520" cy="3689280"/>
        </p:xfrm>
        <a:graphic>
          <a:graphicData uri="http://schemas.openxmlformats.org/drawingml/2006/table">
            <a:tbl>
              <a:tblPr/>
              <a:tblGrid>
                <a:gridCol w="3184200"/>
                <a:gridCol w="7636320"/>
              </a:tblGrid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Nama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Jenis kelamin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Usia/perawatan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 gestasi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Berat lahir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     gram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No. RM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Alamat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F1F51E-FC33-4577-907A-6DCEBBBD040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4" name="Google Shape;103;p2"/>
          <p:cNvGrpSpPr/>
          <p:nvPr/>
        </p:nvGrpSpPr>
        <p:grpSpPr>
          <a:xfrm>
            <a:off x="604800" y="4838400"/>
            <a:ext cx="10981800" cy="1778400"/>
            <a:chOff x="604800" y="4838400"/>
            <a:chExt cx="10981800" cy="1778400"/>
          </a:xfrm>
        </p:grpSpPr>
        <p:sp>
          <p:nvSpPr>
            <p:cNvPr id="75" name="Google Shape;104;p2"/>
            <p:cNvSpPr/>
            <p:nvPr/>
          </p:nvSpPr>
          <p:spPr>
            <a:xfrm>
              <a:off x="604800" y="5200200"/>
              <a:ext cx="10981800" cy="141660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Google Shape;105;p2"/>
            <p:cNvSpPr/>
            <p:nvPr/>
          </p:nvSpPr>
          <p:spPr>
            <a:xfrm>
              <a:off x="604800" y="5200200"/>
              <a:ext cx="10981800" cy="14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2480" rIns="852480" tIns="520560" bIns="170640" anchor="t">
              <a:noAutofit/>
            </a:bodyPr>
            <a:p>
              <a:pPr marL="228600" indent="-76320">
                <a:lnSpc>
                  <a:spcPct val="90000"/>
                </a:lnSpc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763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" name="Google Shape;106;p2"/>
            <p:cNvSpPr/>
            <p:nvPr/>
          </p:nvSpPr>
          <p:spPr>
            <a:xfrm>
              <a:off x="1153800" y="4838400"/>
              <a:ext cx="7686720" cy="73692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Google Shape;107;p2"/>
            <p:cNvSpPr/>
            <p:nvPr/>
          </p:nvSpPr>
          <p:spPr>
            <a:xfrm>
              <a:off x="1189800" y="4874400"/>
              <a:ext cx="7614720" cy="66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520" rIns="2905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Keluhan Utama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113;p3"/>
          <p:cNvGrpSpPr/>
          <p:nvPr/>
        </p:nvGrpSpPr>
        <p:grpSpPr>
          <a:xfrm>
            <a:off x="609480" y="388080"/>
            <a:ext cx="10971720" cy="6080400"/>
            <a:chOff x="609480" y="388080"/>
            <a:chExt cx="10971720" cy="6080400"/>
          </a:xfrm>
        </p:grpSpPr>
        <p:sp>
          <p:nvSpPr>
            <p:cNvPr id="80" name="Google Shape;114;p3"/>
            <p:cNvSpPr/>
            <p:nvPr/>
          </p:nvSpPr>
          <p:spPr>
            <a:xfrm>
              <a:off x="609480" y="549000"/>
              <a:ext cx="10971720" cy="361224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Google Shape;115;p3"/>
            <p:cNvSpPr/>
            <p:nvPr/>
          </p:nvSpPr>
          <p:spPr>
            <a:xfrm>
              <a:off x="609480" y="549000"/>
              <a:ext cx="10971720" cy="36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0960" anchor="t">
              <a:noAutofit/>
            </a:bodyPr>
            <a:p>
              <a:pPr marL="171360" indent="-63360" algn="just">
                <a:lnSpc>
                  <a:spcPct val="9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Google Shape;116;p3"/>
            <p:cNvSpPr/>
            <p:nvPr/>
          </p:nvSpPr>
          <p:spPr>
            <a:xfrm>
              <a:off x="1158120" y="388080"/>
              <a:ext cx="7679880" cy="44028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Google Shape;117;p3"/>
            <p:cNvSpPr/>
            <p:nvPr/>
          </p:nvSpPr>
          <p:spPr>
            <a:xfrm>
              <a:off x="1179720" y="409680"/>
              <a:ext cx="7636680" cy="39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KONSULTASI ANTENATAL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118;p3"/>
            <p:cNvSpPr/>
            <p:nvPr/>
          </p:nvSpPr>
          <p:spPr>
            <a:xfrm>
              <a:off x="609480" y="4494600"/>
              <a:ext cx="10971720" cy="19738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9bbb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Google Shape;119;p3"/>
            <p:cNvSpPr/>
            <p:nvPr/>
          </p:nvSpPr>
          <p:spPr>
            <a:xfrm>
              <a:off x="609480" y="4494600"/>
              <a:ext cx="10971720" cy="197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8160" anchor="t">
              <a:noAutofit/>
            </a:bodyPr>
            <a:p>
              <a:pPr marL="171360" indent="-57240">
                <a:lnSpc>
                  <a:spcPct val="9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120;p3"/>
            <p:cNvSpPr/>
            <p:nvPr/>
          </p:nvSpPr>
          <p:spPr>
            <a:xfrm>
              <a:off x="1158120" y="4264920"/>
              <a:ext cx="7679880" cy="50904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121;p3"/>
            <p:cNvSpPr/>
            <p:nvPr/>
          </p:nvSpPr>
          <p:spPr>
            <a:xfrm>
              <a:off x="1183320" y="4289760"/>
              <a:ext cx="7630200" cy="45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USG FETOMATERNAL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FF8CF1-7307-4AC9-AB62-EF77C90A16A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" name="Google Shape;129;p4"/>
          <p:cNvGrpSpPr/>
          <p:nvPr/>
        </p:nvGrpSpPr>
        <p:grpSpPr>
          <a:xfrm>
            <a:off x="609480" y="1600200"/>
            <a:ext cx="10971720" cy="4516560"/>
            <a:chOff x="609480" y="1600200"/>
            <a:chExt cx="10971720" cy="4516560"/>
          </a:xfrm>
        </p:grpSpPr>
        <p:sp>
          <p:nvSpPr>
            <p:cNvPr id="91" name="Google Shape;130;p4"/>
            <p:cNvSpPr/>
            <p:nvPr/>
          </p:nvSpPr>
          <p:spPr>
            <a:xfrm>
              <a:off x="609480" y="1641240"/>
              <a:ext cx="10971720" cy="1284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9acc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131;p4"/>
            <p:cNvSpPr/>
            <p:nvPr/>
          </p:nvSpPr>
          <p:spPr>
            <a:xfrm>
              <a:off x="609480" y="1641240"/>
              <a:ext cx="10971720" cy="12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132;p4"/>
            <p:cNvSpPr/>
            <p:nvPr/>
          </p:nvSpPr>
          <p:spPr>
            <a:xfrm>
              <a:off x="1192320" y="1600200"/>
              <a:ext cx="8614440" cy="255960"/>
            </a:xfrm>
            <a:prstGeom prst="roundRect">
              <a:avLst>
                <a:gd name="adj" fmla="val 16667"/>
              </a:avLst>
            </a:prstGeom>
            <a:solidFill>
              <a:srgbClr val="49acc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" name="Google Shape;133;p4"/>
            <p:cNvSpPr/>
            <p:nvPr/>
          </p:nvSpPr>
          <p:spPr>
            <a:xfrm>
              <a:off x="1204920" y="1612800"/>
              <a:ext cx="858924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PERSALINAN SEBELUMNYA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134;p4"/>
            <p:cNvSpPr/>
            <p:nvPr/>
          </p:nvSpPr>
          <p:spPr>
            <a:xfrm>
              <a:off x="609480" y="3025440"/>
              <a:ext cx="10971720" cy="1284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5fdf4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135;p4"/>
            <p:cNvSpPr/>
            <p:nvPr/>
          </p:nvSpPr>
          <p:spPr>
            <a:xfrm>
              <a:off x="609480" y="3025440"/>
              <a:ext cx="10971720" cy="12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136;p4"/>
            <p:cNvSpPr/>
            <p:nvPr/>
          </p:nvSpPr>
          <p:spPr>
            <a:xfrm>
              <a:off x="1158120" y="3000960"/>
              <a:ext cx="8682840" cy="251280"/>
            </a:xfrm>
            <a:prstGeom prst="roundRect">
              <a:avLst>
                <a:gd name="adj" fmla="val 16667"/>
              </a:avLst>
            </a:prstGeom>
            <a:solidFill>
              <a:srgbClr val="5fdf4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137;p4"/>
            <p:cNvSpPr/>
            <p:nvPr/>
          </p:nvSpPr>
          <p:spPr>
            <a:xfrm>
              <a:off x="1170720" y="3013200"/>
              <a:ext cx="86580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DAHULU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Google Shape;138;p4"/>
            <p:cNvSpPr/>
            <p:nvPr/>
          </p:nvSpPr>
          <p:spPr>
            <a:xfrm>
              <a:off x="609480" y="4411800"/>
              <a:ext cx="10971720" cy="17049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f694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Google Shape;139;p4"/>
            <p:cNvSpPr/>
            <p:nvPr/>
          </p:nvSpPr>
          <p:spPr>
            <a:xfrm>
              <a:off x="609480" y="4411800"/>
              <a:ext cx="10971720" cy="170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140;p4"/>
            <p:cNvSpPr/>
            <p:nvPr/>
          </p:nvSpPr>
          <p:spPr>
            <a:xfrm>
              <a:off x="1158120" y="4388760"/>
              <a:ext cx="8682840" cy="258480"/>
            </a:xfrm>
            <a:prstGeom prst="roundRect">
              <a:avLst>
                <a:gd name="adj" fmla="val 16667"/>
              </a:avLst>
            </a:prstGeom>
            <a:solidFill>
              <a:srgbClr val="f69444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141;p4"/>
            <p:cNvSpPr/>
            <p:nvPr/>
          </p:nvSpPr>
          <p:spPr>
            <a:xfrm>
              <a:off x="1171080" y="4401360"/>
              <a:ext cx="8657280" cy="23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KELUARGA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27ED42-BA81-45B1-9F44-52929B57708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5" name="Google Shape;149;p5"/>
          <p:cNvGrpSpPr/>
          <p:nvPr/>
        </p:nvGrpSpPr>
        <p:grpSpPr>
          <a:xfrm>
            <a:off x="609480" y="1600200"/>
            <a:ext cx="10971720" cy="3274560"/>
            <a:chOff x="609480" y="1600200"/>
            <a:chExt cx="10971720" cy="3274560"/>
          </a:xfrm>
        </p:grpSpPr>
        <p:sp>
          <p:nvSpPr>
            <p:cNvPr id="106" name="Google Shape;150;p5"/>
            <p:cNvSpPr/>
            <p:nvPr/>
          </p:nvSpPr>
          <p:spPr>
            <a:xfrm>
              <a:off x="609480" y="2084040"/>
              <a:ext cx="10971720" cy="27907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Google Shape;151;p5"/>
            <p:cNvSpPr/>
            <p:nvPr/>
          </p:nvSpPr>
          <p:spPr>
            <a:xfrm>
              <a:off x="609480" y="2084040"/>
              <a:ext cx="10971720" cy="279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1103760" bIns="170640" anchor="t">
              <a:noAutofit/>
            </a:bodyPr>
            <a:p>
              <a:pPr marL="268200" indent="-115920">
                <a:lnSpc>
                  <a:spcPct val="90000"/>
                </a:lnSpc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Google Shape;152;p5"/>
            <p:cNvSpPr/>
            <p:nvPr/>
          </p:nvSpPr>
          <p:spPr>
            <a:xfrm>
              <a:off x="1132200" y="1600200"/>
              <a:ext cx="9722520" cy="89496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Google Shape;153;p5"/>
            <p:cNvSpPr/>
            <p:nvPr/>
          </p:nvSpPr>
          <p:spPr>
            <a:xfrm>
              <a:off x="1175760" y="1643760"/>
              <a:ext cx="9635040" cy="80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Persiapan Pertolongan Persalinan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304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Resusitasi neonatus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16604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Bayi lahir secara ……… (proses persalinan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1904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2" name="Google Shape;161;p6"/>
          <p:cNvGraphicFramePr/>
          <p:nvPr/>
        </p:nvGraphicFramePr>
        <p:xfrm>
          <a:off x="609480" y="2565000"/>
          <a:ext cx="10970640" cy="3974400"/>
        </p:xfrm>
        <a:graphic>
          <a:graphicData uri="http://schemas.openxmlformats.org/drawingml/2006/table">
            <a:tbl>
              <a:tblPr/>
              <a:tblGrid>
                <a:gridCol w="774000"/>
                <a:gridCol w="1244520"/>
                <a:gridCol w="1064160"/>
                <a:gridCol w="1161720"/>
                <a:gridCol w="840600"/>
                <a:gridCol w="840600"/>
                <a:gridCol w="815400"/>
                <a:gridCol w="4230000"/>
              </a:tblGrid>
              <a:tr h="520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Usia (mnt)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Apnoe/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merintih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Retraksi/NCH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Tonus 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SpO2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Nadi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Suhu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Tindakan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4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0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Stabilisasi (S.T.A.B.L.E)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Safe care &amp; sugar :  mg/dL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Temperature :  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Airway: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Blood pressure: CRT     detik, nadi       x/menit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Lab works: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Emotional support: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69;p7"/>
          <p:cNvSpPr/>
          <p:nvPr/>
        </p:nvSpPr>
        <p:spPr>
          <a:xfrm>
            <a:off x="1836000" y="5853960"/>
            <a:ext cx="8518680" cy="50292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dae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Kesan: ……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Status Antropometri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3826440" cy="44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BB :      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TB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LK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Ballard score:  minggu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9CE392-5310-4E42-BA48-EAEA74874C4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Google Shape;177;p8"/>
          <p:cNvSpPr/>
          <p:nvPr/>
        </p:nvSpPr>
        <p:spPr>
          <a:xfrm>
            <a:off x="744480" y="4708800"/>
            <a:ext cx="3534480" cy="107892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chemeClr val="dk1"/>
                </a:solidFill>
                <a:latin typeface="Calibri"/>
                <a:ea typeface="Calibri"/>
              </a:rPr>
              <a:t>Kesan:  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78;p8"/>
          <p:cNvSpPr/>
          <p:nvPr/>
        </p:nvSpPr>
        <p:spPr>
          <a:xfrm>
            <a:off x="8282520" y="3933000"/>
            <a:ext cx="44640" cy="709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395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Google Shape;179;p8" descr=""/>
          <p:cNvPicPr/>
          <p:nvPr/>
        </p:nvPicPr>
        <p:blipFill>
          <a:blip r:embed="rId1"/>
          <a:stretch/>
        </p:blipFill>
        <p:spPr>
          <a:xfrm>
            <a:off x="4365720" y="1150560"/>
            <a:ext cx="3830040" cy="506268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180;p8" descr=""/>
          <p:cNvPicPr/>
          <p:nvPr/>
        </p:nvPicPr>
        <p:blipFill>
          <a:blip r:embed="rId2"/>
          <a:stretch/>
        </p:blipFill>
        <p:spPr>
          <a:xfrm>
            <a:off x="8184240" y="1204560"/>
            <a:ext cx="3758760" cy="500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Pemeriksaan Fisis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4" name="Google Shape;186;p9"/>
          <p:cNvGrpSpPr/>
          <p:nvPr/>
        </p:nvGrpSpPr>
        <p:grpSpPr>
          <a:xfrm>
            <a:off x="609480" y="1660680"/>
            <a:ext cx="10971720" cy="4290120"/>
            <a:chOff x="609480" y="1660680"/>
            <a:chExt cx="10971720" cy="4290120"/>
          </a:xfrm>
        </p:grpSpPr>
        <p:sp>
          <p:nvSpPr>
            <p:cNvPr id="125" name="Google Shape;187;p9"/>
            <p:cNvSpPr/>
            <p:nvPr/>
          </p:nvSpPr>
          <p:spPr>
            <a:xfrm>
              <a:off x="609480" y="1970640"/>
              <a:ext cx="10971720" cy="12225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Google Shape;188;p9"/>
            <p:cNvSpPr/>
            <p:nvPr/>
          </p:nvSpPr>
          <p:spPr>
            <a:xfrm>
              <a:off x="609480" y="1970640"/>
              <a:ext cx="10971720" cy="122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49400" anchor="t">
              <a:noAutofit/>
            </a:bodyPr>
            <a:p>
              <a:pPr marL="228600" indent="-95400">
                <a:lnSpc>
                  <a:spcPct val="90000"/>
                </a:lnSpc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95400">
                <a:lnSpc>
                  <a:spcPct val="90000"/>
                </a:lnSpc>
                <a:spcBef>
                  <a:spcPts val="315"/>
                </a:spcBef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Google Shape;189;p9"/>
            <p:cNvSpPr/>
            <p:nvPr/>
          </p:nvSpPr>
          <p:spPr>
            <a:xfrm>
              <a:off x="1158120" y="1660680"/>
              <a:ext cx="7679880" cy="6188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" name="Google Shape;190;p9"/>
            <p:cNvSpPr/>
            <p:nvPr/>
          </p:nvSpPr>
          <p:spPr>
            <a:xfrm>
              <a:off x="1188360" y="1691280"/>
              <a:ext cx="7619400" cy="55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Keadaan Umum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Google Shape;191;p9"/>
            <p:cNvSpPr/>
            <p:nvPr/>
          </p:nvSpPr>
          <p:spPr>
            <a:xfrm>
              <a:off x="609480" y="3504240"/>
              <a:ext cx="10971720" cy="24465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Google Shape;192;p9"/>
            <p:cNvSpPr/>
            <p:nvPr/>
          </p:nvSpPr>
          <p:spPr>
            <a:xfrm>
              <a:off x="609480" y="3504240"/>
              <a:ext cx="10971720" cy="24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63440" anchor="t">
              <a:noAutofit/>
            </a:bodyPr>
            <a:p>
              <a:pPr marL="228600" indent="-82440">
                <a:lnSpc>
                  <a:spcPct val="90000"/>
                </a:lnSpc>
                <a:tabLst>
                  <a:tab algn="l" pos="0"/>
                </a:tabLst>
              </a:pP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Denyut jantung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Laju napas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Suhu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 C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Saturasi O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2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%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Google Shape;193;p9"/>
            <p:cNvSpPr/>
            <p:nvPr/>
          </p:nvSpPr>
          <p:spPr>
            <a:xfrm>
              <a:off x="1158120" y="3308040"/>
              <a:ext cx="7679880" cy="6188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Google Shape;194;p9"/>
            <p:cNvSpPr/>
            <p:nvPr/>
          </p:nvSpPr>
          <p:spPr>
            <a:xfrm>
              <a:off x="1188360" y="3338280"/>
              <a:ext cx="7619400" cy="55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Tanda Vital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0538DB-BB26-4CD6-89F4-F58AD932DCA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200;p10"/>
          <p:cNvGraphicFramePr/>
          <p:nvPr/>
        </p:nvGraphicFramePr>
        <p:xfrm>
          <a:off x="609480" y="342000"/>
          <a:ext cx="10972080" cy="6396480"/>
        </p:xfrm>
        <a:graphic>
          <a:graphicData uri="http://schemas.openxmlformats.org/drawingml/2006/table">
            <a:tbl>
              <a:tblPr/>
              <a:tblGrid>
                <a:gridCol w="1904040"/>
                <a:gridCol w="9068400"/>
              </a:tblGrid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6454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Terdapat caput succedaneum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3964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THT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66276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893520">
                <a:tc>
                  <a:txBody>
                    <a:bodyPr lIns="51120" rIns="511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297720">
                <a:tc>
                  <a:txBody>
                    <a:bodyPr lIns="51120" rIns="511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Genitalia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Diagnosis (ICD 10)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922968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19776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Laboratorium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9" name="Google Shape;213;p12"/>
          <p:cNvGraphicFramePr/>
          <p:nvPr/>
        </p:nvGraphicFramePr>
        <p:xfrm>
          <a:off x="609480" y="1600200"/>
          <a:ext cx="5821560" cy="5905440"/>
        </p:xfrm>
        <a:graphic>
          <a:graphicData uri="http://schemas.openxmlformats.org/drawingml/2006/table">
            <a:tbl>
              <a:tblPr/>
              <a:tblGrid>
                <a:gridCol w="1455480"/>
                <a:gridCol w="1455480"/>
                <a:gridCol w="1455480"/>
                <a:gridCol w="1455480"/>
              </a:tblGrid>
              <a:tr h="513360"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Pemeriksaan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Nilai Rujukan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Unit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Hasil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Hemoglobin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14.0 - 22.0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Hematokrit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24.0 - 75.0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Eritrosit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5.00 - 7.00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10^6/µL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984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MCV/VER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100.0 - 120.0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fL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MCH/HER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31.0 - 37.0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MCHC/KHER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30.0 - 36.0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Trombosit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100 - 450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Leukosit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10.00 - 26.00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Basofil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0 - 2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Eosinofil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1 - 6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Neutrofil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40.0 - 80.0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Limfosit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20 - 40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Monosit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2 - 10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0" name="Google Shape;214;p12"/>
          <p:cNvSpPr/>
          <p:nvPr/>
        </p:nvSpPr>
        <p:spPr>
          <a:xfrm>
            <a:off x="6774840" y="5589360"/>
            <a:ext cx="4823280" cy="821160"/>
          </a:xfrm>
          <a:prstGeom prst="rect">
            <a:avLst/>
          </a:prstGeom>
          <a:noFill/>
          <a:ln w="952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Kesan: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Radiologi (kalau ada)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19776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0948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Tata Laksana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Termoregulasi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Oksigenasi adekuat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Nutrisi &amp; cairan adekuat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Atasi infeksi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Pemantauan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Terima Kasih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344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2013-11-15T04:27:30Z</dcterms:created>
  <dc:creator>Ludi Dhyani Rahmartani</dc:creator>
  <dc:description/>
  <dc:language>en-US</dc:language>
  <cp:lastModifiedBy/>
  <dcterms:modified xsi:type="dcterms:W3CDTF">2026-10-05T22:08:46Z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