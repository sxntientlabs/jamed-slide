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notesMasterIdLst>
    <p:notesMasterId r:id="rId24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dt" idx="4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ftr" idx="4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sldNum" idx="4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1E6F5EE-38C1-467F-B20B-FEEBAE7CCCE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CB7928-3FF9-4F21-85AF-6F1650FB2A4D}" type="slidenum">
              <a:rPr b="0" lang="en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10B9AB-246F-4CA3-87F3-28D5F71B18EC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dibaca: baik/tidak saja, jika ada masalah dibacakan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KESIMPULAN…. ada kegawatan/tidak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E91084-1DAD-4108-A6A2-43B7A7B9F054}" type="slidenum">
              <a:rPr b="0" lang="e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FCFD46-6A31-4E15-BAC7-AF72EC0EABA3}" type="slidenum"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384120" y="685800"/>
            <a:ext cx="6082920" cy="34225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Calibri"/>
                <a:ea typeface="Calibri"/>
              </a:rPr>
              <a:t>tulispoin-poinpenting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69944E-0A47-4B76-8661-C850E6C507A4}" type="slidenum">
              <a:rPr b="0" lang="e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188B9E-BE4F-4452-A37C-B2A22498E952}" type="slidenum">
              <a:rPr b="0" lang="en" sz="18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dibacakan kesannya saja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53EB3A-B147-48A1-BAC5-4BF45A9E3A7B}" type="slidenum">
              <a:rPr b="0" lang="en" sz="18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A91E5F-471F-47F1-9632-4632C00631A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33A75D-D24F-48C0-A8B2-7C1DF5A432D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B8B67B-E0EB-4B02-8F06-B32555F162E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DA0C2B4-6CC0-4BA9-8379-BF2FF05DD51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722D6D-CA32-461E-9F68-442F1185E39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768816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D2135E-AD0C-4151-92D8-8675CDEA468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B40CA5E-199C-420D-82E9-7B1F93FED17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D205F21-9B13-4D06-A774-539758B568A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EB8A11-DCB0-4BEF-8985-BE60E4AD15E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684A4C1-58EC-4D54-B9D6-EEC1E6A4BFF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EDEF98F-E041-4AA0-A13F-EF83941D0329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03F9789-26F5-4235-AF52-E8C68A1C93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FE6480C-79F9-4B4E-AACB-6306BC43C7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CB7CD4C-CA0B-40D4-8F2C-3A08078F17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B5F5061-C1AC-4BC0-8A6E-CABDCE7BB6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7688160" y="3720240"/>
            <a:ext cx="117108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3EAAB53-B7D1-4747-9D50-BB9C05E1B4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0593D06-CD8D-45E4-B806-49B3E4D297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FC6578E-59C3-4AB5-9854-336287C09D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D9F6890-F628-48F8-971B-74A00206BF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B12DBBD-8618-402B-ADAE-9ACCDEA41F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36B68265-F5D1-4906-B0AE-01A0DE772F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DFFF94B1-AFCB-485E-A77F-561E7C226C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F6A435-267F-465F-AC87-F60B2C1C609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9EFB39-B435-48BA-8BD3-3428BAA9754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AD9AC0-EBD6-41C6-A287-97DB3E289B7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864E68-742C-46B4-A2E2-A6DC960072A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2875EB-74B3-401D-A5F9-D5E027C38AD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C20761-BF27-4660-8580-279A0C8B275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C7C44B-30EF-483F-AE8D-475C781A484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9740FA-4ECC-4465-ADDA-E4EBC39C021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48F40F-1B34-425C-B4F3-A376A1C2422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690C5A-492C-4303-9B22-395DE43CA8C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26C537-8DCA-42AA-806B-C1FF152DB7C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7" name="Google Shape;58;p14"/>
          <p:cNvSpPr/>
          <p:nvPr/>
        </p:nvSpPr>
        <p:spPr>
          <a:xfrm>
            <a:off x="0" y="0"/>
            <a:ext cx="9143640" cy="3428640"/>
          </a:xfrm>
          <a:prstGeom prst="rect">
            <a:avLst/>
          </a:prstGeom>
          <a:solidFill>
            <a:srgbClr val="1482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Google Shape;59;p14"/>
          <p:cNvSpPr/>
          <p:nvPr/>
        </p:nvSpPr>
        <p:spPr>
          <a:xfrm>
            <a:off x="0" y="0"/>
            <a:ext cx="9143640" cy="34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3428640"/>
              <a:gd name="textAreaBottom" fmla="*/ 3429000 h 342864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2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13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14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9D394B0-7945-42D4-B08A-767DF6A6B60E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43" name="Google Shape;65;p14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482ab"/>
            </a:solidFill>
            <a:round/>
          </a:ln>
        </p:spPr>
      </p:cxn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 rot="5400000">
            <a:off x="2904840" y="-421560"/>
            <a:ext cx="3017160" cy="72896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3704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5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16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7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54DEA8-4AAA-4BCF-882D-2389812AF761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 rot="5400000">
            <a:off x="5500800" y="1614600"/>
            <a:ext cx="4057560" cy="19713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68400" bIns="684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 rot="5400000">
            <a:off x="1557360" y="-242640"/>
            <a:ext cx="4057560" cy="568620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8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9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0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5C5D72B-3EB6-4376-8F25-EEBDE5C8146C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9" name="Google Shape;133;p24"/>
          <p:cNvCxnSpPr/>
          <p:nvPr/>
        </p:nvCxnSpPr>
        <p:spPr>
          <a:xfrm flipV="1">
            <a:off x="7543800" y="4428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1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2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23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A9490A2-E388-4623-849B-ABAA36D097BA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6824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49208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4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5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26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42DA527-C6D0-4A79-9055-B45B813B4514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9" name="Google Shape;80;p17"/>
          <p:cNvSpPr/>
          <p:nvPr/>
        </p:nvSpPr>
        <p:spPr>
          <a:xfrm>
            <a:off x="0" y="0"/>
            <a:ext cx="9143640" cy="3428640"/>
          </a:xfrm>
          <a:prstGeom prst="rect">
            <a:avLst/>
          </a:prstGeom>
          <a:solidFill>
            <a:srgbClr val="1d9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81;p17"/>
          <p:cNvSpPr/>
          <p:nvPr/>
        </p:nvSpPr>
        <p:spPr>
          <a:xfrm>
            <a:off x="0" y="0"/>
            <a:ext cx="9143640" cy="342864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3428640"/>
              <a:gd name="textAreaBottom" fmla="*/ 3429000 h 3428640"/>
            </a:gdLst>
            <a:ah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27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ftr" idx="28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sldNum" idx="29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3A3D19D-547B-434C-8F5E-04398A81B07C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86" name="Google Shape;87;p17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482ab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68240" y="1634760"/>
            <a:ext cx="3566160" cy="616680"/>
          </a:xfrm>
          <a:prstGeom prst="rect">
            <a:avLst/>
          </a:prstGeom>
          <a:noFill/>
          <a:ln w="0">
            <a:noFill/>
          </a:ln>
        </p:spPr>
        <p:txBody>
          <a:bodyPr lIns="102960" rIns="102960" tIns="34200" bIns="34200" anchor="ctr">
            <a:normAutofit fontScale="587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768240" y="2225880"/>
            <a:ext cx="3566160" cy="2505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493160" y="1634760"/>
            <a:ext cx="3566160" cy="616680"/>
          </a:xfrm>
          <a:prstGeom prst="rect">
            <a:avLst/>
          </a:prstGeom>
          <a:noFill/>
          <a:ln w="0">
            <a:noFill/>
          </a:ln>
        </p:spPr>
        <p:txBody>
          <a:bodyPr lIns="102960" rIns="102960" tIns="34200" bIns="34200" anchor="ctr">
            <a:normAutofit fontScale="587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493160" y="2225880"/>
            <a:ext cx="3566160" cy="2505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7467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dt" idx="30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ftr" idx="31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32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49A8BB4-99A7-4FFA-B271-8D83AA5575FA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33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34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35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9E0548-E0E6-4923-8CE3-F28DD1B782F3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03" name="PlaceHolder 1"/>
          <p:cNvSpPr>
            <a:spLocks noGrp="1"/>
          </p:cNvSpPr>
          <p:nvPr>
            <p:ph type="dt" idx="36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37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8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89E3D03-5709-4683-B24F-353B83C575CD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68240" y="353520"/>
            <a:ext cx="3291480" cy="1302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286160" y="617400"/>
            <a:ext cx="4258440" cy="38883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768240" y="1693080"/>
            <a:ext cx="3291480" cy="2821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7422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9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40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41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1BF7C3E-FB3B-4BA5-ADEE-883AE7AB1618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56;p13"/>
          <p:cNvCxnSpPr/>
          <p:nvPr/>
        </p:nvCxnSpPr>
        <p:spPr>
          <a:xfrm flipV="1">
            <a:off x="571320" y="6195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90496"/>
          </a:bodyPr>
          <a:p>
            <a:pPr indent="0">
              <a:buNone/>
            </a:pPr>
            <a:r>
              <a:rPr b="0" lang="en-US" sz="3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1480" cy="3428640"/>
          </a:xfrm>
          <a:prstGeom prst="rect">
            <a:avLst/>
          </a:prstGeom>
          <a:solidFill>
            <a:srgbClr val="76ceef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42"/>
          </p:nvPr>
        </p:nvSpPr>
        <p:spPr>
          <a:xfrm>
            <a:off x="768240" y="4853160"/>
            <a:ext cx="161532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43"/>
          </p:nvPr>
        </p:nvSpPr>
        <p:spPr>
          <a:xfrm>
            <a:off x="3632040" y="4853160"/>
            <a:ext cx="442584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sldNum" idx="44"/>
          </p:nvPr>
        </p:nvSpPr>
        <p:spPr>
          <a:xfrm>
            <a:off x="8128080" y="4853160"/>
            <a:ext cx="730080" cy="2055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EF11897-D897-4C10-8BF8-50F392019719}" type="slidenum">
              <a:rPr b="0" lang="en" sz="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20" name="Google Shape;120;p22"/>
          <p:cNvCxnSpPr/>
          <p:nvPr/>
        </p:nvCxnSpPr>
        <p:spPr>
          <a:xfrm flipV="1">
            <a:off x="6289920" y="3947760"/>
            <a:ext cx="360" cy="6861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26200" y="1787040"/>
            <a:ext cx="7576920" cy="1102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45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LAPORAN JAGA IGD</a:t>
            </a:r>
            <a:br>
              <a:rPr sz="4500"/>
            </a:b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HARI, TANGGAL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501480" y="3567600"/>
            <a:ext cx="6879600" cy="13143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Tim mahasiswa jaga: ……….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Fasilitator Laporan Jaga: dr……..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700" spc="-1" strike="noStrike">
                <a:solidFill>
                  <a:srgbClr val="000000"/>
                </a:solidFill>
                <a:latin typeface="Twentieth Century"/>
                <a:ea typeface="Twentieth Century"/>
              </a:rPr>
              <a:t>DPJP Jaga: dr. …………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oogle Shape;142;p25" descr="Makara-ui-fk.png"/>
          <p:cNvPicPr/>
          <p:nvPr/>
        </p:nvPicPr>
        <p:blipFill>
          <a:blip r:embed="rId1"/>
          <a:stretch/>
        </p:blipFill>
        <p:spPr>
          <a:xfrm>
            <a:off x="6507720" y="3592080"/>
            <a:ext cx="959400" cy="1289520"/>
          </a:xfrm>
          <a:prstGeom prst="rect">
            <a:avLst/>
          </a:prstGeom>
          <a:ln w="0">
            <a:noFill/>
          </a:ln>
        </p:spPr>
      </p:pic>
      <p:sp>
        <p:nvSpPr>
          <p:cNvPr id="130" name="Google Shape;143;p25"/>
          <p:cNvSpPr/>
          <p:nvPr/>
        </p:nvSpPr>
        <p:spPr>
          <a:xfrm>
            <a:off x="183600" y="-551160"/>
            <a:ext cx="13824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7381080" y="3886200"/>
            <a:ext cx="1685880" cy="52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59440" y="96480"/>
            <a:ext cx="8017560" cy="921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PASIEN BARU:  ……. PASIEN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Google Shape;150;p26"/>
          <p:cNvGraphicFramePr/>
          <p:nvPr/>
        </p:nvGraphicFramePr>
        <p:xfrm>
          <a:off x="348840" y="1018080"/>
          <a:ext cx="8228160" cy="2796120"/>
        </p:xfrm>
        <a:graphic>
          <a:graphicData uri="http://schemas.openxmlformats.org/drawingml/2006/table">
            <a:tbl>
              <a:tblPr/>
              <a:tblGrid>
                <a:gridCol w="515160"/>
                <a:gridCol w="1722600"/>
                <a:gridCol w="4509360"/>
                <a:gridCol w="1480320"/>
              </a:tblGrid>
              <a:tr h="2372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No.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Tw Cen MT"/>
                          <a:ea typeface="Tw Cen MT"/>
                        </a:rPr>
                        <a:t>.Nama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Tw Cen MT"/>
                          <a:ea typeface="Tw Cen MT"/>
                        </a:rPr>
                        <a:t>Diagnosis 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Kegawatan (True/False)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506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1. 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Inisial/jenis kelamin/usia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4622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39852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39852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4.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  <a:tr h="478440">
                <a:tc>
                  <a:txBody>
                    <a:bodyPr lIns="68400" rIns="68400" tIns="34200" bIns="342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5.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  <a:tc>
                  <a:txBody>
                    <a:bodyPr lIns="68400" rIns="68400" tIns="34200" bIns="342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ee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IDENTITAS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70520" y="1353600"/>
            <a:ext cx="4832640" cy="2537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63360" indent="-114480">
              <a:lnSpc>
                <a:spcPct val="80000"/>
              </a:lnSpc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Nama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Usia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Tanggal lahir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Jenis kelamin 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NRM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8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Alamat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492080" y="1714680"/>
            <a:ext cx="356616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  <p:sp>
        <p:nvSpPr>
          <p:cNvPr id="137" name="Google Shape;158;p27"/>
          <p:cNvSpPr/>
          <p:nvPr/>
        </p:nvSpPr>
        <p:spPr>
          <a:xfrm>
            <a:off x="354960" y="3890880"/>
            <a:ext cx="7805520" cy="922680"/>
          </a:xfrm>
          <a:prstGeom prst="roundRect">
            <a:avLst>
              <a:gd name="adj" fmla="val 16667"/>
            </a:avLst>
          </a:prstGeom>
          <a:solidFill>
            <a:srgbClr val="d0eef9"/>
          </a:solidFill>
          <a:ln w="15875">
            <a:solidFill>
              <a:srgbClr val="147e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Keluhan utama: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i="1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PEDIATRIC ASSESSMENT TRIANGLE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768240" y="132192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Autofit/>
          </a:bodyPr>
          <a:p>
            <a:pPr marL="63360" indent="-1270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Behaviour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300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Tonus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Interactiveness`</a:t>
            </a: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Consolability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Look or gaze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203040" indent="-127080">
              <a:lnSpc>
                <a:spcPct val="90000"/>
              </a:lnSpc>
              <a:spcBef>
                <a:spcPts val="499"/>
              </a:spcBef>
              <a:buClr>
                <a:srgbClr val="1cade4"/>
              </a:buClr>
              <a:buFont typeface="Noto Sans Symbols"/>
              <a:buChar char=""/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Speech and cry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63360" indent="-127080">
              <a:lnSpc>
                <a:spcPct val="90000"/>
              </a:lnSpc>
              <a:spcBef>
                <a:spcPts val="1199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Breathing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00"/>
              </a:spcBef>
              <a:buNone/>
              <a:tabLst>
                <a:tab algn="l" pos="0"/>
              </a:tabLst>
            </a:pPr>
            <a:r>
              <a:rPr b="0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</a:t>
            </a:r>
            <a:r>
              <a:rPr b="1" i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Body Colour</a:t>
            </a:r>
            <a:r>
              <a:rPr b="1" lang="en" sz="20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66;p28"/>
          <p:cNvSpPr/>
          <p:nvPr/>
        </p:nvSpPr>
        <p:spPr>
          <a:xfrm>
            <a:off x="347760" y="4375800"/>
            <a:ext cx="8448120" cy="62316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Kesan: Tidak terdapat kegawatdaruratan/kegawatan respirasi/kegawatan sirkulasi/kegawatan neurologi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i="1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PRIMARY SURVEY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68240" y="136476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93486"/>
          </a:bodyPr>
          <a:p>
            <a:pPr marL="63360" indent="-1144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Airway</a:t>
            </a: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Breathing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Circulation</a:t>
            </a: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Disability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63360" indent="-1144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1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Exposure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Allergy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498680" indent="-12708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Medication history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Past illness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Last meal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  </a:t>
            </a:r>
            <a:r>
              <a:rPr b="0" i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Events leading to admission</a:t>
            </a: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74;p29"/>
          <p:cNvSpPr/>
          <p:nvPr/>
        </p:nvSpPr>
        <p:spPr>
          <a:xfrm>
            <a:off x="228960" y="4565520"/>
            <a:ext cx="8686440" cy="34488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Kesan: ………..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99840" y="336240"/>
            <a:ext cx="8229240" cy="6598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br>
              <a:rPr sz="3800"/>
            </a:br>
            <a:r>
              <a:rPr b="0" i="1" lang="en" sz="3800" spc="-1" strike="noStrike">
                <a:solidFill>
                  <a:srgbClr val="0c0c0c"/>
                </a:solidFill>
                <a:latin typeface="Calibri"/>
                <a:ea typeface="Calibri"/>
              </a:rPr>
              <a:t>SECONDARY SURVEY</a:t>
            </a:r>
            <a:br>
              <a:rPr sz="3800"/>
            </a:br>
            <a:r>
              <a:rPr b="0" lang="en" sz="3800" spc="-1" strike="noStrike">
                <a:solidFill>
                  <a:srgbClr val="0c0c0c"/>
                </a:solidFill>
                <a:latin typeface="Calibri"/>
                <a:ea typeface="Calibri"/>
              </a:rPr>
              <a:t>RIWAYAT PENYAKIT SEKARANG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86;p31"/>
          <p:cNvGrpSpPr/>
          <p:nvPr/>
        </p:nvGrpSpPr>
        <p:grpSpPr>
          <a:xfrm>
            <a:off x="721440" y="145440"/>
            <a:ext cx="7969320" cy="4824720"/>
            <a:chOff x="721440" y="145440"/>
            <a:chExt cx="7969320" cy="4824720"/>
          </a:xfrm>
        </p:grpSpPr>
        <p:sp>
          <p:nvSpPr>
            <p:cNvPr id="146" name="Google Shape;187;p31"/>
            <p:cNvSpPr/>
            <p:nvPr/>
          </p:nvSpPr>
          <p:spPr>
            <a:xfrm>
              <a:off x="721440" y="588240"/>
              <a:ext cx="7969320" cy="10393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3b88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Google Shape;188;p31"/>
            <p:cNvSpPr/>
            <p:nvPr/>
          </p:nvSpPr>
          <p:spPr>
            <a:xfrm>
              <a:off x="721440" y="588240"/>
              <a:ext cx="7969320" cy="103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3860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20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 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Google Shape;189;p31"/>
            <p:cNvSpPr/>
            <p:nvPr/>
          </p:nvSpPr>
          <p:spPr>
            <a:xfrm>
              <a:off x="1119600" y="14544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3b8850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Google Shape;190;p31"/>
            <p:cNvSpPr/>
            <p:nvPr/>
          </p:nvSpPr>
          <p:spPr>
            <a:xfrm>
              <a:off x="1162800" y="18864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penyakit dahulu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Google Shape;191;p31"/>
            <p:cNvSpPr/>
            <p:nvPr/>
          </p:nvSpPr>
          <p:spPr>
            <a:xfrm>
              <a:off x="721440" y="2175840"/>
              <a:ext cx="7969320" cy="10864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4c967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Google Shape;192;p31"/>
            <p:cNvSpPr/>
            <p:nvPr/>
          </p:nvSpPr>
          <p:spPr>
            <a:xfrm>
              <a:off x="721440" y="2175840"/>
              <a:ext cx="7969320" cy="10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49400" anchor="t">
              <a:noAutofit/>
            </a:bodyPr>
            <a:p>
              <a:pPr lvl="1" marL="216000" indent="-20952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21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Google Shape;193;p31"/>
            <p:cNvSpPr/>
            <p:nvPr/>
          </p:nvSpPr>
          <p:spPr>
            <a:xfrm>
              <a:off x="1119600" y="178992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4c9679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Google Shape;194;p31"/>
            <p:cNvSpPr/>
            <p:nvPr/>
          </p:nvSpPr>
          <p:spPr>
            <a:xfrm>
              <a:off x="1162800" y="183312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penyakit keluarga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Google Shape;195;p31"/>
            <p:cNvSpPr/>
            <p:nvPr/>
          </p:nvSpPr>
          <p:spPr>
            <a:xfrm>
              <a:off x="721440" y="3883680"/>
              <a:ext cx="7969320" cy="10864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60a29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Google Shape;196;p31"/>
            <p:cNvSpPr/>
            <p:nvPr/>
          </p:nvSpPr>
          <p:spPr>
            <a:xfrm>
              <a:off x="721440" y="3883680"/>
              <a:ext cx="7969320" cy="10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8480" rIns="618480" tIns="624960" bIns="149400" anchor="t">
              <a:noAutofit/>
            </a:bodyPr>
            <a:p>
              <a:pPr lvl="1" marL="216000" indent="-20952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1" lang="en" sz="21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Google Shape;197;p31"/>
            <p:cNvSpPr/>
            <p:nvPr/>
          </p:nvSpPr>
          <p:spPr>
            <a:xfrm>
              <a:off x="1119600" y="3481200"/>
              <a:ext cx="5578200" cy="885240"/>
            </a:xfrm>
            <a:prstGeom prst="roundRect">
              <a:avLst>
                <a:gd name="adj" fmla="val 16667"/>
              </a:avLst>
            </a:prstGeom>
            <a:solidFill>
              <a:srgbClr val="60a29e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Google Shape;198;p31"/>
            <p:cNvSpPr/>
            <p:nvPr/>
          </p:nvSpPr>
          <p:spPr>
            <a:xfrm>
              <a:off x="1162800" y="3524760"/>
              <a:ext cx="549180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0960" rIns="2109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21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Kehamilan &amp; Kelahiran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204;p32"/>
          <p:cNvGrpSpPr/>
          <p:nvPr/>
        </p:nvGrpSpPr>
        <p:grpSpPr>
          <a:xfrm>
            <a:off x="757080" y="325800"/>
            <a:ext cx="7515000" cy="4471200"/>
            <a:chOff x="757080" y="325800"/>
            <a:chExt cx="7515000" cy="4471200"/>
          </a:xfrm>
        </p:grpSpPr>
        <p:sp>
          <p:nvSpPr>
            <p:cNvPr id="159" name="Google Shape;205;p32"/>
            <p:cNvSpPr/>
            <p:nvPr/>
          </p:nvSpPr>
          <p:spPr>
            <a:xfrm>
              <a:off x="757080" y="73152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2383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Google Shape;206;p32"/>
            <p:cNvSpPr/>
            <p:nvPr/>
          </p:nvSpPr>
          <p:spPr>
            <a:xfrm>
              <a:off x="757080" y="73152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Google Shape;207;p32"/>
            <p:cNvSpPr/>
            <p:nvPr/>
          </p:nvSpPr>
          <p:spPr>
            <a:xfrm>
              <a:off x="1132920" y="325800"/>
              <a:ext cx="5260320" cy="840960"/>
            </a:xfrm>
            <a:prstGeom prst="roundRect">
              <a:avLst>
                <a:gd name="adj" fmla="val 16667"/>
              </a:avLst>
            </a:prstGeom>
            <a:solidFill>
              <a:srgbClr val="2383c6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Google Shape;208;p32"/>
            <p:cNvSpPr/>
            <p:nvPr/>
          </p:nvSpPr>
          <p:spPr>
            <a:xfrm>
              <a:off x="1173960" y="367200"/>
              <a:ext cx="5178240" cy="7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17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Imunisasi</a:t>
              </a: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Google Shape;209;p32"/>
            <p:cNvSpPr/>
            <p:nvPr/>
          </p:nvSpPr>
          <p:spPr>
            <a:xfrm>
              <a:off x="757080" y="223524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24ce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Google Shape;210;p32"/>
            <p:cNvSpPr/>
            <p:nvPr/>
          </p:nvSpPr>
          <p:spPr>
            <a:xfrm>
              <a:off x="757080" y="223524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Google Shape;211;p32"/>
            <p:cNvSpPr/>
            <p:nvPr/>
          </p:nvSpPr>
          <p:spPr>
            <a:xfrm>
              <a:off x="1132920" y="1888200"/>
              <a:ext cx="5329800" cy="779760"/>
            </a:xfrm>
            <a:prstGeom prst="roundRect">
              <a:avLst>
                <a:gd name="adj" fmla="val 16667"/>
              </a:avLst>
            </a:prstGeom>
            <a:solidFill>
              <a:srgbClr val="24ced7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Google Shape;212;p32"/>
            <p:cNvSpPr/>
            <p:nvPr/>
          </p:nvSpPr>
          <p:spPr>
            <a:xfrm>
              <a:off x="1171080" y="1926000"/>
              <a:ext cx="525348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Nutrisi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Google Shape;213;p32"/>
            <p:cNvSpPr/>
            <p:nvPr/>
          </p:nvSpPr>
          <p:spPr>
            <a:xfrm>
              <a:off x="757080" y="3809880"/>
              <a:ext cx="7515000" cy="987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15875">
              <a:solidFill>
                <a:srgbClr val="42ba9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Google Shape;214;p32"/>
            <p:cNvSpPr/>
            <p:nvPr/>
          </p:nvSpPr>
          <p:spPr>
            <a:xfrm>
              <a:off x="757080" y="3809880"/>
              <a:ext cx="751500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83200" rIns="583200" tIns="593640" bIns="128160" anchor="t">
              <a:noAutofit/>
            </a:bodyPr>
            <a:p>
              <a:pPr lvl="1" marL="177840" indent="-177840">
                <a:lnSpc>
                  <a:spcPct val="100000"/>
                </a:lnSpc>
                <a:buClr>
                  <a:srgbClr val="000000"/>
                </a:buClr>
                <a:buFont typeface="Twentieth Century"/>
                <a:buChar char="•"/>
              </a:pPr>
              <a:r>
                <a:rPr b="0" lang="en" sz="1800" spc="-1" strike="noStrike">
                  <a:solidFill>
                    <a:schemeClr val="dk1"/>
                  </a:solidFill>
                  <a:latin typeface="Twentieth Century"/>
                  <a:ea typeface="Twentieth Century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Google Shape;215;p32"/>
            <p:cNvSpPr/>
            <p:nvPr/>
          </p:nvSpPr>
          <p:spPr>
            <a:xfrm>
              <a:off x="1132920" y="3389040"/>
              <a:ext cx="5260320" cy="84096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68400" bIns="68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Google Shape;216;p32"/>
            <p:cNvSpPr/>
            <p:nvPr/>
          </p:nvSpPr>
          <p:spPr>
            <a:xfrm>
              <a:off x="1173960" y="3430080"/>
              <a:ext cx="5178240" cy="7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98720" rIns="1987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" sz="1800" spc="-1" strike="noStrike">
                  <a:solidFill>
                    <a:schemeClr val="lt1"/>
                  </a:solidFill>
                  <a:latin typeface="Twentieth Century"/>
                  <a:ea typeface="Twentieth Century"/>
                </a:rPr>
                <a:t>Riwayat sosioekonomi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958840" y="318600"/>
            <a:ext cx="3617640" cy="5241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 fontScale="62347"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STATUS ANTROPOMETRI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14440" y="843120"/>
            <a:ext cx="7658280" cy="34779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63360" indent="-152280">
              <a:lnSpc>
                <a:spcPct val="90000"/>
              </a:lnSpc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kg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TB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cm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BB/U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TB/U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BB/TB 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Height age:  tahun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3360" indent="-152280">
              <a:lnSpc>
                <a:spcPct val="90000"/>
              </a:lnSpc>
              <a:spcBef>
                <a:spcPts val="1100"/>
              </a:spcBef>
              <a:buClr>
                <a:srgbClr val="1cade4"/>
              </a:buClr>
              <a:buFont typeface="Twentieth Century"/>
              <a:buChar char=" "/>
            </a:pP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RDA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	</a:t>
            </a:r>
            <a:r>
              <a:rPr b="0" lang="en" sz="24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:      kkal/hari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23;p33"/>
          <p:cNvSpPr/>
          <p:nvPr/>
        </p:nvSpPr>
        <p:spPr>
          <a:xfrm>
            <a:off x="1938960" y="4290840"/>
            <a:ext cx="5657760" cy="4568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>
            <a:solidFill>
              <a:srgbClr val="27ce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Kesan : Gizi ……. perawakan ……..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PEMERIKSAAN FISIS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29;p34"/>
          <p:cNvSpPr/>
          <p:nvPr/>
        </p:nvSpPr>
        <p:spPr>
          <a:xfrm>
            <a:off x="457200" y="1414440"/>
            <a:ext cx="8308800" cy="403920"/>
          </a:xfrm>
          <a:prstGeom prst="rect">
            <a:avLst/>
          </a:prstGeom>
          <a:gradFill rotWithShape="0"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cade4"/>
            </a:solidFill>
            <a:round/>
          </a:ln>
          <a:effectLst>
            <a:outerShdw algn="ctr" blurRad="50760" dir="5400000" dist="1260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100" spc="-1" strike="noStrike">
                <a:solidFill>
                  <a:schemeClr val="lt1"/>
                </a:solidFill>
                <a:latin typeface="Twentieth Century"/>
                <a:ea typeface="Twentieth Century"/>
              </a:rPr>
              <a:t>Keadaan Umum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30;p34"/>
          <p:cNvSpPr/>
          <p:nvPr/>
        </p:nvSpPr>
        <p:spPr>
          <a:xfrm>
            <a:off x="461520" y="1915920"/>
            <a:ext cx="8304480" cy="34236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Kesadaran ……..(GCS ……..)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31;p34"/>
          <p:cNvSpPr/>
          <p:nvPr/>
        </p:nvSpPr>
        <p:spPr>
          <a:xfrm>
            <a:off x="457200" y="2482560"/>
            <a:ext cx="8308800" cy="403920"/>
          </a:xfrm>
          <a:prstGeom prst="rect">
            <a:avLst/>
          </a:prstGeom>
          <a:gradFill rotWithShape="0"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l="50000" t="50000" r="50000" b="50000"/>
            </a:path>
          </a:gradFill>
          <a:ln w="9525">
            <a:solidFill>
              <a:srgbClr val="1cade4"/>
            </a:solidFill>
            <a:round/>
          </a:ln>
          <a:effectLst>
            <a:outerShdw algn="ctr" blurRad="50760" dir="5400000" dist="1260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2100" spc="-1" strike="noStrike">
                <a:solidFill>
                  <a:schemeClr val="lt1"/>
                </a:solidFill>
                <a:latin typeface="Twentieth Century"/>
                <a:ea typeface="Twentieth Century"/>
              </a:rPr>
              <a:t>Tanda Vital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32;p34"/>
          <p:cNvSpPr/>
          <p:nvPr/>
        </p:nvSpPr>
        <p:spPr>
          <a:xfrm>
            <a:off x="461520" y="3002040"/>
            <a:ext cx="8304480" cy="1439640"/>
          </a:xfrm>
          <a:prstGeom prst="rect">
            <a:avLst/>
          </a:prstGeom>
          <a:solidFill>
            <a:schemeClr val="lt1"/>
          </a:solidFill>
          <a:ln w="15875">
            <a:solidFill>
              <a:srgbClr val="1cad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Tekanan darah: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Laju nadi: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Laju napas: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Suhu: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SpO2: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237;p35"/>
          <p:cNvGraphicFramePr/>
          <p:nvPr/>
        </p:nvGraphicFramePr>
        <p:xfrm>
          <a:off x="293760" y="203760"/>
          <a:ext cx="8568360" cy="4693320"/>
        </p:xfrm>
        <a:graphic>
          <a:graphicData uri="http://schemas.openxmlformats.org/drawingml/2006/table">
            <a:tbl>
              <a:tblPr/>
              <a:tblGrid>
                <a:gridCol w="1395360"/>
                <a:gridCol w="7173000"/>
              </a:tblGrid>
              <a:tr h="328320">
                <a:tc>
                  <a:txBody>
                    <a:bodyPr lIns="48960" rIns="48960" tIns="25560" bIns="255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Organ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Deskripsi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40248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Kepala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72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Mata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3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Mulut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4072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Leher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0004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Dada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513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Jantung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39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Paru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720" rIns="367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720" marR="36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17160">
                <a:tc>
                  <a:txBody>
                    <a:bodyPr lIns="48960" rIns="48960" tIns="25560" bIns="255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Abdomen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25560" bIns="255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453960">
                <a:tc>
                  <a:txBody>
                    <a:bodyPr lIns="38520" rIns="385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Ekstremitas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8520" rIns="385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52080">
                <a:tc>
                  <a:txBody>
                    <a:bodyPr lIns="38520" rIns="385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5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Kulit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8520" rIns="385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8520" marR="38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DIAGNOSIS AWAL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380880" indent="-387360">
              <a:lnSpc>
                <a:spcPct val="90000"/>
              </a:lnSpc>
              <a:buClr>
                <a:srgbClr val="1cade4"/>
              </a:buClr>
              <a:buFont typeface="Twentieth Century"/>
              <a:buAutoNum type="arabicPeriod"/>
            </a:pP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……………………………………</a:t>
            </a: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. (ICD 10…..)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TATA LAKSANA AWAL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PEMERIKSAAN PENUNJANG </a:t>
            </a:r>
            <a:br>
              <a:rPr sz="3800"/>
            </a:b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(LABORATORIUM, RADIOLOGI)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DIAGNOSIS AKHIR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marL="380880" indent="-387360">
              <a:lnSpc>
                <a:spcPct val="90000"/>
              </a:lnSpc>
              <a:buClr>
                <a:srgbClr val="1cade4"/>
              </a:buClr>
              <a:buFont typeface="Twentieth Century"/>
              <a:buAutoNum type="arabicPeriod"/>
            </a:pP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………………………………</a:t>
            </a:r>
            <a:r>
              <a:rPr b="0" lang="en" sz="17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.(ICD 10 …………)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68240" y="438840"/>
            <a:ext cx="7289640" cy="11242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TATA LAKSANA AKHIR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768240" y="1714680"/>
            <a:ext cx="7289640" cy="301716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7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43080" y="3720240"/>
            <a:ext cx="5829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 algn="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800" spc="-1" strike="noStrike">
                <a:solidFill>
                  <a:srgbClr val="0c0c0c"/>
                </a:solidFill>
                <a:latin typeface="Twentieth Century"/>
                <a:ea typeface="Twentieth Century"/>
              </a:rPr>
              <a:t>TERIMA KASIH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458040" y="3720240"/>
            <a:ext cx="2400120" cy="10969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1"/>
              </a:solidFill>
              <a:latin typeface="Twentieth Century"/>
              <a:ea typeface="Twentieth Centur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2026-10-05T22:00:58Z</dcterms:modified>
  <cp:revision>1</cp:revision>
  <dc:subject/>
  <dc:title/>
</cp:coreProperties>
</file>