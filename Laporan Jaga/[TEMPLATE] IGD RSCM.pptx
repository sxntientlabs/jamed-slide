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6662A9-2CA1-4016-BE93-C62F304C9323}">
  <a:tblStyle styleId="{8E6662A9-2CA1-4016-BE93-C62F304C9323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667B94E-01C8-474B-9A38-4F7B217D319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bccd15594_0_4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6bccd15594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26bccd15594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bccd15594_0_4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6bccd15594_0_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6bccd15594_0_4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bccd15594_0_4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6bccd15594_0_4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bccd15594_0_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g26bccd15594_0_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dibaca: baik/tidak saja, jika ada masalah dibacakan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KESIMPULAN…. ada kegawatan/tidak</a:t>
            </a:r>
            <a:endParaRPr/>
          </a:p>
        </p:txBody>
      </p:sp>
      <p:sp>
        <p:nvSpPr>
          <p:cNvPr id="162" name="Google Shape;162;g26bccd15594_0_4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bccd15594_0_4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26bccd15594_0_4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6bccd15594_0_4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bccd15594_0_494:notes"/>
          <p:cNvSpPr/>
          <p:nvPr>
            <p:ph idx="2" type="sldImg"/>
          </p:nvPr>
        </p:nvSpPr>
        <p:spPr>
          <a:xfrm>
            <a:off x="384175" y="685800"/>
            <a:ext cx="6083400" cy="34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g26bccd15594_0_4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tulispoin-poinpenting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26bccd15594_0_4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bccd15594_0_4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g26bccd15594_0_4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6bccd15594_0_4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bccd15594_0_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1" name="Google Shape;201;g26bccd15594_0_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dibacakan kesannya saja</a:t>
            </a:r>
            <a:endParaRPr/>
          </a:p>
        </p:txBody>
      </p:sp>
      <p:sp>
        <p:nvSpPr>
          <p:cNvPr id="202" name="Google Shape;202;g26bccd15594_0_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bccd15594_0_5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6bccd15594_0_5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bccd15594_0_5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6bccd15594_0_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bccd15594_0_5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26bccd15594_0_5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bccd15594_0_5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6bccd15594_0_5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bccd15594_0_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6bccd15594_0_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bccd15594_0_5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6bccd15594_0_5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bccd15594_0_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6bccd15594_0_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bccd15594_0_5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6bccd15594_0_5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bccd15594_0_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6bccd15594_0_5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14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68095" y="1714500"/>
            <a:ext cx="356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491990" y="1714500"/>
            <a:ext cx="356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-1" y="0"/>
            <a:ext cx="9144000" cy="3429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b="0"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7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768096" y="1634727"/>
            <a:ext cx="356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02875" spcFirstLastPara="1" rIns="1028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768096" y="2225841"/>
            <a:ext cx="35664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3" type="body"/>
          </p:nvPr>
        </p:nvSpPr>
        <p:spPr>
          <a:xfrm>
            <a:off x="4493166" y="1634727"/>
            <a:ext cx="356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02875" spcFirstLastPara="1" rIns="1028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18"/>
          <p:cNvSpPr txBox="1"/>
          <p:nvPr>
            <p:ph idx="4" type="body"/>
          </p:nvPr>
        </p:nvSpPr>
        <p:spPr>
          <a:xfrm>
            <a:off x="4493166" y="2225841"/>
            <a:ext cx="35664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768096" y="353632"/>
            <a:ext cx="32919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Twentieth Century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286250" y="617220"/>
            <a:ext cx="4258800" cy="3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Char char="🢝"/>
              <a:defRPr sz="1500"/>
            </a:lvl2pPr>
            <a:lvl3pPr indent="-3048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3pPr>
            <a:lvl4pPr indent="-3048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5pPr>
            <a:lvl6pPr indent="-3048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6pPr>
            <a:lvl7pPr indent="-3048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7pPr>
            <a:lvl8pPr indent="-3048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🢝"/>
              <a:defRPr sz="1200"/>
            </a:lvl8pPr>
            <a:lvl9pPr indent="-3048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Char char="🢝"/>
              <a:defRPr sz="12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768096" y="1693129"/>
            <a:ext cx="3291900" cy="28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42900" y="3720104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/>
          <p:nvPr>
            <p:ph idx="2" type="pic"/>
          </p:nvPr>
        </p:nvSpPr>
        <p:spPr>
          <a:xfrm>
            <a:off x="0" y="-1"/>
            <a:ext cx="9141900" cy="3429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6457950" y="3720104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C0C0C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" name="Google Shape;117;p22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0" name="Google Shape;120;p22"/>
          <p:cNvCxnSpPr/>
          <p:nvPr/>
        </p:nvCxnSpPr>
        <p:spPr>
          <a:xfrm rot="10800000">
            <a:off x="6290132" y="3948080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 rot="5400000">
            <a:off x="2904451" y="-421800"/>
            <a:ext cx="3017400" cy="7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 rot="5400000">
            <a:off x="5500651" y="1614600"/>
            <a:ext cx="40578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4275" spcFirstLastPara="1" rIns="34275" wrap="square" tIns="68575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 rot="5400000">
            <a:off x="1557226" y="-242850"/>
            <a:ext cx="4057800" cy="5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 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🢝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🢝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🢝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/>
            </a:lvl1pPr>
            <a:lvl2pPr indent="0" lvl="1" marL="0" rtl="0" algn="l">
              <a:spcBef>
                <a:spcPts val="0"/>
              </a:spcBef>
              <a:buNone/>
              <a:defRPr/>
            </a:lvl2pPr>
            <a:lvl3pPr indent="0" lvl="2" marL="0" rtl="0" algn="l">
              <a:spcBef>
                <a:spcPts val="0"/>
              </a:spcBef>
              <a:buNone/>
              <a:defRPr/>
            </a:lvl3pPr>
            <a:lvl4pPr indent="0" lvl="3" marL="0" rtl="0" algn="l">
              <a:spcBef>
                <a:spcPts val="0"/>
              </a:spcBef>
              <a:buNone/>
              <a:defRPr/>
            </a:lvl4pPr>
            <a:lvl5pPr indent="0" lvl="4" marL="0" rtl="0" algn="l">
              <a:spcBef>
                <a:spcPts val="0"/>
              </a:spcBef>
              <a:buNone/>
              <a:defRPr/>
            </a:lvl5pPr>
            <a:lvl6pPr indent="0" lvl="5" marL="0" rtl="0" algn="l">
              <a:spcBef>
                <a:spcPts val="0"/>
              </a:spcBef>
              <a:buNone/>
              <a:defRPr/>
            </a:lvl6pPr>
            <a:lvl7pPr indent="0" lvl="6" marL="0" rtl="0" algn="l">
              <a:spcBef>
                <a:spcPts val="0"/>
              </a:spcBef>
              <a:buNone/>
              <a:defRPr/>
            </a:lvl7pPr>
            <a:lvl8pPr indent="0" lvl="7" marL="0" rtl="0" algn="l">
              <a:spcBef>
                <a:spcPts val="0"/>
              </a:spcBef>
              <a:buNone/>
              <a:defRPr/>
            </a:lvl8pPr>
            <a:lvl9pPr indent="0" lvl="8" marL="0" rt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3" name="Google Shape;133;p24"/>
          <p:cNvCxnSpPr/>
          <p:nvPr/>
        </p:nvCxnSpPr>
        <p:spPr>
          <a:xfrm rot="10800000">
            <a:off x="7543800" y="44447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  <a:defRPr b="0" i="0" sz="3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Twentieth Century"/>
              <a:buChar char=" "/>
              <a:defRPr b="0" i="0" sz="17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100"/>
              <a:buFont typeface="Noto Sans Symbols"/>
              <a:buChar char="🢝"/>
              <a:defRPr b="0" i="0" sz="1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 rot="10800000">
            <a:off x="571500" y="619743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ctrTitle"/>
          </p:nvPr>
        </p:nvSpPr>
        <p:spPr>
          <a:xfrm>
            <a:off x="826246" y="1787022"/>
            <a:ext cx="7577100" cy="110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wentieth Century"/>
              <a:buNone/>
            </a:pPr>
            <a:r>
              <a:rPr lang="en" sz="4500">
                <a:solidFill>
                  <a:schemeClr val="dk1"/>
                </a:solidFill>
              </a:rPr>
              <a:t>LAPORAN JAGA IGD</a:t>
            </a:r>
            <a:br>
              <a:rPr lang="en" sz="4500">
                <a:solidFill>
                  <a:schemeClr val="dk1"/>
                </a:solidFill>
              </a:rPr>
            </a:br>
            <a:r>
              <a:rPr b="0" lang="en" sz="2400">
                <a:solidFill>
                  <a:schemeClr val="dk1"/>
                </a:solidFill>
              </a:rPr>
              <a:t>HARI</a:t>
            </a:r>
            <a:r>
              <a:rPr b="0" lang="en" sz="2400">
                <a:solidFill>
                  <a:schemeClr val="dk1"/>
                </a:solidFill>
              </a:rPr>
              <a:t>, TANGGAL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501341" y="3567757"/>
            <a:ext cx="68799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2700">
                <a:solidFill>
                  <a:srgbClr val="000000"/>
                </a:solidFill>
              </a:rPr>
              <a:t>Tim mahasiswa jaga: ……….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2700">
                <a:solidFill>
                  <a:srgbClr val="000000"/>
                </a:solidFill>
              </a:rPr>
              <a:t>Tim PPDS Jaga: dr………..</a:t>
            </a:r>
            <a:endParaRPr sz="2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 sz="2700">
                <a:solidFill>
                  <a:srgbClr val="000000"/>
                </a:solidFill>
              </a:rPr>
              <a:t>DPJP Jaga: dr. …………</a:t>
            </a:r>
            <a:endParaRPr sz="2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700">
              <a:solidFill>
                <a:srgbClr val="000000"/>
              </a:solidFill>
            </a:endParaRPr>
          </a:p>
        </p:txBody>
      </p:sp>
      <p:pic>
        <p:nvPicPr>
          <p:cNvPr descr="C:\Users\LudiDhyani\Pictures\logo-RSCM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9481" l="9591" r="6573" t="11047"/>
          <a:stretch/>
        </p:blipFill>
        <p:spPr>
          <a:xfrm>
            <a:off x="7332779" y="3927922"/>
            <a:ext cx="1631157" cy="594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ara-ui-fk.png" id="142" name="Google Shape;1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97" y="3592203"/>
            <a:ext cx="959602" cy="1290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183698" y="-551089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559596" y="96443"/>
            <a:ext cx="80178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PASIEN BARU:  ……. PASIEN</a:t>
            </a:r>
            <a:endParaRPr/>
          </a:p>
        </p:txBody>
      </p:sp>
      <p:graphicFrame>
        <p:nvGraphicFramePr>
          <p:cNvPr id="150" name="Google Shape;150;p26"/>
          <p:cNvGraphicFramePr/>
          <p:nvPr/>
        </p:nvGraphicFramePr>
        <p:xfrm>
          <a:off x="348742" y="10179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{8E6662A9-2CA1-4016-BE93-C62F304C9323}</a:tableStyleId>
              </a:tblPr>
              <a:tblGrid>
                <a:gridCol w="515500"/>
                <a:gridCol w="1722950"/>
                <a:gridCol w="4509700"/>
                <a:gridCol w="1480400"/>
              </a:tblGrid>
              <a:tr h="237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No.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.Nama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Diagnosis 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Kegawatan (True/False)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500" u="none" cap="none" strike="noStrike"/>
                        <a:t>1. </a:t>
                      </a:r>
                      <a:endParaRPr b="0" sz="1500" u="none" cap="none" strike="noStrike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Inisial/jenis kelamin/usia</a:t>
                      </a:r>
                      <a:endParaRPr b="0" sz="1500" u="none" cap="none" strike="noStrike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</a:tr>
              <a:tr h="462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500"/>
                        <a:t>2.</a:t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</a:tr>
              <a:tr h="39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500"/>
                        <a:t>3.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</a:tr>
              <a:tr h="39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500"/>
                        <a:t>4.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</a:tr>
              <a:tr h="47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500"/>
                        <a:t>5.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500"/>
                    </a:p>
                  </a:txBody>
                  <a:tcPr marT="34300" marB="34300" marR="68600" marL="68600">
                    <a:solidFill>
                      <a:srgbClr val="D0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IDENTITAS 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70647" y="1353503"/>
            <a:ext cx="48330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114300" lvl="0" marL="635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Nama		:</a:t>
            </a:r>
            <a:endParaRPr/>
          </a:p>
          <a:p>
            <a:pPr indent="-114300" lvl="0" marL="635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Usia		: </a:t>
            </a:r>
            <a:endParaRPr/>
          </a:p>
          <a:p>
            <a:pPr indent="-114300" lvl="0" marL="635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Tanggal lahir	: </a:t>
            </a:r>
            <a:endParaRPr/>
          </a:p>
          <a:p>
            <a:pPr indent="-114300" lvl="0" marL="635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Jenis kelamin 	: </a:t>
            </a:r>
            <a:endParaRPr/>
          </a:p>
          <a:p>
            <a:pPr indent="-114300" lvl="0" marL="635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NRM		: </a:t>
            </a:r>
            <a:endParaRPr/>
          </a:p>
          <a:p>
            <a:pPr indent="-114300" lvl="0" marL="635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lang="en" sz="1800"/>
              <a:t>Alamat	:</a:t>
            </a:r>
            <a:endParaRPr/>
          </a:p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4491990" y="1714500"/>
            <a:ext cx="356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354806" y="3890963"/>
            <a:ext cx="7806000" cy="923100"/>
          </a:xfrm>
          <a:prstGeom prst="roundRect">
            <a:avLst>
              <a:gd fmla="val 16667" name="adj"/>
            </a:avLst>
          </a:prstGeom>
          <a:solidFill>
            <a:srgbClr val="D0EEF9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Keluhan utama: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i="1" lang="en"/>
              <a:t>PEDIATRIC </a:t>
            </a:r>
            <a:r>
              <a:rPr i="1" lang="en"/>
              <a:t>ASSESSMENT</a:t>
            </a:r>
            <a:r>
              <a:rPr i="1" lang="en"/>
              <a:t> TRIANGLE</a:t>
            </a:r>
            <a:endParaRPr i="1"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768095" y="1321957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12700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i="1" lang="en" sz="2000"/>
              <a:t>Behaviour</a:t>
            </a:r>
            <a:endParaRPr i="1" sz="2000"/>
          </a:p>
          <a:p>
            <a:pPr indent="-127000" lvl="1" marL="20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Char char="🢝"/>
            </a:pPr>
            <a:r>
              <a:rPr i="1" lang="en" sz="2000"/>
              <a:t>Tonus</a:t>
            </a:r>
            <a:r>
              <a:rPr lang="en" sz="2000"/>
              <a:t>		: </a:t>
            </a:r>
            <a:endParaRPr/>
          </a:p>
          <a:p>
            <a:pPr indent="-127000" lvl="1" marL="20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🢝"/>
            </a:pPr>
            <a:r>
              <a:rPr i="1" lang="en" sz="2000"/>
              <a:t>Interactiveness`	</a:t>
            </a:r>
            <a:r>
              <a:rPr lang="en" sz="2000"/>
              <a:t>: </a:t>
            </a:r>
            <a:endParaRPr/>
          </a:p>
          <a:p>
            <a:pPr indent="-127000" lvl="1" marL="20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🢝"/>
            </a:pPr>
            <a:r>
              <a:rPr i="1" lang="en" sz="2000"/>
              <a:t>Consolability</a:t>
            </a:r>
            <a:r>
              <a:rPr lang="en" sz="2000"/>
              <a:t> 	: </a:t>
            </a:r>
            <a:endParaRPr/>
          </a:p>
          <a:p>
            <a:pPr indent="-127000" lvl="1" marL="20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🢝"/>
            </a:pPr>
            <a:r>
              <a:rPr i="1" lang="en" sz="2000"/>
              <a:t>Look or gaze</a:t>
            </a:r>
            <a:r>
              <a:rPr lang="en" sz="2000"/>
              <a:t> 	: </a:t>
            </a:r>
            <a:endParaRPr/>
          </a:p>
          <a:p>
            <a:pPr indent="-127000" lvl="1" marL="20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🢝"/>
            </a:pPr>
            <a:r>
              <a:rPr i="1" lang="en" sz="2000"/>
              <a:t>Speech and cry</a:t>
            </a:r>
            <a:r>
              <a:rPr lang="en" sz="2000"/>
              <a:t> 	: </a:t>
            </a:r>
            <a:endParaRPr sz="2000"/>
          </a:p>
          <a:p>
            <a:pPr indent="-127000" lvl="0" marL="635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 "/>
            </a:pPr>
            <a:r>
              <a:rPr b="1" i="1" lang="en" sz="2000"/>
              <a:t>Breathing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000"/>
              <a:buNone/>
            </a:pPr>
            <a:r>
              <a:rPr i="1" lang="en" sz="2000"/>
              <a:t> </a:t>
            </a:r>
            <a:r>
              <a:rPr b="1" i="1" lang="en" sz="2000"/>
              <a:t>Body Colour</a:t>
            </a:r>
            <a:r>
              <a:rPr b="1" lang="en" sz="2000"/>
              <a:t>	</a:t>
            </a:r>
            <a:endParaRPr sz="2000"/>
          </a:p>
        </p:txBody>
      </p:sp>
      <p:sp>
        <p:nvSpPr>
          <p:cNvPr id="166" name="Google Shape;166;p28"/>
          <p:cNvSpPr/>
          <p:nvPr/>
        </p:nvSpPr>
        <p:spPr>
          <a:xfrm>
            <a:off x="347870" y="4375895"/>
            <a:ext cx="8448300" cy="6234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Kesan: Tidak terdapat kegawatdaruratan/kegawatan respirasi/kegawatan sirkulasi/kegawatan neurologi</a:t>
            </a:r>
            <a:endParaRPr b="1"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i="1" lang="en"/>
              <a:t>PRIMARY SURVEY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768096" y="1364877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lnSpcReduction="10000"/>
          </a:bodyPr>
          <a:lstStyle/>
          <a:p>
            <a:pPr indent="-11430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b="1" i="1" lang="en" sz="1800"/>
              <a:t>Airway</a:t>
            </a:r>
            <a:r>
              <a:rPr b="1" lang="en" sz="1800"/>
              <a:t>	</a:t>
            </a:r>
            <a:r>
              <a:rPr lang="en" sz="1800"/>
              <a:t>: </a:t>
            </a:r>
            <a:endParaRPr/>
          </a:p>
          <a:p>
            <a:pPr indent="-1143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b="1" i="1" lang="en" sz="1800"/>
              <a:t>Breathing</a:t>
            </a:r>
            <a:r>
              <a:rPr lang="en" sz="1800"/>
              <a:t>	: </a:t>
            </a:r>
            <a:endParaRPr/>
          </a:p>
          <a:p>
            <a:pPr indent="-1143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b="1" i="1" lang="en" sz="1800"/>
              <a:t>Circulation	</a:t>
            </a:r>
            <a:r>
              <a:rPr lang="en" sz="1800"/>
              <a:t>:</a:t>
            </a:r>
            <a:endParaRPr/>
          </a:p>
          <a:p>
            <a:pPr indent="-1143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b="1" i="1" lang="en" sz="1800"/>
              <a:t>Disability</a:t>
            </a:r>
            <a:r>
              <a:rPr lang="en" sz="1800"/>
              <a:t>	: </a:t>
            </a:r>
            <a:endParaRPr/>
          </a:p>
          <a:p>
            <a:pPr indent="-1143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 "/>
            </a:pPr>
            <a:r>
              <a:rPr b="1" i="1" lang="en" sz="1800"/>
              <a:t>Exposure</a:t>
            </a:r>
            <a:r>
              <a:rPr lang="en" sz="1800"/>
              <a:t>	: </a:t>
            </a:r>
            <a:r>
              <a:rPr i="1" lang="en" sz="1800"/>
              <a:t>Allergy</a:t>
            </a:r>
            <a:r>
              <a:rPr lang="en" sz="1800"/>
              <a:t>: </a:t>
            </a:r>
            <a:endParaRPr b="1" sz="1800"/>
          </a:p>
          <a:p>
            <a:pPr indent="-127000" lvl="4" marL="149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i="1" lang="en" sz="1800"/>
              <a:t>  Medication history</a:t>
            </a:r>
            <a:r>
              <a:rPr lang="en" sz="1800"/>
              <a:t>: </a:t>
            </a:r>
            <a:endParaRPr sz="1800"/>
          </a:p>
          <a:p>
            <a:pPr indent="0" lvl="4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1" lang="en" sz="1800"/>
              <a:t>  Past illness</a:t>
            </a:r>
            <a:r>
              <a:rPr lang="en" sz="1800"/>
              <a:t>: </a:t>
            </a:r>
            <a:endParaRPr/>
          </a:p>
          <a:p>
            <a:pPr indent="0" lvl="4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1" lang="en" sz="1800"/>
              <a:t>  Last meal</a:t>
            </a:r>
            <a:r>
              <a:rPr lang="en" sz="1800"/>
              <a:t>: </a:t>
            </a:r>
            <a:endParaRPr/>
          </a:p>
          <a:p>
            <a:pPr indent="0" lvl="4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1" lang="en" sz="1800"/>
              <a:t>  Events leading to admission</a:t>
            </a:r>
            <a:r>
              <a:rPr lang="en" sz="1800"/>
              <a:t>: </a:t>
            </a:r>
            <a:endParaRPr b="1" sz="1800"/>
          </a:p>
        </p:txBody>
      </p:sp>
      <p:sp>
        <p:nvSpPr>
          <p:cNvPr id="174" name="Google Shape;174;p29"/>
          <p:cNvSpPr/>
          <p:nvPr/>
        </p:nvSpPr>
        <p:spPr>
          <a:xfrm>
            <a:off x="228790" y="4565356"/>
            <a:ext cx="8686800" cy="3453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Kesan: ………..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699689" y="336176"/>
            <a:ext cx="8229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Calibri"/>
              <a:buNone/>
            </a:pPr>
            <a:br>
              <a:rPr i="1" lang="en">
                <a:latin typeface="Calibri"/>
                <a:ea typeface="Calibri"/>
                <a:cs typeface="Calibri"/>
                <a:sym typeface="Calibri"/>
              </a:rPr>
            </a:br>
            <a:r>
              <a:rPr i="1" lang="en">
                <a:latin typeface="Calibri"/>
                <a:ea typeface="Calibri"/>
                <a:cs typeface="Calibri"/>
                <a:sym typeface="Calibri"/>
              </a:rPr>
              <a:t>SECONDARY SURVEY</a:t>
            </a:r>
            <a:br>
              <a:rPr i="1" lang="en"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alibri"/>
                <a:ea typeface="Calibri"/>
                <a:cs typeface="Calibri"/>
                <a:sym typeface="Calibri"/>
              </a:rPr>
              <a:t>RIWAYAT PENYAKIT SEKARANG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31"/>
          <p:cNvGrpSpPr/>
          <p:nvPr/>
        </p:nvGrpSpPr>
        <p:grpSpPr>
          <a:xfrm>
            <a:off x="721274" y="145516"/>
            <a:ext cx="7969500" cy="4824947"/>
            <a:chOff x="0" y="5332"/>
            <a:chExt cx="10626000" cy="6433262"/>
          </a:xfrm>
        </p:grpSpPr>
        <p:sp>
          <p:nvSpPr>
            <p:cNvPr id="187" name="Google Shape;187;p31"/>
            <p:cNvSpPr/>
            <p:nvPr/>
          </p:nvSpPr>
          <p:spPr>
            <a:xfrm>
              <a:off x="0" y="595732"/>
              <a:ext cx="10626000" cy="13860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rgbClr val="3B88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1"/>
            <p:cNvSpPr txBox="1"/>
            <p:nvPr/>
          </p:nvSpPr>
          <p:spPr>
            <a:xfrm>
              <a:off x="0" y="595732"/>
              <a:ext cx="10626000" cy="13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8675" lIns="618500" spcFirstLastPara="1" rIns="618500" wrap="square" tIns="624825">
              <a:noAutofit/>
            </a:bodyPr>
            <a:lstStyle/>
            <a:p>
              <a:pPr indent="-177800" lvl="1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wentieth Century"/>
                <a:buChar char="•"/>
              </a:pPr>
              <a:r>
                <a:rPr b="0" i="0" lang="en" sz="20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 </a:t>
              </a:r>
              <a:endPara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9" name="Google Shape;189;p31"/>
            <p:cNvSpPr/>
            <p:nvPr/>
          </p:nvSpPr>
          <p:spPr>
            <a:xfrm>
              <a:off x="531297" y="5332"/>
              <a:ext cx="7438200" cy="1180800"/>
            </a:xfrm>
            <a:prstGeom prst="roundRect">
              <a:avLst>
                <a:gd fmla="val 16667" name="adj"/>
              </a:avLst>
            </a:prstGeom>
            <a:solidFill>
              <a:srgbClr val="3B8850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1"/>
            <p:cNvSpPr txBox="1"/>
            <p:nvPr/>
          </p:nvSpPr>
          <p:spPr>
            <a:xfrm>
              <a:off x="588939" y="62974"/>
              <a:ext cx="7323000" cy="10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0850" spcFirstLastPara="1" rIns="2108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1" lang="en" sz="21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penyakit dahulu</a:t>
              </a:r>
              <a:endParaRPr sz="1100"/>
            </a:p>
          </p:txBody>
        </p:sp>
        <p:sp>
          <p:nvSpPr>
            <p:cNvPr id="191" name="Google Shape;191;p31"/>
            <p:cNvSpPr/>
            <p:nvPr/>
          </p:nvSpPr>
          <p:spPr>
            <a:xfrm>
              <a:off x="0" y="2712405"/>
              <a:ext cx="10626000" cy="14490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rgbClr val="4C96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1"/>
            <p:cNvSpPr txBox="1"/>
            <p:nvPr/>
          </p:nvSpPr>
          <p:spPr>
            <a:xfrm>
              <a:off x="0" y="2712405"/>
              <a:ext cx="10626000" cy="14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618500" spcFirstLastPara="1" rIns="618500" wrap="square" tIns="624825">
              <a:noAutofit/>
            </a:bodyPr>
            <a:lstStyle/>
            <a:p>
              <a:pPr indent="-209550" lvl="1" marL="215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wentieth Century"/>
                <a:buChar char="•"/>
              </a:pPr>
              <a:r>
                <a:rPr b="0" i="0" lang="en" sz="21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b="0" i="0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531297" y="2197733"/>
              <a:ext cx="7438200" cy="1180800"/>
            </a:xfrm>
            <a:prstGeom prst="roundRect">
              <a:avLst>
                <a:gd fmla="val 16667" name="adj"/>
              </a:avLst>
            </a:prstGeom>
            <a:solidFill>
              <a:srgbClr val="4C9679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1"/>
            <p:cNvSpPr txBox="1"/>
            <p:nvPr/>
          </p:nvSpPr>
          <p:spPr>
            <a:xfrm>
              <a:off x="588939" y="2255375"/>
              <a:ext cx="7323000" cy="10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0850" spcFirstLastPara="1" rIns="2108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1" lang="en" sz="21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penyakit keluarga</a:t>
              </a:r>
              <a:endParaRPr b="1" sz="21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5" name="Google Shape;195;p31"/>
            <p:cNvSpPr/>
            <p:nvPr/>
          </p:nvSpPr>
          <p:spPr>
            <a:xfrm>
              <a:off x="0" y="4989594"/>
              <a:ext cx="10626000" cy="14490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rgbClr val="60A29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1"/>
            <p:cNvSpPr txBox="1"/>
            <p:nvPr/>
          </p:nvSpPr>
          <p:spPr>
            <a:xfrm>
              <a:off x="0" y="4989594"/>
              <a:ext cx="10626000" cy="14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618500" spcFirstLastPara="1" rIns="618500" wrap="square" tIns="624825">
              <a:noAutofit/>
            </a:bodyPr>
            <a:lstStyle/>
            <a:p>
              <a:pPr indent="-209550" lvl="1" marL="215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wentieth Century"/>
                <a:buChar char="•"/>
              </a:pPr>
              <a:r>
                <a:rPr b="1" i="0" lang="en" sz="21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sz="1100"/>
            </a:p>
          </p:txBody>
        </p:sp>
        <p:sp>
          <p:nvSpPr>
            <p:cNvPr id="197" name="Google Shape;197;p31"/>
            <p:cNvSpPr/>
            <p:nvPr/>
          </p:nvSpPr>
          <p:spPr>
            <a:xfrm>
              <a:off x="531297" y="4453132"/>
              <a:ext cx="7438200" cy="1180800"/>
            </a:xfrm>
            <a:prstGeom prst="roundRect">
              <a:avLst>
                <a:gd fmla="val 16667" name="adj"/>
              </a:avLst>
            </a:prstGeom>
            <a:solidFill>
              <a:srgbClr val="60A29E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1"/>
            <p:cNvSpPr txBox="1"/>
            <p:nvPr/>
          </p:nvSpPr>
          <p:spPr>
            <a:xfrm>
              <a:off x="588939" y="4510774"/>
              <a:ext cx="7323000" cy="10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0850" spcFirstLastPara="1" rIns="2108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1" lang="en" sz="21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Kehamilan &amp; Kelahiran</a:t>
              </a:r>
              <a:endParaRPr b="1" sz="21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32"/>
          <p:cNvGrpSpPr/>
          <p:nvPr/>
        </p:nvGrpSpPr>
        <p:grpSpPr>
          <a:xfrm>
            <a:off x="757238" y="325963"/>
            <a:ext cx="7515225" cy="4471334"/>
            <a:chOff x="0" y="15517"/>
            <a:chExt cx="10020300" cy="5961779"/>
          </a:xfrm>
        </p:grpSpPr>
        <p:sp>
          <p:nvSpPr>
            <p:cNvPr id="205" name="Google Shape;205;p32"/>
            <p:cNvSpPr/>
            <p:nvPr/>
          </p:nvSpPr>
          <p:spPr>
            <a:xfrm>
              <a:off x="0" y="556255"/>
              <a:ext cx="10020300" cy="13167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rgbClr val="2383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2"/>
            <p:cNvSpPr txBox="1"/>
            <p:nvPr/>
          </p:nvSpPr>
          <p:spPr>
            <a:xfrm>
              <a:off x="0" y="556255"/>
              <a:ext cx="10020300" cy="13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583250" spcFirstLastPara="1" rIns="583250" wrap="square" tIns="593600">
              <a:noAutofit/>
            </a:bodyPr>
            <a:lstStyle/>
            <a:p>
              <a:pPr indent="-177800" lvl="1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b="0" i="0" sz="17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7" name="Google Shape;207;p32"/>
            <p:cNvSpPr/>
            <p:nvPr/>
          </p:nvSpPr>
          <p:spPr>
            <a:xfrm>
              <a:off x="501015" y="15517"/>
              <a:ext cx="7014300" cy="1121700"/>
            </a:xfrm>
            <a:prstGeom prst="roundRect">
              <a:avLst>
                <a:gd fmla="val 16667" name="adj"/>
              </a:avLst>
            </a:prstGeom>
            <a:solidFill>
              <a:srgbClr val="2383C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2"/>
            <p:cNvSpPr txBox="1"/>
            <p:nvPr/>
          </p:nvSpPr>
          <p:spPr>
            <a:xfrm>
              <a:off x="555775" y="70277"/>
              <a:ext cx="6904800" cy="10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8825" spcFirstLastPara="1" rIns="1988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1" lang="en" sz="17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Imunisasi</a:t>
              </a:r>
              <a:endParaRPr sz="1100"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0" y="2561324"/>
              <a:ext cx="10020300" cy="13167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rgbClr val="24CE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2"/>
            <p:cNvSpPr txBox="1"/>
            <p:nvPr/>
          </p:nvSpPr>
          <p:spPr>
            <a:xfrm>
              <a:off x="0" y="2561324"/>
              <a:ext cx="10020300" cy="13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583250" spcFirstLastPara="1" rIns="583250" wrap="square" tIns="593600">
              <a:noAutofit/>
            </a:bodyPr>
            <a:lstStyle/>
            <a:p>
              <a:pPr indent="-177800" lvl="1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sz="1100"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501015" y="2098297"/>
              <a:ext cx="7107000" cy="1040400"/>
            </a:xfrm>
            <a:prstGeom prst="roundRect">
              <a:avLst>
                <a:gd fmla="val 16667" name="adj"/>
              </a:avLst>
            </a:prstGeom>
            <a:solidFill>
              <a:srgbClr val="24CED7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2"/>
            <p:cNvSpPr txBox="1"/>
            <p:nvPr/>
          </p:nvSpPr>
          <p:spPr>
            <a:xfrm>
              <a:off x="551803" y="2149085"/>
              <a:ext cx="7005300" cy="9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8825" spcFirstLastPara="1" rIns="19882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1" lang="en" sz="15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Nutrisi</a:t>
              </a:r>
              <a:endParaRPr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0" y="4660596"/>
              <a:ext cx="10020300" cy="13167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2"/>
            <p:cNvSpPr txBox="1"/>
            <p:nvPr/>
          </p:nvSpPr>
          <p:spPr>
            <a:xfrm>
              <a:off x="0" y="4660596"/>
              <a:ext cx="10020300" cy="13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583250" spcFirstLastPara="1" rIns="583250" wrap="square" tIns="593600">
              <a:noAutofit/>
            </a:bodyPr>
            <a:lstStyle/>
            <a:p>
              <a:pPr indent="-177800" lvl="1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Char char="•"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.</a:t>
              </a:r>
              <a:endParaRPr sz="1100"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501015" y="4099716"/>
              <a:ext cx="7014300" cy="11217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2"/>
            <p:cNvSpPr txBox="1"/>
            <p:nvPr/>
          </p:nvSpPr>
          <p:spPr>
            <a:xfrm>
              <a:off x="555775" y="4154476"/>
              <a:ext cx="6904800" cy="101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8825" spcFirstLastPara="1" rIns="1988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1" i="0" lang="en"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Riwayat sosioekonomi</a:t>
              </a:r>
              <a:endParaRPr b="1" i="0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2958941" y="318611"/>
            <a:ext cx="36180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Font typeface="Twentieth Century"/>
              <a:buNone/>
            </a:pPr>
            <a:r>
              <a:rPr lang="en"/>
              <a:t>STATUS ANTROPOMETRI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514351" y="842963"/>
            <a:ext cx="76587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15240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BB		:  kg</a:t>
            </a:r>
            <a:endParaRPr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TB		:  cm</a:t>
            </a:r>
            <a:endParaRPr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BB/U 	:</a:t>
            </a:r>
            <a:endParaRPr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TB/U 	:</a:t>
            </a:r>
            <a:endParaRPr sz="2400"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BB/TB 	:</a:t>
            </a:r>
            <a:endParaRPr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Height age:  tahun</a:t>
            </a:r>
            <a:endParaRPr sz="2400"/>
          </a:p>
          <a:p>
            <a:pPr indent="-152400" lvl="0" marL="635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 "/>
            </a:pPr>
            <a:r>
              <a:rPr lang="en" sz="2400"/>
              <a:t>RDA	:      kkal/hari</a:t>
            </a:r>
            <a:endParaRPr sz="2400"/>
          </a:p>
        </p:txBody>
      </p:sp>
      <p:sp>
        <p:nvSpPr>
          <p:cNvPr id="223" name="Google Shape;223;p33"/>
          <p:cNvSpPr/>
          <p:nvPr/>
        </p:nvSpPr>
        <p:spPr>
          <a:xfrm>
            <a:off x="1939052" y="4290878"/>
            <a:ext cx="56580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Kesan : Gizi </a:t>
            </a:r>
            <a:r>
              <a:rPr b="1" lang="en" sz="21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……. </a:t>
            </a:r>
            <a:r>
              <a:rPr b="1" i="0" lang="en" sz="21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perawakan </a:t>
            </a:r>
            <a:r>
              <a:rPr b="1" lang="en" sz="21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……..</a:t>
            </a:r>
            <a:endParaRPr b="1" i="0" sz="21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PEMERIKSAAN FISIS</a:t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>
            <a:off x="457199" y="1414619"/>
            <a:ext cx="8309100" cy="404400"/>
          </a:xfrm>
          <a:prstGeom prst="rect">
            <a:avLst/>
          </a:prstGeom>
          <a:gradFill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Keadaan Umum</a:t>
            </a:r>
            <a:endParaRPr sz="1100"/>
          </a:p>
        </p:txBody>
      </p:sp>
      <p:sp>
        <p:nvSpPr>
          <p:cNvPr id="230" name="Google Shape;230;p34"/>
          <p:cNvSpPr txBox="1"/>
          <p:nvPr/>
        </p:nvSpPr>
        <p:spPr>
          <a:xfrm>
            <a:off x="461547" y="1915983"/>
            <a:ext cx="8304900" cy="3462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Kesadaran ……..(GCS ……..)</a:t>
            </a:r>
            <a:endParaRPr sz="1100"/>
          </a:p>
        </p:txBody>
      </p:sp>
      <p:sp>
        <p:nvSpPr>
          <p:cNvPr id="231" name="Google Shape;231;p34"/>
          <p:cNvSpPr/>
          <p:nvPr/>
        </p:nvSpPr>
        <p:spPr>
          <a:xfrm>
            <a:off x="457199" y="2482514"/>
            <a:ext cx="8309100" cy="404400"/>
          </a:xfrm>
          <a:prstGeom prst="rect">
            <a:avLst/>
          </a:prstGeom>
          <a:gradFill>
            <a:gsLst>
              <a:gs pos="0">
                <a:srgbClr val="19A0D2"/>
              </a:gs>
              <a:gs pos="100000">
                <a:srgbClr val="39C0F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98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Tanda Vital</a:t>
            </a:r>
            <a:endParaRPr sz="1100"/>
          </a:p>
        </p:txBody>
      </p:sp>
      <p:sp>
        <p:nvSpPr>
          <p:cNvPr id="232" name="Google Shape;232;p34"/>
          <p:cNvSpPr txBox="1"/>
          <p:nvPr/>
        </p:nvSpPr>
        <p:spPr>
          <a:xfrm>
            <a:off x="461547" y="3002055"/>
            <a:ext cx="8304900" cy="14547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Tekanan darah: 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Laju nadi: 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Laju napas: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Suhu: 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SpO2: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35"/>
          <p:cNvGraphicFramePr/>
          <p:nvPr/>
        </p:nvGraphicFramePr>
        <p:xfrm>
          <a:off x="293846" y="203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{E667B94E-01C8-474B-9A38-4F7B217D3190}</a:tableStyleId>
              </a:tblPr>
              <a:tblGrid>
                <a:gridCol w="1395425"/>
                <a:gridCol w="7173275"/>
              </a:tblGrid>
              <a:tr h="32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Deskripsi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</a:tr>
              <a:tr h="40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Kepala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Mata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Mulut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Leher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Dada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1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Jantung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Paru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Abdomen</a:t>
                      </a:r>
                      <a:endParaRPr sz="1100"/>
                    </a:p>
                  </a:txBody>
                  <a:tcPr marT="25700" marB="25700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00" marB="25700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Ekstremitas</a:t>
                      </a:r>
                      <a:endParaRPr sz="1100"/>
                    </a:p>
                  </a:txBody>
                  <a:tcPr marT="0" marB="0" marR="38575" marL="3857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575" marL="3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Kulit</a:t>
                      </a:r>
                      <a:endParaRPr sz="1100"/>
                    </a:p>
                  </a:txBody>
                  <a:tcPr marT="0" marB="0" marR="38575" marL="3857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wentieth Century"/>
                        <a:buNone/>
                      </a:pPr>
                      <a:r>
                        <a:t/>
                      </a:r>
                      <a:endParaRPr b="0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575" marL="3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DIAGNOSIS AWAL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87350" lvl="0" marL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wentieth Century"/>
              <a:buAutoNum type="arabicPeriod"/>
            </a:pPr>
            <a:r>
              <a:rPr lang="en"/>
              <a:t>……………………………………. (ICD 10…..)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TATA LAKSANA AWAL</a:t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PEMERIKSAAN PENUNJANG </a:t>
            </a:r>
            <a:br>
              <a:rPr lang="en"/>
            </a:br>
            <a:r>
              <a:rPr lang="en"/>
              <a:t>(LABORATORIUM, RADIOLOGI)</a:t>
            </a:r>
            <a:endParaRPr/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DIAGNOSIS AKHIR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87350" lvl="0" marL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wentieth Century"/>
              <a:buAutoNum type="arabicPeriod"/>
            </a:pPr>
            <a:r>
              <a:rPr lang="en"/>
              <a:t>……………………………….(ICD 10 …………)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TATA LAKSANA AKHIR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42900" y="3720103"/>
            <a:ext cx="5829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800"/>
              <a:buFont typeface="Twentieth Century"/>
              <a:buNone/>
            </a:pPr>
            <a:r>
              <a:rPr lang="en"/>
              <a:t>TERIMA KASIH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6457950" y="3720103"/>
            <a:ext cx="240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