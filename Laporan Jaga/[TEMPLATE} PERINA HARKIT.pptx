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B2813B87-FDD4-4536-AE7E-B8DB0656CFB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DBA043-12EB-499D-A2D6-7196235E9491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9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4FFC41-59F3-407A-8B45-B22BD51676B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36A168B-3EB3-40FB-B055-4B4937E191A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552A0A6-AC2F-402A-9084-8B8324076FF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59A362-1B9C-4CAD-B518-0D0341E2112E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9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DCB806-A9E9-4011-A3A1-9655B726D1C8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460CD8-554D-4C20-A6A1-1D36F7A651E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4800" cy="3427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320" cy="41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720" cy="456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42B887-D919-45AD-99AC-E0FCFE432F65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2F0605-AA59-4C75-BEF0-0DB8C7ACC9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CEDBDFE-B15B-4E93-AA18-E68C5A62B1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1BF4270-8969-4160-A7C4-77589F6BCC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A166AC6D-09F5-489A-B61E-4D96D8B36B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D12A9DE-4889-46EF-A339-CE61D93A72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CFE96B8-A48C-4E36-9F74-756008F74A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B712737-AAFC-4879-BE24-B6E757A361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C7ABEE20-54A3-48EF-9C0F-10734A8E152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9F22F2C-C1CF-45FB-B903-42E7C31222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5C507C1B-AE34-4985-8A6A-B72AF8BC84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4B0BCD6-5CD7-4286-B161-EEBC7B00C0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8676B131-6682-4C4A-94E8-CEEA432C39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ftr" idx="1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D1E8FD9-327E-4DC1-9488-694CBE53D95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ftr" idx="4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5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7E8392-5221-4E84-9C6F-946F07AA556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6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DD91C9-E7C7-40D9-80C3-505AF66278D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10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11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C6B300-CA66-467F-870B-8E64070E7D4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12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13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4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FBEBA14-BB64-4622-B94D-28F0D33EF3FE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dt" idx="15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6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7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D8D4516-1D9D-43C8-9B92-72B88C1D328B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dt" idx="18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ftr" idx="19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0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5C4CCF5-3DA0-457E-ACD0-252C737B8937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1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ftr" idx="22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3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333097-5582-44E5-B479-A211D56DF465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4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5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6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00BB86-5655-445E-B847-EE2100632691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7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ftr" idx="28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29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46BD535-EF45-4AFA-8595-2933AE7C430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30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ftr" idx="31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32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6292F33-070E-433B-A938-5BC657F53C3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dt" idx="33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100000" sy="100000" algn="tl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0;p16"/>
          <p:cNvSpPr/>
          <p:nvPr/>
        </p:nvSpPr>
        <p:spPr>
          <a:xfrm>
            <a:off x="203040" y="152280"/>
            <a:ext cx="11784600" cy="6552000"/>
          </a:xfrm>
          <a:prstGeom prst="rect">
            <a:avLst/>
          </a:prstGeom>
          <a:solidFill>
            <a:schemeClr val="lt1"/>
          </a:solidFill>
          <a:ln w="9525">
            <a:solidFill>
              <a:srgbClr val="4a7dba"/>
            </a:solidFill>
            <a:round/>
          </a:ln>
          <a:effectLst>
            <a:outerShdw blurRad="39960" dir="5400000" dist="20160" rotWithShape="0">
              <a:srgbClr val="000000">
                <a:alpha val="38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34"/>
          </p:nvPr>
        </p:nvSpPr>
        <p:spPr>
          <a:xfrm>
            <a:off x="4165560" y="6356520"/>
            <a:ext cx="385956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35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EEE8B0-FDBE-41FA-B8D5-0517A6004DA9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dt" idx="36"/>
          </p:nvPr>
        </p:nvSpPr>
        <p:spPr>
          <a:xfrm>
            <a:off x="60948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LAPORAN JAGA PERINATOLOGI</a:t>
            </a:r>
            <a:br>
              <a:rPr sz="4400"/>
            </a:b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Hari…., Tanggal ….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344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Mahasiswa: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Tim Jaga Perinatologi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DPJP Perinatologi 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92;p1"/>
          <p:cNvSpPr/>
          <p:nvPr/>
        </p:nvSpPr>
        <p:spPr>
          <a:xfrm>
            <a:off x="1707840" y="-551160"/>
            <a:ext cx="18360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7" name="Google Shape;93;p1" descr="Makara-ui-fk.png"/>
          <p:cNvPicPr/>
          <p:nvPr/>
        </p:nvPicPr>
        <p:blipFill>
          <a:blip r:embed="rId1"/>
          <a:stretch/>
        </p:blipFill>
        <p:spPr>
          <a:xfrm>
            <a:off x="558360" y="476640"/>
            <a:ext cx="1116360" cy="1501200"/>
          </a:xfrm>
          <a:prstGeom prst="rect">
            <a:avLst/>
          </a:prstGeom>
          <a:ln w="0">
            <a:noFill/>
          </a:ln>
        </p:spPr>
      </p:pic>
      <p:pic>
        <p:nvPicPr>
          <p:cNvPr id="78" name="" descr=""/>
          <p:cNvPicPr/>
          <p:nvPr/>
        </p:nvPicPr>
        <p:blipFill>
          <a:blip r:embed="rId2"/>
          <a:stretch/>
        </p:blipFill>
        <p:spPr>
          <a:xfrm>
            <a:off x="8242200" y="315000"/>
            <a:ext cx="3418200" cy="105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Identitas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80" name="Google Shape;101;p 2"/>
          <p:cNvGraphicFramePr/>
          <p:nvPr/>
        </p:nvGraphicFramePr>
        <p:xfrm>
          <a:off x="609480" y="1266120"/>
          <a:ext cx="10820160" cy="3534480"/>
        </p:xfrm>
        <a:graphic>
          <a:graphicData uri="http://schemas.openxmlformats.org/drawingml/2006/table">
            <a:tbl>
              <a:tblPr/>
              <a:tblGrid>
                <a:gridCol w="3184200"/>
                <a:gridCol w="7636320"/>
              </a:tblGrid>
              <a:tr h="45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Nama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Jenis kelamin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1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Usia/perawatan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Usia gestasi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Berat lahir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      gram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32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No. RM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27288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 </a:t>
                      </a: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55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Alamat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marL="35244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5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:</a:t>
                      </a:r>
                      <a:endParaRPr b="0" lang="en-US" sz="25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1440" marR="914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1" name="PlaceHolder 2"/>
          <p:cNvSpPr>
            <a:spLocks noGrp="1"/>
          </p:cNvSpPr>
          <p:nvPr>
            <p:ph type="sldNum" idx="40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241C53A-3391-45EA-A887-9A55E3EEE13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82" name="Google Shape;103;p 2"/>
          <p:cNvGrpSpPr/>
          <p:nvPr/>
        </p:nvGrpSpPr>
        <p:grpSpPr>
          <a:xfrm>
            <a:off x="604800" y="4838400"/>
            <a:ext cx="10981800" cy="1778400"/>
            <a:chOff x="604800" y="4838400"/>
            <a:chExt cx="10981800" cy="1778400"/>
          </a:xfrm>
        </p:grpSpPr>
        <p:sp>
          <p:nvSpPr>
            <p:cNvPr id="83" name="Google Shape;104;p 2"/>
            <p:cNvSpPr/>
            <p:nvPr/>
          </p:nvSpPr>
          <p:spPr>
            <a:xfrm>
              <a:off x="604800" y="5200200"/>
              <a:ext cx="10981800" cy="141660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f81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4" name="Google Shape;105;p 2"/>
            <p:cNvSpPr/>
            <p:nvPr/>
          </p:nvSpPr>
          <p:spPr>
            <a:xfrm>
              <a:off x="604800" y="5200200"/>
              <a:ext cx="10981800" cy="141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2480" rIns="852480" tIns="520560" bIns="17064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5" name="Google Shape;106;p 2"/>
            <p:cNvSpPr/>
            <p:nvPr/>
          </p:nvSpPr>
          <p:spPr>
            <a:xfrm>
              <a:off x="1153800" y="4838400"/>
              <a:ext cx="7686720" cy="73692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6" name="Google Shape;107;p 2"/>
            <p:cNvSpPr/>
            <p:nvPr/>
          </p:nvSpPr>
          <p:spPr>
            <a:xfrm>
              <a:off x="1189800" y="4874400"/>
              <a:ext cx="7614720" cy="66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520" rIns="29052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4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Keluhan Utama</a:t>
              </a: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113;p3"/>
          <p:cNvGrpSpPr/>
          <p:nvPr/>
        </p:nvGrpSpPr>
        <p:grpSpPr>
          <a:xfrm>
            <a:off x="609480" y="388080"/>
            <a:ext cx="10971720" cy="6080400"/>
            <a:chOff x="609480" y="388080"/>
            <a:chExt cx="10971720" cy="6080400"/>
          </a:xfrm>
        </p:grpSpPr>
        <p:sp>
          <p:nvSpPr>
            <p:cNvPr id="88" name="Google Shape;114;p3"/>
            <p:cNvSpPr/>
            <p:nvPr/>
          </p:nvSpPr>
          <p:spPr>
            <a:xfrm>
              <a:off x="609480" y="549000"/>
              <a:ext cx="10971720" cy="361224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bf50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115;p3"/>
            <p:cNvSpPr/>
            <p:nvPr/>
          </p:nvSpPr>
          <p:spPr>
            <a:xfrm>
              <a:off x="609480" y="549000"/>
              <a:ext cx="10971720" cy="3612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95640" bIns="120960" anchor="t">
              <a:noAutofit/>
            </a:bodyPr>
            <a:p>
              <a:pPr marL="171360" indent="-63360" algn="just">
                <a:lnSpc>
                  <a:spcPct val="90000"/>
                </a:lnSpc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63360" algn="just">
                <a:lnSpc>
                  <a:spcPct val="90000"/>
                </a:lnSpc>
                <a:spcBef>
                  <a:spcPts val="255"/>
                </a:spcBef>
                <a:tabLst>
                  <a:tab algn="l" pos="0"/>
                </a:tabLst>
              </a:pPr>
              <a:endParaRPr b="0" lang="en-US" sz="17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Google Shape;116;p3"/>
            <p:cNvSpPr/>
            <p:nvPr/>
          </p:nvSpPr>
          <p:spPr>
            <a:xfrm>
              <a:off x="1158120" y="388080"/>
              <a:ext cx="7679880" cy="440280"/>
            </a:xfrm>
            <a:prstGeom prst="roundRect">
              <a:avLst>
                <a:gd name="adj" fmla="val 16667"/>
              </a:avLst>
            </a:prstGeom>
            <a:solidFill>
              <a:srgbClr val="bf504d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" name="Google Shape;117;p3"/>
            <p:cNvSpPr/>
            <p:nvPr/>
          </p:nvSpPr>
          <p:spPr>
            <a:xfrm>
              <a:off x="1179720" y="409680"/>
              <a:ext cx="7636680" cy="39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19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KONSULTASI ANTENATAL</a:t>
              </a:r>
              <a:endParaRPr b="0" lang="en-US" sz="19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Google Shape;118;p3"/>
            <p:cNvSpPr/>
            <p:nvPr/>
          </p:nvSpPr>
          <p:spPr>
            <a:xfrm>
              <a:off x="609480" y="4494600"/>
              <a:ext cx="10971720" cy="197388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9bbb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3" name="Google Shape;119;p3"/>
            <p:cNvSpPr/>
            <p:nvPr/>
          </p:nvSpPr>
          <p:spPr>
            <a:xfrm>
              <a:off x="609480" y="4494600"/>
              <a:ext cx="10971720" cy="197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95640" bIns="128160" anchor="t">
              <a:noAutofit/>
            </a:bodyPr>
            <a:p>
              <a:pPr marL="171360" indent="-57240">
                <a:lnSpc>
                  <a:spcPct val="9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  <a:p>
              <a:pPr marL="171360" indent="-57240">
                <a:lnSpc>
                  <a:spcPct val="90000"/>
                </a:lnSpc>
                <a:spcBef>
                  <a:spcPts val="269"/>
                </a:spcBef>
                <a:tabLst>
                  <a:tab algn="l" pos="0"/>
                </a:tabLst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4" name="Google Shape;120;p3"/>
            <p:cNvSpPr/>
            <p:nvPr/>
          </p:nvSpPr>
          <p:spPr>
            <a:xfrm>
              <a:off x="1158120" y="4264920"/>
              <a:ext cx="7679880" cy="50904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5" name="Google Shape;121;p3"/>
            <p:cNvSpPr/>
            <p:nvPr/>
          </p:nvSpPr>
          <p:spPr>
            <a:xfrm>
              <a:off x="1183320" y="4289760"/>
              <a:ext cx="7630200" cy="45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19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USG FETOMATERNAL</a:t>
              </a:r>
              <a:endParaRPr b="0" lang="en-US" sz="19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6" name="PlaceHolder 1"/>
          <p:cNvSpPr>
            <a:spLocks noGrp="1"/>
          </p:cNvSpPr>
          <p:nvPr>
            <p:ph type="sldNum" idx="41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189E14E-2383-4032-B7E7-09BB6EB6A146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8" name="Google Shape;129;p4"/>
          <p:cNvGrpSpPr/>
          <p:nvPr/>
        </p:nvGrpSpPr>
        <p:grpSpPr>
          <a:xfrm>
            <a:off x="609480" y="1600200"/>
            <a:ext cx="10971720" cy="4516560"/>
            <a:chOff x="609480" y="1600200"/>
            <a:chExt cx="10971720" cy="4516560"/>
          </a:xfrm>
        </p:grpSpPr>
        <p:sp>
          <p:nvSpPr>
            <p:cNvPr id="99" name="Google Shape;130;p4"/>
            <p:cNvSpPr/>
            <p:nvPr/>
          </p:nvSpPr>
          <p:spPr>
            <a:xfrm>
              <a:off x="609480" y="1641240"/>
              <a:ext cx="10971720" cy="1284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9acc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0" name="Google Shape;131;p4"/>
            <p:cNvSpPr/>
            <p:nvPr/>
          </p:nvSpPr>
          <p:spPr>
            <a:xfrm>
              <a:off x="609480" y="1641240"/>
              <a:ext cx="10971720" cy="12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33360" bIns="177840" anchor="t">
              <a:noAutofit/>
            </a:bodyPr>
            <a:p>
              <a:pPr marL="228600" indent="-69840">
                <a:lnSpc>
                  <a:spcPct val="90000"/>
                </a:lnSpc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69840">
                <a:lnSpc>
                  <a:spcPct val="90000"/>
                </a:lnSpc>
                <a:spcBef>
                  <a:spcPts val="374"/>
                </a:spcBef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Google Shape;132;p4"/>
            <p:cNvSpPr/>
            <p:nvPr/>
          </p:nvSpPr>
          <p:spPr>
            <a:xfrm>
              <a:off x="1192320" y="1600200"/>
              <a:ext cx="8614440" cy="255960"/>
            </a:xfrm>
            <a:prstGeom prst="roundRect">
              <a:avLst>
                <a:gd name="adj" fmla="val 16667"/>
              </a:avLst>
            </a:prstGeom>
            <a:solidFill>
              <a:srgbClr val="49acc5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2" name="Google Shape;133;p4"/>
            <p:cNvSpPr/>
            <p:nvPr/>
          </p:nvSpPr>
          <p:spPr>
            <a:xfrm>
              <a:off x="1204920" y="1612800"/>
              <a:ext cx="8589240" cy="230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5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RIWAYAT PERSALINAN SEBELUMNYA</a:t>
              </a: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Google Shape;134;p4"/>
            <p:cNvSpPr/>
            <p:nvPr/>
          </p:nvSpPr>
          <p:spPr>
            <a:xfrm>
              <a:off x="609480" y="3025440"/>
              <a:ext cx="10971720" cy="12841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5fdf4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Google Shape;135;p4"/>
            <p:cNvSpPr/>
            <p:nvPr/>
          </p:nvSpPr>
          <p:spPr>
            <a:xfrm>
              <a:off x="609480" y="3025440"/>
              <a:ext cx="10971720" cy="128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33360" bIns="177840" anchor="t">
              <a:noAutofit/>
            </a:bodyPr>
            <a:p>
              <a:pPr marL="228600" indent="-69840">
                <a:lnSpc>
                  <a:spcPct val="90000"/>
                </a:lnSpc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69840">
                <a:lnSpc>
                  <a:spcPct val="90000"/>
                </a:lnSpc>
                <a:spcBef>
                  <a:spcPts val="374"/>
                </a:spcBef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5" name="Google Shape;136;p4"/>
            <p:cNvSpPr/>
            <p:nvPr/>
          </p:nvSpPr>
          <p:spPr>
            <a:xfrm>
              <a:off x="1158120" y="3000960"/>
              <a:ext cx="8682840" cy="251280"/>
            </a:xfrm>
            <a:prstGeom prst="roundRect">
              <a:avLst>
                <a:gd name="adj" fmla="val 16667"/>
              </a:avLst>
            </a:prstGeom>
            <a:solidFill>
              <a:srgbClr val="5fdf45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Google Shape;137;p4"/>
            <p:cNvSpPr/>
            <p:nvPr/>
          </p:nvSpPr>
          <p:spPr>
            <a:xfrm>
              <a:off x="1170720" y="3013200"/>
              <a:ext cx="8658000" cy="226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5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RIWAYAT PENYAKIT DAHULU</a:t>
              </a: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7" name="Google Shape;138;p4"/>
            <p:cNvSpPr/>
            <p:nvPr/>
          </p:nvSpPr>
          <p:spPr>
            <a:xfrm>
              <a:off x="609480" y="4411800"/>
              <a:ext cx="10971720" cy="170496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f6944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Google Shape;139;p4"/>
            <p:cNvSpPr/>
            <p:nvPr/>
          </p:nvSpPr>
          <p:spPr>
            <a:xfrm>
              <a:off x="609480" y="4411800"/>
              <a:ext cx="10971720" cy="1704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333360" bIns="177840" anchor="t">
              <a:noAutofit/>
            </a:bodyPr>
            <a:p>
              <a:pPr marL="228600" indent="-69840">
                <a:lnSpc>
                  <a:spcPct val="90000"/>
                </a:lnSpc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69840">
                <a:lnSpc>
                  <a:spcPct val="90000"/>
                </a:lnSpc>
                <a:spcBef>
                  <a:spcPts val="374"/>
                </a:spcBef>
                <a:tabLst>
                  <a:tab algn="l" pos="0"/>
                </a:tabLst>
              </a:pP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9" name="Google Shape;140;p4"/>
            <p:cNvSpPr/>
            <p:nvPr/>
          </p:nvSpPr>
          <p:spPr>
            <a:xfrm>
              <a:off x="1158120" y="4388760"/>
              <a:ext cx="8682840" cy="258480"/>
            </a:xfrm>
            <a:prstGeom prst="roundRect">
              <a:avLst>
                <a:gd name="adj" fmla="val 16667"/>
              </a:avLst>
            </a:prstGeom>
            <a:solidFill>
              <a:srgbClr val="f69444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Google Shape;141;p4"/>
            <p:cNvSpPr/>
            <p:nvPr/>
          </p:nvSpPr>
          <p:spPr>
            <a:xfrm>
              <a:off x="1171080" y="4401360"/>
              <a:ext cx="8657280" cy="23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5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RIWAYAT PENYAKIT KELUARGA</a:t>
              </a:r>
              <a:endParaRPr b="0" lang="en-US" sz="2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1" name="PlaceHolder 2"/>
          <p:cNvSpPr>
            <a:spLocks noGrp="1"/>
          </p:cNvSpPr>
          <p:nvPr>
            <p:ph type="sldNum" idx="42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E42BB5-B5C9-41C2-B504-E50348278CDA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3" name="Google Shape;149;p5"/>
          <p:cNvGrpSpPr/>
          <p:nvPr/>
        </p:nvGrpSpPr>
        <p:grpSpPr>
          <a:xfrm>
            <a:off x="609480" y="1600200"/>
            <a:ext cx="10971720" cy="3274560"/>
            <a:chOff x="609480" y="1600200"/>
            <a:chExt cx="10971720" cy="3274560"/>
          </a:xfrm>
        </p:grpSpPr>
        <p:sp>
          <p:nvSpPr>
            <p:cNvPr id="114" name="Google Shape;150;p5"/>
            <p:cNvSpPr/>
            <p:nvPr/>
          </p:nvSpPr>
          <p:spPr>
            <a:xfrm>
              <a:off x="609480" y="2084040"/>
              <a:ext cx="10971720" cy="279072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bf504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5" name="Google Shape;151;p5"/>
            <p:cNvSpPr/>
            <p:nvPr/>
          </p:nvSpPr>
          <p:spPr>
            <a:xfrm>
              <a:off x="609480" y="2084040"/>
              <a:ext cx="10971720" cy="279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1103760" bIns="170640" anchor="t">
              <a:noAutofit/>
            </a:bodyPr>
            <a:p>
              <a:pPr marL="268200" indent="-115920">
                <a:lnSpc>
                  <a:spcPct val="90000"/>
                </a:lnSpc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68200" indent="-1159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68200" indent="-1159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  <a:p>
              <a:pPr marL="268200" indent="-115920">
                <a:lnSpc>
                  <a:spcPct val="90000"/>
                </a:lnSpc>
                <a:spcBef>
                  <a:spcPts val="360"/>
                </a:spcBef>
                <a:tabLst>
                  <a:tab algn="l" pos="0"/>
                </a:tabLst>
              </a:pPr>
              <a:endParaRPr b="0" lang="en-US" sz="2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6" name="Google Shape;152;p5"/>
            <p:cNvSpPr/>
            <p:nvPr/>
          </p:nvSpPr>
          <p:spPr>
            <a:xfrm>
              <a:off x="1132200" y="1600200"/>
              <a:ext cx="9722520" cy="894960"/>
            </a:xfrm>
            <a:prstGeom prst="roundRect">
              <a:avLst>
                <a:gd name="adj" fmla="val 16667"/>
              </a:avLst>
            </a:prstGeom>
            <a:solidFill>
              <a:srgbClr val="bf504d"/>
            </a:solidFill>
            <a:ln w="38100">
              <a:solidFill>
                <a:srgbClr val="ffffff"/>
              </a:solidFill>
              <a:round/>
            </a:ln>
            <a:effectLst>
              <a:outerShdw blurRad="39960" dir="5400000" dist="20160" rotWithShape="0">
                <a:srgbClr val="000000">
                  <a:alpha val="38000"/>
                </a:srgbClr>
              </a:outerShdw>
            </a:effectLst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7" name="Google Shape;153;p5"/>
            <p:cNvSpPr/>
            <p:nvPr/>
          </p:nvSpPr>
          <p:spPr>
            <a:xfrm>
              <a:off x="1175760" y="1643760"/>
              <a:ext cx="9635040" cy="807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8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Persiapan Pertolongan Persalinan</a:t>
              </a:r>
              <a:endParaRPr b="0" lang="en-US" sz="2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304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Resusitasi neonatus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166040"/>
            <a:ext cx="109717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Bayi lahir secara ……… (proses persalinan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43080" indent="-19044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0" name="Google Shape;161;p6"/>
          <p:cNvGraphicFramePr/>
          <p:nvPr/>
        </p:nvGraphicFramePr>
        <p:xfrm>
          <a:off x="609480" y="2565000"/>
          <a:ext cx="10970640" cy="3974400"/>
        </p:xfrm>
        <a:graphic>
          <a:graphicData uri="http://schemas.openxmlformats.org/drawingml/2006/table">
            <a:tbl>
              <a:tblPr/>
              <a:tblGrid>
                <a:gridCol w="774000"/>
                <a:gridCol w="1244520"/>
                <a:gridCol w="1064160"/>
                <a:gridCol w="1161720"/>
                <a:gridCol w="840600"/>
                <a:gridCol w="840600"/>
                <a:gridCol w="815400"/>
                <a:gridCol w="4230000"/>
              </a:tblGrid>
              <a:tr h="5202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Usia (mnt)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Apnoe/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merintih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Retraksi/NCH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Tonus 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SpO2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Nadi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Suhu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800" spc="-1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</a:rPr>
                        <a:t>Tindakan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8542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0 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5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376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376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55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508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Stabilisasi (S.T.A.B.L.E)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17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Safe care &amp; sugar :  mg/dL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Temperature :  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Airway: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Blood pressure: CRT     detik, nadi       x/menit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Lab works: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Emotional support: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69;p7"/>
          <p:cNvSpPr/>
          <p:nvPr/>
        </p:nvSpPr>
        <p:spPr>
          <a:xfrm>
            <a:off x="1836000" y="5853960"/>
            <a:ext cx="8518680" cy="50292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>
            <a:solidFill>
              <a:srgbClr val="dae5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Kesan: ……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Status Antropometri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3826440" cy="4420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BB :      gram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TB :     cm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LK :     cm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Ballard score:  minggu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43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FA449A-9DBF-4705-94B2-94BF76BC0160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8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7" name="Google Shape;177;p8"/>
          <p:cNvSpPr/>
          <p:nvPr/>
        </p:nvSpPr>
        <p:spPr>
          <a:xfrm>
            <a:off x="744480" y="4708800"/>
            <a:ext cx="3534480" cy="107892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 w="254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500" spc="-1" strike="noStrike">
                <a:solidFill>
                  <a:schemeClr val="dk1"/>
                </a:solidFill>
                <a:latin typeface="Calibri"/>
                <a:ea typeface="Calibri"/>
              </a:rPr>
              <a:t>Kesan:   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178;p8"/>
          <p:cNvSpPr/>
          <p:nvPr/>
        </p:nvSpPr>
        <p:spPr>
          <a:xfrm>
            <a:off x="8282520" y="3933000"/>
            <a:ext cx="44640" cy="70920"/>
          </a:xfrm>
          <a:prstGeom prst="ellipse">
            <a:avLst/>
          </a:prstGeom>
          <a:solidFill>
            <a:schemeClr val="accent1"/>
          </a:solidFill>
          <a:ln w="25400">
            <a:solidFill>
              <a:srgbClr val="395e8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5200" bIns="25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9" name="Google Shape;179;p8" descr=""/>
          <p:cNvPicPr/>
          <p:nvPr/>
        </p:nvPicPr>
        <p:blipFill>
          <a:blip r:embed="rId1"/>
          <a:stretch/>
        </p:blipFill>
        <p:spPr>
          <a:xfrm>
            <a:off x="4365720" y="1150560"/>
            <a:ext cx="3830040" cy="5062680"/>
          </a:xfrm>
          <a:prstGeom prst="rect">
            <a:avLst/>
          </a:prstGeom>
          <a:ln w="0">
            <a:noFill/>
          </a:ln>
        </p:spPr>
      </p:pic>
      <p:pic>
        <p:nvPicPr>
          <p:cNvPr id="130" name="Google Shape;180;p8" descr=""/>
          <p:cNvPicPr/>
          <p:nvPr/>
        </p:nvPicPr>
        <p:blipFill>
          <a:blip r:embed="rId2"/>
          <a:stretch/>
        </p:blipFill>
        <p:spPr>
          <a:xfrm>
            <a:off x="8184240" y="1204560"/>
            <a:ext cx="3758760" cy="5009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Pemeriksaan Fisis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2" name="Google Shape;186;p9"/>
          <p:cNvGrpSpPr/>
          <p:nvPr/>
        </p:nvGrpSpPr>
        <p:grpSpPr>
          <a:xfrm>
            <a:off x="609480" y="1660680"/>
            <a:ext cx="10971720" cy="4290120"/>
            <a:chOff x="609480" y="1660680"/>
            <a:chExt cx="10971720" cy="4290120"/>
          </a:xfrm>
        </p:grpSpPr>
        <p:sp>
          <p:nvSpPr>
            <p:cNvPr id="133" name="Google Shape;187;p9"/>
            <p:cNvSpPr/>
            <p:nvPr/>
          </p:nvSpPr>
          <p:spPr>
            <a:xfrm>
              <a:off x="609480" y="1970640"/>
              <a:ext cx="10971720" cy="122256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f81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" name="Google Shape;188;p9"/>
            <p:cNvSpPr/>
            <p:nvPr/>
          </p:nvSpPr>
          <p:spPr>
            <a:xfrm>
              <a:off x="609480" y="1970640"/>
              <a:ext cx="10971720" cy="122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437400" bIns="149400" anchor="t">
              <a:noAutofit/>
            </a:bodyPr>
            <a:p>
              <a:pPr marL="228600" indent="-95400">
                <a:lnSpc>
                  <a:spcPct val="90000"/>
                </a:lnSpc>
                <a:tabLst>
                  <a:tab algn="l" pos="0"/>
                </a:tabLst>
              </a:pP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 indent="-95400">
                <a:lnSpc>
                  <a:spcPct val="90000"/>
                </a:lnSpc>
                <a:spcBef>
                  <a:spcPts val="315"/>
                </a:spcBef>
                <a:tabLst>
                  <a:tab algn="l" pos="0"/>
                </a:tabLst>
              </a:pP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Google Shape;189;p9"/>
            <p:cNvSpPr/>
            <p:nvPr/>
          </p:nvSpPr>
          <p:spPr>
            <a:xfrm>
              <a:off x="1158120" y="1660680"/>
              <a:ext cx="7679880" cy="6188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Google Shape;190;p9"/>
            <p:cNvSpPr/>
            <p:nvPr/>
          </p:nvSpPr>
          <p:spPr>
            <a:xfrm>
              <a:off x="1188360" y="1691280"/>
              <a:ext cx="7619400" cy="55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1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Keadaan Umum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Google Shape;191;p9"/>
            <p:cNvSpPr/>
            <p:nvPr/>
          </p:nvSpPr>
          <p:spPr>
            <a:xfrm>
              <a:off x="609480" y="3504240"/>
              <a:ext cx="10971720" cy="2446560"/>
            </a:xfrm>
            <a:prstGeom prst="rect">
              <a:avLst/>
            </a:prstGeom>
            <a:solidFill>
              <a:schemeClr val="lt1">
                <a:alpha val="90000"/>
              </a:schemeClr>
            </a:solidFill>
            <a:ln w="25400">
              <a:solidFill>
                <a:srgbClr val="4f81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Google Shape;192;p9"/>
            <p:cNvSpPr/>
            <p:nvPr/>
          </p:nvSpPr>
          <p:spPr>
            <a:xfrm>
              <a:off x="609480" y="3504240"/>
              <a:ext cx="10971720" cy="2446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51760" rIns="851760" tIns="437400" bIns="163440" anchor="t">
              <a:noAutofit/>
            </a:bodyPr>
            <a:p>
              <a:pPr marL="228600" indent="-82440">
                <a:lnSpc>
                  <a:spcPct val="90000"/>
                </a:lnSpc>
                <a:tabLst>
                  <a:tab algn="l" pos="0"/>
                </a:tabLst>
              </a:pP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Denyut jantung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 x/menit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Laju napas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x/menit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Suhu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  C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  <a:p>
              <a:pPr lvl="1" marL="228600" indent="-228600">
                <a:lnSpc>
                  <a:spcPct val="90000"/>
                </a:lnSpc>
                <a:spcBef>
                  <a:spcPts val="346"/>
                </a:spcBef>
                <a:buClr>
                  <a:srgbClr val="000000"/>
                </a:buClr>
                <a:buFont typeface="Calibri"/>
                <a:buChar char="•"/>
                <a:tabLst>
                  <a:tab algn="l" pos="0"/>
                </a:tabLst>
              </a:pP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Saturasi O</a:t>
              </a:r>
              <a:r>
                <a:rPr b="0" lang="en-US" sz="2300" spc="-1" strike="noStrike" baseline="-25000">
                  <a:solidFill>
                    <a:schemeClr val="dk1"/>
                  </a:solidFill>
                  <a:latin typeface="Calibri"/>
                  <a:ea typeface="Calibri"/>
                </a:rPr>
                <a:t>2</a:t>
              </a:r>
              <a:r>
                <a:rPr b="0" lang="en-US" sz="2300" spc="-1" strike="noStrike" baseline="-25000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 baseline="-25000">
                  <a:solidFill>
                    <a:schemeClr val="dk1"/>
                  </a:solidFill>
                  <a:latin typeface="Calibri"/>
                  <a:ea typeface="Calibri"/>
                </a:rPr>
                <a:t>	</a:t>
              </a:r>
              <a:r>
                <a:rPr b="0" lang="en-US" sz="2300" spc="-1" strike="noStrike">
                  <a:solidFill>
                    <a:schemeClr val="dk1"/>
                  </a:solidFill>
                  <a:latin typeface="Calibri"/>
                  <a:ea typeface="Calibri"/>
                </a:rPr>
                <a:t>:    %</a:t>
              </a:r>
              <a:endParaRPr b="0" lang="en-US" sz="23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Google Shape;193;p9"/>
            <p:cNvSpPr/>
            <p:nvPr/>
          </p:nvSpPr>
          <p:spPr>
            <a:xfrm>
              <a:off x="1158120" y="3308040"/>
              <a:ext cx="7679880" cy="61884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25400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0" name="Google Shape;194;p9"/>
            <p:cNvSpPr/>
            <p:nvPr/>
          </p:nvSpPr>
          <p:spPr>
            <a:xfrm>
              <a:off x="1188360" y="3338280"/>
              <a:ext cx="7619400" cy="558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290160" rIns="290160" tIns="0" bIns="0" anchor="ctr">
              <a:noAutofit/>
            </a:bodyPr>
            <a:p>
              <a:pPr>
                <a:lnSpc>
                  <a:spcPct val="90000"/>
                </a:lnSpc>
                <a:tabLst>
                  <a:tab algn="l" pos="0"/>
                </a:tabLst>
              </a:pPr>
              <a:r>
                <a:rPr b="1" lang="en-US" sz="2100" spc="-1" strike="noStrike">
                  <a:solidFill>
                    <a:schemeClr val="lt1"/>
                  </a:solidFill>
                  <a:latin typeface="Calibri"/>
                  <a:ea typeface="Calibri"/>
                </a:rPr>
                <a:t>Tanda Vital</a:t>
              </a:r>
              <a:endParaRPr b="0" lang="en-US" sz="2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1" name="PlaceHolder 2"/>
          <p:cNvSpPr>
            <a:spLocks noGrp="1"/>
          </p:cNvSpPr>
          <p:nvPr>
            <p:ph type="sldNum" idx="44"/>
          </p:nvPr>
        </p:nvSpPr>
        <p:spPr>
          <a:xfrm>
            <a:off x="8737560" y="6356520"/>
            <a:ext cx="2843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88888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EA55BE-2057-4C04-9F74-9F066FB1BB6F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9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2" name="Google Shape;200;p10"/>
          <p:cNvGraphicFramePr/>
          <p:nvPr/>
        </p:nvGraphicFramePr>
        <p:xfrm>
          <a:off x="609480" y="342000"/>
          <a:ext cx="10972080" cy="6396480"/>
        </p:xfrm>
        <a:graphic>
          <a:graphicData uri="http://schemas.openxmlformats.org/drawingml/2006/table">
            <a:tbl>
              <a:tblPr/>
              <a:tblGrid>
                <a:gridCol w="1904040"/>
                <a:gridCol w="9068400"/>
              </a:tblGrid>
              <a:tr h="3646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ORGAN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2400" spc="-1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</a:rPr>
                        <a:t>DESKRIPSI</a:t>
                      </a:r>
                      <a:endParaRPr b="0" lang="en-US" sz="2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</a:tr>
              <a:tr h="6454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Kepala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</a:rPr>
                        <a:t>Terdapat caput succedaneum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Mata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3964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THT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66276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Mulut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9580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Dada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59580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Jantung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Paru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48960" rIns="489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48960" marR="489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364680">
                <a:tc>
                  <a:txBody>
                    <a:bodyPr lIns="65160" rIns="651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Abdomen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65160" rIns="6516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5160" marR="651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893520">
                <a:tc>
                  <a:txBody>
                    <a:bodyPr lIns="51120" rIns="511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Ekstremitas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1120" rIns="511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  <a:tr h="297720">
                <a:tc>
                  <a:txBody>
                    <a:bodyPr lIns="51120" rIns="511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24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Genitalia</a:t>
                      </a:r>
                      <a:endParaRPr b="0" lang="en-US" sz="2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46aac5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51120" rIns="511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51120" marR="511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46aac5"/>
                      </a:solidFill>
                      <a:prstDash val="solid"/>
                    </a:lnR>
                    <a:lnT w="9360">
                      <a:solidFill>
                        <a:srgbClr val="46aac5"/>
                      </a:solidFill>
                      <a:prstDash val="solid"/>
                    </a:lnT>
                    <a:lnB w="9360">
                      <a:solidFill>
                        <a:srgbClr val="46aac5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Diagnosis (ICD 10)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922968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6197760" y="1600200"/>
            <a:ext cx="53838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Laboratorium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47" name="Google Shape;213;p12"/>
          <p:cNvGraphicFramePr/>
          <p:nvPr/>
        </p:nvGraphicFramePr>
        <p:xfrm>
          <a:off x="609480" y="1600200"/>
          <a:ext cx="5821560" cy="5905440"/>
        </p:xfrm>
        <a:graphic>
          <a:graphicData uri="http://schemas.openxmlformats.org/drawingml/2006/table">
            <a:tbl>
              <a:tblPr/>
              <a:tblGrid>
                <a:gridCol w="1455480"/>
                <a:gridCol w="1455480"/>
                <a:gridCol w="1455480"/>
                <a:gridCol w="1455480"/>
              </a:tblGrid>
              <a:tr h="513360"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Pemeriksaan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Nilai Rujukan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Unit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Hasil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8cb3e3"/>
                    </a:solidFill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Hemoglobin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14.0 - 22.0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g/dL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Hematokrit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24.0 - 75.0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Eritrosit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5.00 - 7.00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10^6/µL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2984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MCV/VER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100.0 - 120.0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fL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MCH/HER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31.0 - 37.0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pg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MCHC/KHER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30.0 - 36.0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g/dL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33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Jumlah Trombosit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100 - 450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10^3/µL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33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Jumlah Leukosit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10.00 - 26.00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10^3/µL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Basofil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0 - 2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Eosinofil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1 - 6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Neutrofil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40.0 - 80.0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Limfosit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20 - 40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82960">
                <a:tc>
                  <a:txBody>
                    <a:bodyPr lIns="25920" rIns="259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</a:rPr>
                        <a:t>Monosit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2 - 10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pc="-1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</a:rPr>
                        <a:t>%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25920" rIns="25920" anchor="ctr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25920" marR="259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8" name="Google Shape;214;p12"/>
          <p:cNvSpPr/>
          <p:nvPr/>
        </p:nvSpPr>
        <p:spPr>
          <a:xfrm>
            <a:off x="6774840" y="5589360"/>
            <a:ext cx="4823280" cy="821160"/>
          </a:xfrm>
          <a:prstGeom prst="rect">
            <a:avLst/>
          </a:prstGeom>
          <a:noFill/>
          <a:ln w="9525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ea typeface="Calibri"/>
              </a:rPr>
              <a:t>Kesan: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Radiologi (kalau ada)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197760" y="1600200"/>
            <a:ext cx="53838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09480" y="1600200"/>
            <a:ext cx="538380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1720" cy="114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Tata Laksana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609480" y="1600200"/>
            <a:ext cx="10971720" cy="452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Termoregulasi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Oksigenasi adekuat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Nutrisi &amp; cairan adekuat 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Atasi infeksi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Pemantauan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	</a:t>
            </a:r>
            <a:r>
              <a:rPr b="0" lang="en-US" sz="3200" spc="-1" strike="noStrike">
                <a:solidFill>
                  <a:schemeClr val="dk1"/>
                </a:solidFill>
                <a:latin typeface="Calibri"/>
                <a:ea typeface="Calibri"/>
              </a:rPr>
              <a:t>: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240" cy="146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chemeClr val="dk2"/>
                </a:solidFill>
                <a:latin typeface="Calibri"/>
                <a:ea typeface="Calibri"/>
              </a:rPr>
              <a:t>Terima Kasih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1828800" y="3886200"/>
            <a:ext cx="8533440" cy="1751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Laporan Jaga IG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2013-11-15T04:27:30Z</dcterms:created>
  <dc:creator>Ludi Dhyani Rahmartani</dc:creator>
  <dc:description/>
  <dc:language>en-US</dc:language>
  <cp:lastModifiedBy/>
  <dcterms:modified xsi:type="dcterms:W3CDTF">2026-10-05T22:11:29Z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