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12192000"/>
  <p:notesSz cx="6858000" cy="9144000"/>
  <p:embeddedFontLst>
    <p:embeddedFont>
      <p:font typeface="Tahoma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4" roundtripDataSignature="AMtx7mj8Y8Z2HK7gRVm1XKaa/rSvaFB0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AD8F807-4859-491D-8D53-81D1F0AABB23}">
  <a:tblStyle styleId="{1AD8F807-4859-491D-8D53-81D1F0AABB2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F3B64974-7A85-47A6-822E-22721FDA8DC2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72746FA7-7730-4929-8074-B4637D000B6B}" styleName="Table_2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font" Target="fonts/Tahoma-regular.fntdata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24" Type="http://customschemas.google.com/relationships/presentationmetadata" Target="metadata"/><Relationship Id="rId12" Type="http://schemas.openxmlformats.org/officeDocument/2006/relationships/slide" Target="slides/slide6.xml"/><Relationship Id="rId23" Type="http://schemas.openxmlformats.org/officeDocument/2006/relationships/font" Target="fonts/Tahoma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7"/>
          <p:cNvSpPr txBox="1"/>
          <p:nvPr>
            <p:ph type="ctrTitle"/>
          </p:nvPr>
        </p:nvSpPr>
        <p:spPr>
          <a:xfrm>
            <a:off x="914400" y="2130431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7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" name="Google Shape;19;p17"/>
          <p:cNvSpPr txBox="1"/>
          <p:nvPr>
            <p:ph idx="10" type="dt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1" type="ftr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2" type="sldNum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" type="body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0" type="dt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11" type="ftr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2" type="sldNum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9"/>
          <p:cNvSpPr txBox="1"/>
          <p:nvPr>
            <p:ph idx="1" type="body"/>
          </p:nvPr>
        </p:nvSpPr>
        <p:spPr>
          <a:xfrm>
            <a:off x="609600" y="1600206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1" name="Google Shape;31;p19"/>
          <p:cNvSpPr txBox="1"/>
          <p:nvPr>
            <p:ph idx="2" type="body"/>
          </p:nvPr>
        </p:nvSpPr>
        <p:spPr>
          <a:xfrm>
            <a:off x="6197600" y="1600206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9"/>
          <p:cNvSpPr txBox="1"/>
          <p:nvPr>
            <p:ph idx="10" type="dt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1" type="ftr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2" type="sldNum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0"/>
          <p:cNvSpPr txBox="1"/>
          <p:nvPr>
            <p:ph type="title"/>
          </p:nvPr>
        </p:nvSpPr>
        <p:spPr>
          <a:xfrm>
            <a:off x="963084" y="4406903"/>
            <a:ext cx="10363200" cy="13620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0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8" name="Google Shape;38;p20"/>
          <p:cNvSpPr txBox="1"/>
          <p:nvPr>
            <p:ph idx="10" type="dt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1" type="ftr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12" type="sldNum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1"/>
          <p:cNvSpPr txBox="1"/>
          <p:nvPr>
            <p:ph idx="1" type="body"/>
          </p:nvPr>
        </p:nvSpPr>
        <p:spPr>
          <a:xfrm>
            <a:off x="609600" y="1535114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21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5" name="Google Shape;45;p21"/>
          <p:cNvSpPr txBox="1"/>
          <p:nvPr>
            <p:ph idx="3" type="body"/>
          </p:nvPr>
        </p:nvSpPr>
        <p:spPr>
          <a:xfrm>
            <a:off x="6193368" y="1535114"/>
            <a:ext cx="538903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21"/>
          <p:cNvSpPr txBox="1"/>
          <p:nvPr>
            <p:ph idx="4" type="body"/>
          </p:nvPr>
        </p:nvSpPr>
        <p:spPr>
          <a:xfrm>
            <a:off x="6193368" y="2174875"/>
            <a:ext cx="538903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7" name="Google Shape;47;p21"/>
          <p:cNvSpPr txBox="1"/>
          <p:nvPr>
            <p:ph idx="10" type="dt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1" type="ftr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0" type="dt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1" type="ftr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2"/>
          <p:cNvSpPr txBox="1"/>
          <p:nvPr>
            <p:ph idx="12" type="sldNum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3"/>
          <p:cNvSpPr txBox="1"/>
          <p:nvPr>
            <p:ph idx="10" type="dt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3"/>
          <p:cNvSpPr txBox="1"/>
          <p:nvPr>
            <p:ph idx="11" type="ftr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3"/>
          <p:cNvSpPr txBox="1"/>
          <p:nvPr>
            <p:ph idx="12" type="sldNum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4"/>
          <p:cNvSpPr txBox="1"/>
          <p:nvPr>
            <p:ph type="title"/>
          </p:nvPr>
        </p:nvSpPr>
        <p:spPr>
          <a:xfrm>
            <a:off x="609603" y="273051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4"/>
          <p:cNvSpPr txBox="1"/>
          <p:nvPr>
            <p:ph idx="1" type="body"/>
          </p:nvPr>
        </p:nvSpPr>
        <p:spPr>
          <a:xfrm>
            <a:off x="4766736" y="273056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24"/>
          <p:cNvSpPr txBox="1"/>
          <p:nvPr>
            <p:ph idx="2" type="body"/>
          </p:nvPr>
        </p:nvSpPr>
        <p:spPr>
          <a:xfrm>
            <a:off x="609603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3" name="Google Shape;63;p24"/>
          <p:cNvSpPr txBox="1"/>
          <p:nvPr>
            <p:ph idx="10" type="dt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4"/>
          <p:cNvSpPr txBox="1"/>
          <p:nvPr>
            <p:ph idx="11" type="ftr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4"/>
          <p:cNvSpPr txBox="1"/>
          <p:nvPr>
            <p:ph idx="12" type="sldNum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5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5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5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0" name="Google Shape;70;p25"/>
          <p:cNvSpPr txBox="1"/>
          <p:nvPr>
            <p:ph idx="10" type="dt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1" type="ftr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2" type="sldNum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6"/>
          <p:cNvSpPr txBox="1"/>
          <p:nvPr>
            <p:ph idx="1" type="body"/>
          </p:nvPr>
        </p:nvSpPr>
        <p:spPr>
          <a:xfrm rot="5400000">
            <a:off x="3833019" y="-1623215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0" type="dt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1" type="ftr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2" type="sldNum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7"/>
          <p:cNvSpPr txBox="1"/>
          <p:nvPr>
            <p:ph type="title"/>
          </p:nvPr>
        </p:nvSpPr>
        <p:spPr>
          <a:xfrm rot="5400000">
            <a:off x="7285038" y="1828806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7"/>
          <p:cNvSpPr txBox="1"/>
          <p:nvPr>
            <p:ph idx="1" type="body"/>
          </p:nvPr>
        </p:nvSpPr>
        <p:spPr>
          <a:xfrm rot="5400000">
            <a:off x="1697038" y="-812794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27"/>
          <p:cNvSpPr txBox="1"/>
          <p:nvPr>
            <p:ph idx="10" type="dt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7"/>
          <p:cNvSpPr txBox="1"/>
          <p:nvPr>
            <p:ph idx="11" type="ftr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7"/>
          <p:cNvSpPr txBox="1"/>
          <p:nvPr>
            <p:ph idx="12" type="sldNum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none" tx="0" sx="100000" ty="0" sy="100000"/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/>
          <p:nvPr/>
        </p:nvSpPr>
        <p:spPr>
          <a:xfrm>
            <a:off x="203200" y="152400"/>
            <a:ext cx="11785600" cy="6553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6"/>
          <p:cNvSpPr txBox="1"/>
          <p:nvPr>
            <p:ph idx="1" type="body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6"/>
          <p:cNvSpPr txBox="1"/>
          <p:nvPr>
            <p:ph idx="10" type="dt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6"/>
          <p:cNvSpPr txBox="1"/>
          <p:nvPr>
            <p:ph idx="11" type="ftr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16"/>
          <p:cNvSpPr txBox="1"/>
          <p:nvPr>
            <p:ph idx="12" type="sldNum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>
            <p:ph type="ctrTitle"/>
          </p:nvPr>
        </p:nvSpPr>
        <p:spPr>
          <a:xfrm>
            <a:off x="914400" y="2130431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LAPORAN JAGA PERINATOLOGI</a:t>
            </a:r>
            <a:br>
              <a:rPr lang="en-US"/>
            </a:br>
            <a:r>
              <a:rPr lang="en-US"/>
              <a:t>Hari…., Tanggal ….</a:t>
            </a:r>
            <a:endParaRPr/>
          </a:p>
        </p:txBody>
      </p:sp>
      <p:sp>
        <p:nvSpPr>
          <p:cNvPr id="91" name="Google Shape;91;p1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/>
              <a:t>Mahasiswa: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/>
              <a:t>Tim Jaga Perinatologi	: 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/>
              <a:t>DPJP Perinatologi :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1707698" y="-551090"/>
            <a:ext cx="18466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akara-ui-fk.png" id="93" name="Google Shape;9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8274" y="476672"/>
            <a:ext cx="1117600" cy="15024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LudiDhyani\Pictures\logo-RSCM.jpg" id="94" name="Google Shape;9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65022" y="620688"/>
            <a:ext cx="2297956" cy="8369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Identitas </a:t>
            </a:r>
            <a:endParaRPr/>
          </a:p>
        </p:txBody>
      </p:sp>
      <p:graphicFrame>
        <p:nvGraphicFramePr>
          <p:cNvPr id="101" name="Google Shape;101;p2"/>
          <p:cNvGraphicFramePr/>
          <p:nvPr/>
        </p:nvGraphicFramePr>
        <p:xfrm>
          <a:off x="609600" y="144623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{1AD8F807-4859-491D-8D53-81D1F0AABB23}</a:tableStyleId>
              </a:tblPr>
              <a:tblGrid>
                <a:gridCol w="2310225"/>
                <a:gridCol w="5540075"/>
              </a:tblGrid>
              <a:tr h="4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500" u="none" cap="none" strike="noStrike"/>
                        <a:t>Nama</a:t>
                      </a:r>
                      <a:endParaRPr b="1" sz="25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52425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500"/>
                        <a:t>: 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6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500"/>
                        <a:t>Jenis kelamin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52425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500"/>
                        <a:t>: 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6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500"/>
                        <a:t>Usia/perawatan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52425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500"/>
                        <a:t>: </a:t>
                      </a:r>
                      <a:endParaRPr b="0" sz="25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6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500"/>
                        <a:t>Usia gestasi</a:t>
                      </a:r>
                      <a:endParaRPr b="1" sz="25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52425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500"/>
                        <a:t>: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6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500"/>
                        <a:t>Berat lahir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52425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500"/>
                        <a:t>:      gram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6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500"/>
                        <a:t>No. RM</a:t>
                      </a:r>
                      <a:endParaRPr b="1" sz="25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2730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500"/>
                        <a:t> :</a:t>
                      </a:r>
                      <a:endParaRPr b="0" sz="25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6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500"/>
                        <a:t>Alamat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52425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500"/>
                        <a:t>:</a:t>
                      </a:r>
                      <a:endParaRPr b="0" sz="25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6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5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52425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5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2" name="Google Shape;102;p2"/>
          <p:cNvSpPr txBox="1"/>
          <p:nvPr>
            <p:ph idx="12" type="sldNum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03" name="Google Shape;103;p2"/>
          <p:cNvGrpSpPr/>
          <p:nvPr/>
        </p:nvGrpSpPr>
        <p:grpSpPr>
          <a:xfrm>
            <a:off x="599628" y="4745561"/>
            <a:ext cx="10982772" cy="1779360"/>
            <a:chOff x="0" y="6849"/>
            <a:chExt cx="10982772" cy="1779360"/>
          </a:xfrm>
        </p:grpSpPr>
        <p:sp>
          <p:nvSpPr>
            <p:cNvPr id="104" name="Google Shape;104;p2"/>
            <p:cNvSpPr/>
            <p:nvPr/>
          </p:nvSpPr>
          <p:spPr>
            <a:xfrm>
              <a:off x="0" y="368709"/>
              <a:ext cx="10982772" cy="14175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2"/>
            <p:cNvSpPr txBox="1"/>
            <p:nvPr/>
          </p:nvSpPr>
          <p:spPr>
            <a:xfrm>
              <a:off x="0" y="368709"/>
              <a:ext cx="10982772" cy="141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70675" lIns="852375" spcFirstLastPara="1" rIns="852375" wrap="square" tIns="520700">
              <a:noAutofit/>
            </a:bodyPr>
            <a:lstStyle/>
            <a:p>
              <a:pPr indent="-762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76200" lvl="1" marL="228600" marR="0" rtl="0" algn="l">
                <a:lnSpc>
                  <a:spcPct val="9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549138" y="6849"/>
              <a:ext cx="7687940" cy="7380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2"/>
            <p:cNvSpPr txBox="1"/>
            <p:nvPr/>
          </p:nvSpPr>
          <p:spPr>
            <a:xfrm>
              <a:off x="585164" y="42875"/>
              <a:ext cx="7615888" cy="6659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90575" spcFirstLastPara="1" rIns="2905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None/>
              </a:pPr>
              <a:r>
                <a:rPr b="1"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Keluhan Utama</a:t>
              </a:r>
              <a:endParaRPr b="1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3"/>
          <p:cNvGrpSpPr/>
          <p:nvPr/>
        </p:nvGrpSpPr>
        <p:grpSpPr>
          <a:xfrm>
            <a:off x="609600" y="388197"/>
            <a:ext cx="10972800" cy="6081605"/>
            <a:chOff x="0" y="19537"/>
            <a:chExt cx="10972800" cy="6081605"/>
          </a:xfrm>
        </p:grpSpPr>
        <p:sp>
          <p:nvSpPr>
            <p:cNvPr id="114" name="Google Shape;114;p3"/>
            <p:cNvSpPr/>
            <p:nvPr/>
          </p:nvSpPr>
          <p:spPr>
            <a:xfrm>
              <a:off x="0" y="180347"/>
              <a:ext cx="10972800" cy="3613284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flat" cmpd="sng" w="25400">
              <a:solidFill>
                <a:srgbClr val="BF5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3"/>
            <p:cNvSpPr txBox="1"/>
            <p:nvPr/>
          </p:nvSpPr>
          <p:spPr>
            <a:xfrm>
              <a:off x="0" y="180347"/>
              <a:ext cx="10972800" cy="36132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0900" lIns="851600" spcFirstLastPara="1" rIns="851600" wrap="square" tIns="395725">
              <a:noAutofit/>
            </a:bodyPr>
            <a:lstStyle/>
            <a:p>
              <a:pPr indent="-63500" lvl="1" marL="171450" marR="0" rtl="0" algn="just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t/>
              </a:r>
              <a:endParaRPr b="0" i="0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63500" lvl="1" marL="171450" marR="0" rtl="0" algn="just">
                <a:lnSpc>
                  <a:spcPct val="90000"/>
                </a:lnSpc>
                <a:spcBef>
                  <a:spcPts val="255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t/>
              </a:r>
              <a:endParaRPr b="0" i="0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63500" lvl="1" marL="171450" marR="0" rtl="0" algn="just">
                <a:lnSpc>
                  <a:spcPct val="90000"/>
                </a:lnSpc>
                <a:spcBef>
                  <a:spcPts val="255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t/>
              </a:r>
              <a:endParaRPr b="0" i="0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63500" lvl="1" marL="171450" marR="0" rtl="0" algn="just">
                <a:lnSpc>
                  <a:spcPct val="90000"/>
                </a:lnSpc>
                <a:spcBef>
                  <a:spcPts val="255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t/>
              </a:r>
              <a:endParaRPr b="0" i="0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63500" lvl="1" marL="171450" marR="0" rtl="0" algn="just">
                <a:lnSpc>
                  <a:spcPct val="90000"/>
                </a:lnSpc>
                <a:spcBef>
                  <a:spcPts val="255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t/>
              </a:r>
              <a:endParaRPr b="0" i="0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63500" lvl="1" marL="171450" marR="0" rtl="0" algn="just">
                <a:lnSpc>
                  <a:spcPct val="90000"/>
                </a:lnSpc>
                <a:spcBef>
                  <a:spcPts val="255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t/>
              </a:r>
              <a:endParaRPr b="0" i="0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63500" lvl="1" marL="171450" marR="0" rtl="0" algn="just">
                <a:lnSpc>
                  <a:spcPct val="90000"/>
                </a:lnSpc>
                <a:spcBef>
                  <a:spcPts val="255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t/>
              </a:r>
              <a:endParaRPr b="0" i="0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63500" lvl="1" marL="171450" marR="0" rtl="0" algn="just">
                <a:lnSpc>
                  <a:spcPct val="90000"/>
                </a:lnSpc>
                <a:spcBef>
                  <a:spcPts val="255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t/>
              </a:r>
              <a:endParaRPr b="0" i="0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63500" lvl="1" marL="171450" marR="0" rtl="0" algn="just">
                <a:lnSpc>
                  <a:spcPct val="90000"/>
                </a:lnSpc>
                <a:spcBef>
                  <a:spcPts val="255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t/>
              </a:r>
              <a:endParaRPr b="0" i="0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63500" lvl="1" marL="171450" marR="0" rtl="0" algn="just">
                <a:lnSpc>
                  <a:spcPct val="90000"/>
                </a:lnSpc>
                <a:spcBef>
                  <a:spcPts val="255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t/>
              </a:r>
              <a:endParaRPr b="0" i="0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63500" lvl="1" marL="171450" marR="0" rtl="0" algn="just">
                <a:lnSpc>
                  <a:spcPct val="90000"/>
                </a:lnSpc>
                <a:spcBef>
                  <a:spcPts val="255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t/>
              </a:r>
              <a:endParaRPr b="0" i="0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3"/>
            <p:cNvSpPr/>
            <p:nvPr/>
          </p:nvSpPr>
          <p:spPr>
            <a:xfrm>
              <a:off x="548640" y="19537"/>
              <a:ext cx="7680960" cy="441249"/>
            </a:xfrm>
            <a:prstGeom prst="roundRect">
              <a:avLst>
                <a:gd fmla="val 16667" name="adj"/>
              </a:avLst>
            </a:prstGeom>
            <a:solidFill>
              <a:srgbClr val="BF504D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3"/>
            <p:cNvSpPr txBox="1"/>
            <p:nvPr/>
          </p:nvSpPr>
          <p:spPr>
            <a:xfrm>
              <a:off x="570180" y="41077"/>
              <a:ext cx="7637880" cy="3981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90300" spcFirstLastPara="1" rIns="29030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Calibri"/>
                <a:buNone/>
              </a:pPr>
              <a:r>
                <a:rPr b="1" i="0" lang="en-US" sz="19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KONSULTASI ANTENATAL</a:t>
              </a:r>
              <a:endParaRPr/>
            </a:p>
          </p:txBody>
        </p:sp>
        <p:sp>
          <p:nvSpPr>
            <p:cNvPr id="118" name="Google Shape;118;p3"/>
            <p:cNvSpPr/>
            <p:nvPr/>
          </p:nvSpPr>
          <p:spPr>
            <a:xfrm>
              <a:off x="0" y="4126092"/>
              <a:ext cx="10972800" cy="197505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flat" cmpd="sng" w="254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3"/>
            <p:cNvSpPr txBox="1"/>
            <p:nvPr/>
          </p:nvSpPr>
          <p:spPr>
            <a:xfrm>
              <a:off x="0" y="4126092"/>
              <a:ext cx="10972800" cy="1975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8000" lIns="851600" spcFirstLastPara="1" rIns="851600" wrap="square" tIns="395725">
              <a:noAutofit/>
            </a:bodyPr>
            <a:lstStyle/>
            <a:p>
              <a:pPr indent="-571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57150" lvl="1" marL="171450" marR="0" rtl="0" algn="l">
                <a:lnSpc>
                  <a:spcPct val="90000"/>
                </a:lnSpc>
                <a:spcBef>
                  <a:spcPts val="27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57150" lvl="1" marL="171450" marR="0" rtl="0" algn="l">
                <a:lnSpc>
                  <a:spcPct val="90000"/>
                </a:lnSpc>
                <a:spcBef>
                  <a:spcPts val="27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57150" lvl="1" marL="171450" marR="0" rtl="0" algn="l">
                <a:lnSpc>
                  <a:spcPct val="90000"/>
                </a:lnSpc>
                <a:spcBef>
                  <a:spcPts val="27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57150" lvl="1" marL="171450" marR="0" rtl="0" algn="l">
                <a:lnSpc>
                  <a:spcPct val="90000"/>
                </a:lnSpc>
                <a:spcBef>
                  <a:spcPts val="27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548640" y="3896232"/>
              <a:ext cx="7680960" cy="510299"/>
            </a:xfrm>
            <a:prstGeom prst="roundRect">
              <a:avLst>
                <a:gd fmla="val 16667" name="adj"/>
              </a:avLst>
            </a:prstGeom>
            <a:solidFill>
              <a:schemeClr val="accent3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3"/>
            <p:cNvSpPr txBox="1"/>
            <p:nvPr/>
          </p:nvSpPr>
          <p:spPr>
            <a:xfrm>
              <a:off x="573551" y="3921143"/>
              <a:ext cx="7631138" cy="4604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90300" spcFirstLastPara="1" rIns="29030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Calibri"/>
                <a:buNone/>
              </a:pPr>
              <a:r>
                <a:rPr b="1" lang="en-US" sz="19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USG FETOMATERNAL</a:t>
              </a:r>
              <a:endParaRPr/>
            </a:p>
          </p:txBody>
        </p:sp>
      </p:grpSp>
      <p:sp>
        <p:nvSpPr>
          <p:cNvPr id="122" name="Google Shape;122;p3"/>
          <p:cNvSpPr txBox="1"/>
          <p:nvPr>
            <p:ph idx="12" type="sldNum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9" name="Google Shape;129;p4"/>
          <p:cNvGrpSpPr/>
          <p:nvPr/>
        </p:nvGrpSpPr>
        <p:grpSpPr>
          <a:xfrm>
            <a:off x="609600" y="1600200"/>
            <a:ext cx="10972800" cy="4517783"/>
            <a:chOff x="0" y="0"/>
            <a:chExt cx="10972800" cy="4517783"/>
          </a:xfrm>
        </p:grpSpPr>
        <p:sp>
          <p:nvSpPr>
            <p:cNvPr id="130" name="Google Shape;130;p4"/>
            <p:cNvSpPr/>
            <p:nvPr/>
          </p:nvSpPr>
          <p:spPr>
            <a:xfrm>
              <a:off x="0" y="41156"/>
              <a:ext cx="10972800" cy="12852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flat" cmpd="sng" w="25400">
              <a:solidFill>
                <a:srgbClr val="49ACC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4"/>
            <p:cNvSpPr txBox="1"/>
            <p:nvPr/>
          </p:nvSpPr>
          <p:spPr>
            <a:xfrm>
              <a:off x="0" y="41156"/>
              <a:ext cx="10972800" cy="128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77800" lIns="851600" spcFirstLastPara="1" rIns="851600" wrap="square" tIns="333225">
              <a:noAutofit/>
            </a:bodyPr>
            <a:lstStyle/>
            <a:p>
              <a:pPr indent="-6985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alibri"/>
                <a:buNone/>
              </a:pPr>
              <a:r>
                <a:t/>
              </a:r>
              <a:endParaRPr b="0" i="0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69850" lvl="1" marL="228600" marR="0" rtl="0" algn="l">
                <a:lnSpc>
                  <a:spcPct val="90000"/>
                </a:lnSpc>
                <a:spcBef>
                  <a:spcPts val="375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alibri"/>
                <a:buNone/>
              </a:pPr>
              <a:r>
                <a:t/>
              </a:r>
              <a:endParaRPr b="0" i="0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4"/>
            <p:cNvSpPr/>
            <p:nvPr/>
          </p:nvSpPr>
          <p:spPr>
            <a:xfrm>
              <a:off x="582864" y="0"/>
              <a:ext cx="8615348" cy="256975"/>
            </a:xfrm>
            <a:prstGeom prst="roundRect">
              <a:avLst>
                <a:gd fmla="val 16667" name="adj"/>
              </a:avLst>
            </a:prstGeom>
            <a:solidFill>
              <a:srgbClr val="49ACC5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4"/>
            <p:cNvSpPr txBox="1"/>
            <p:nvPr/>
          </p:nvSpPr>
          <p:spPr>
            <a:xfrm>
              <a:off x="595408" y="12544"/>
              <a:ext cx="8590260" cy="231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90300" spcFirstLastPara="1" rIns="29030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Calibri"/>
                <a:buNone/>
              </a:pPr>
              <a:r>
                <a:rPr b="1" i="0" lang="en-US" sz="2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RIWAYAT PERSALINAN SEBELUMNYA</a:t>
              </a:r>
              <a:endParaRPr/>
            </a:p>
          </p:txBody>
        </p:sp>
        <p:sp>
          <p:nvSpPr>
            <p:cNvPr id="134" name="Google Shape;134;p4"/>
            <p:cNvSpPr/>
            <p:nvPr/>
          </p:nvSpPr>
          <p:spPr>
            <a:xfrm>
              <a:off x="0" y="1425144"/>
              <a:ext cx="10972800" cy="12852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flat" cmpd="sng" w="25400">
              <a:solidFill>
                <a:srgbClr val="5FDF4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4"/>
            <p:cNvSpPr txBox="1"/>
            <p:nvPr/>
          </p:nvSpPr>
          <p:spPr>
            <a:xfrm>
              <a:off x="0" y="1425144"/>
              <a:ext cx="10972800" cy="128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77800" lIns="851600" spcFirstLastPara="1" rIns="851600" wrap="square" tIns="333225">
              <a:noAutofit/>
            </a:bodyPr>
            <a:lstStyle/>
            <a:p>
              <a:pPr indent="-6985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alibri"/>
                <a:buNone/>
              </a:pPr>
              <a:r>
                <a:t/>
              </a:r>
              <a:endParaRPr b="0" i="0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69850" lvl="1" marL="228600" marR="0" rtl="0" algn="l">
                <a:lnSpc>
                  <a:spcPct val="90000"/>
                </a:lnSpc>
                <a:spcBef>
                  <a:spcPts val="375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alibri"/>
                <a:buNone/>
              </a:pPr>
              <a:r>
                <a:t/>
              </a:r>
              <a:endParaRPr b="0" i="0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4"/>
            <p:cNvSpPr/>
            <p:nvPr/>
          </p:nvSpPr>
          <p:spPr>
            <a:xfrm>
              <a:off x="548640" y="1400594"/>
              <a:ext cx="8683786" cy="252388"/>
            </a:xfrm>
            <a:prstGeom prst="roundRect">
              <a:avLst>
                <a:gd fmla="val 16667" name="adj"/>
              </a:avLst>
            </a:prstGeom>
            <a:solidFill>
              <a:srgbClr val="5FDF45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4"/>
            <p:cNvSpPr txBox="1"/>
            <p:nvPr/>
          </p:nvSpPr>
          <p:spPr>
            <a:xfrm>
              <a:off x="560961" y="1412915"/>
              <a:ext cx="8659144" cy="2277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90300" spcFirstLastPara="1" rIns="29030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Calibri"/>
                <a:buNone/>
              </a:pPr>
              <a:r>
                <a:rPr b="1" i="0" lang="en-US" sz="2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RIWAYAT PENYAKIT DAHULU</a:t>
              </a:r>
              <a:endParaRPr/>
            </a:p>
          </p:txBody>
        </p:sp>
        <p:sp>
          <p:nvSpPr>
            <p:cNvPr id="138" name="Google Shape;138;p4"/>
            <p:cNvSpPr/>
            <p:nvPr/>
          </p:nvSpPr>
          <p:spPr>
            <a:xfrm>
              <a:off x="0" y="2811732"/>
              <a:ext cx="10972800" cy="1706051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flat" cmpd="sng" w="25400">
              <a:solidFill>
                <a:srgbClr val="F69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4"/>
            <p:cNvSpPr txBox="1"/>
            <p:nvPr/>
          </p:nvSpPr>
          <p:spPr>
            <a:xfrm>
              <a:off x="0" y="2811732"/>
              <a:ext cx="10972800" cy="17060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77800" lIns="851600" spcFirstLastPara="1" rIns="851600" wrap="square" tIns="333225">
              <a:noAutofit/>
            </a:bodyPr>
            <a:lstStyle/>
            <a:p>
              <a:pPr indent="-6985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alibri"/>
                <a:buNone/>
              </a:pPr>
              <a:r>
                <a:t/>
              </a:r>
              <a:endParaRPr b="0" i="0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69850" lvl="1" marL="228600" marR="0" rtl="0" algn="l">
                <a:lnSpc>
                  <a:spcPct val="90000"/>
                </a:lnSpc>
                <a:spcBef>
                  <a:spcPts val="375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alibri"/>
                <a:buNone/>
              </a:pPr>
              <a:r>
                <a:t/>
              </a:r>
              <a:endParaRPr b="0" i="0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4"/>
            <p:cNvSpPr/>
            <p:nvPr/>
          </p:nvSpPr>
          <p:spPr>
            <a:xfrm>
              <a:off x="548640" y="2788423"/>
              <a:ext cx="8683786" cy="259468"/>
            </a:xfrm>
            <a:prstGeom prst="roundRect">
              <a:avLst>
                <a:gd fmla="val 16667" name="adj"/>
              </a:avLst>
            </a:prstGeom>
            <a:solidFill>
              <a:srgbClr val="F69444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4"/>
            <p:cNvSpPr txBox="1"/>
            <p:nvPr/>
          </p:nvSpPr>
          <p:spPr>
            <a:xfrm>
              <a:off x="561306" y="2801089"/>
              <a:ext cx="8658454" cy="2341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90300" spcFirstLastPara="1" rIns="29030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Calibri"/>
                <a:buNone/>
              </a:pPr>
              <a:r>
                <a:rPr b="1" i="0" lang="en-US" sz="2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RIWAYAT PENYAKIT KELUARGA</a:t>
              </a:r>
              <a:endParaRPr/>
            </a:p>
          </p:txBody>
        </p:sp>
      </p:grpSp>
      <p:sp>
        <p:nvSpPr>
          <p:cNvPr id="142" name="Google Shape;142;p4"/>
          <p:cNvSpPr txBox="1"/>
          <p:nvPr>
            <p:ph idx="12" type="sldNum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9" name="Google Shape;149;p5"/>
          <p:cNvGrpSpPr/>
          <p:nvPr/>
        </p:nvGrpSpPr>
        <p:grpSpPr>
          <a:xfrm>
            <a:off x="609600" y="1600200"/>
            <a:ext cx="10972800" cy="3275560"/>
            <a:chOff x="0" y="0"/>
            <a:chExt cx="10972800" cy="3275560"/>
          </a:xfrm>
        </p:grpSpPr>
        <p:sp>
          <p:nvSpPr>
            <p:cNvPr id="150" name="Google Shape;150;p5"/>
            <p:cNvSpPr/>
            <p:nvPr/>
          </p:nvSpPr>
          <p:spPr>
            <a:xfrm>
              <a:off x="0" y="483864"/>
              <a:ext cx="10972800" cy="2791696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flat" cmpd="sng" w="25400">
              <a:solidFill>
                <a:srgbClr val="BF5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5"/>
            <p:cNvSpPr txBox="1"/>
            <p:nvPr/>
          </p:nvSpPr>
          <p:spPr>
            <a:xfrm>
              <a:off x="0" y="483864"/>
              <a:ext cx="10972800" cy="27916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70675" lIns="851600" spcFirstLastPara="1" rIns="851600" wrap="square" tIns="1103875">
              <a:noAutofit/>
            </a:bodyPr>
            <a:lstStyle/>
            <a:p>
              <a:pPr indent="-115888" lvl="1" marL="268288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15888" lvl="1" marL="268288" marR="0" rtl="0" algn="l">
                <a:lnSpc>
                  <a:spcPct val="9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15888" lvl="1" marL="268288" marR="0" rtl="0" algn="l">
                <a:lnSpc>
                  <a:spcPct val="9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15888" lvl="1" marL="268288" marR="0" rtl="0" algn="l">
                <a:lnSpc>
                  <a:spcPct val="9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5"/>
            <p:cNvSpPr/>
            <p:nvPr/>
          </p:nvSpPr>
          <p:spPr>
            <a:xfrm>
              <a:off x="522420" y="0"/>
              <a:ext cx="9723480" cy="895991"/>
            </a:xfrm>
            <a:prstGeom prst="roundRect">
              <a:avLst>
                <a:gd fmla="val 16667" name="adj"/>
              </a:avLst>
            </a:prstGeom>
            <a:solidFill>
              <a:srgbClr val="BF504D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5"/>
            <p:cNvSpPr txBox="1"/>
            <p:nvPr/>
          </p:nvSpPr>
          <p:spPr>
            <a:xfrm>
              <a:off x="566159" y="43739"/>
              <a:ext cx="9636002" cy="8085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90300" spcFirstLastPara="1" rIns="29030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b="1" i="0" lang="en-US" sz="2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Persiapan Pertolongan Persalinan</a:t>
              </a:r>
              <a:endParaRPr b="1" i="0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"/>
          <p:cNvSpPr txBox="1"/>
          <p:nvPr>
            <p:ph type="title"/>
          </p:nvPr>
        </p:nvSpPr>
        <p:spPr>
          <a:xfrm>
            <a:off x="609600" y="2301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Resusitasi neonatus</a:t>
            </a:r>
            <a:endParaRPr/>
          </a:p>
        </p:txBody>
      </p:sp>
      <p:sp>
        <p:nvSpPr>
          <p:cNvPr id="160" name="Google Shape;160;p6"/>
          <p:cNvSpPr txBox="1"/>
          <p:nvPr>
            <p:ph idx="1" type="body"/>
          </p:nvPr>
        </p:nvSpPr>
        <p:spPr>
          <a:xfrm>
            <a:off x="609600" y="1166018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Bayi lahir secara ……… (proses persalinan</a:t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graphicFrame>
        <p:nvGraphicFramePr>
          <p:cNvPr id="161" name="Google Shape;161;p6"/>
          <p:cNvGraphicFramePr/>
          <p:nvPr/>
        </p:nvGraphicFramePr>
        <p:xfrm>
          <a:off x="609600" y="256490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{F3B64974-7A85-47A6-822E-22721FDA8DC2}</a:tableStyleId>
              </a:tblPr>
              <a:tblGrid>
                <a:gridCol w="774350"/>
                <a:gridCol w="1244750"/>
                <a:gridCol w="1064375"/>
                <a:gridCol w="1161750"/>
                <a:gridCol w="840950"/>
                <a:gridCol w="840950"/>
                <a:gridCol w="815625"/>
                <a:gridCol w="4230075"/>
              </a:tblGrid>
              <a:tr h="520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Usia (mnt)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Apnoe/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merintih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Retraksi/NCH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Tonus 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SpO2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Nadi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Suhu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Tindakan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854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 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551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551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551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Stabilisasi (S.T.A.B.L.E)</a:t>
            </a:r>
            <a:endParaRPr/>
          </a:p>
        </p:txBody>
      </p:sp>
      <p:sp>
        <p:nvSpPr>
          <p:cNvPr id="168" name="Google Shape;168;p7"/>
          <p:cNvSpPr txBox="1"/>
          <p:nvPr>
            <p:ph idx="1" type="body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Safe care &amp; sugar :  mg/dL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Temperature :  C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Airway: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Blood pressure: CRT     detik, nadi       x/menit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Lab works: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Emotional support:</a:t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1836068" y="5853882"/>
            <a:ext cx="8519864" cy="504056"/>
          </a:xfrm>
          <a:prstGeom prst="roundRect">
            <a:avLst>
              <a:gd fmla="val 16667" name="adj"/>
            </a:avLst>
          </a:prstGeom>
          <a:solidFill>
            <a:srgbClr val="DAE5F1"/>
          </a:solidFill>
          <a:ln cap="flat" cmpd="sng" w="25400">
            <a:solidFill>
              <a:srgbClr val="DAE5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Kesan: ……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Status Antropometri</a:t>
            </a:r>
            <a:endParaRPr/>
          </a:p>
        </p:txBody>
      </p:sp>
      <p:sp>
        <p:nvSpPr>
          <p:cNvPr id="175" name="Google Shape;175;p8"/>
          <p:cNvSpPr txBox="1"/>
          <p:nvPr>
            <p:ph idx="1" type="body"/>
          </p:nvPr>
        </p:nvSpPr>
        <p:spPr>
          <a:xfrm>
            <a:off x="609600" y="1600203"/>
            <a:ext cx="3827473" cy="4421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BB :      gram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TB :     cm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LK :     cm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Ballard score:  minggu</a:t>
            </a:r>
            <a:endParaRPr/>
          </a:p>
        </p:txBody>
      </p:sp>
      <p:sp>
        <p:nvSpPr>
          <p:cNvPr id="176" name="Google Shape;176;p8"/>
          <p:cNvSpPr txBox="1"/>
          <p:nvPr>
            <p:ph idx="12" type="sldNum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7" name="Google Shape;177;p8"/>
          <p:cNvSpPr/>
          <p:nvPr/>
        </p:nvSpPr>
        <p:spPr>
          <a:xfrm>
            <a:off x="744517" y="4708767"/>
            <a:ext cx="3535399" cy="1080120"/>
          </a:xfrm>
          <a:prstGeom prst="roundRect">
            <a:avLst>
              <a:gd fmla="val 16667" name="adj"/>
            </a:avLst>
          </a:prstGeom>
          <a:solidFill>
            <a:srgbClr val="DAE5F1"/>
          </a:solidFill>
          <a:ln cap="flat" cmpd="sng" w="254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Kesan:   </a:t>
            </a: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8282529" y="3933056"/>
            <a:ext cx="45719" cy="72008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" name="Google Shape;17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65687" y="1150610"/>
            <a:ext cx="3831071" cy="50637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84232" y="1204405"/>
            <a:ext cx="3759685" cy="500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Pemeriksaan Fisis</a:t>
            </a:r>
            <a:endParaRPr/>
          </a:p>
        </p:txBody>
      </p:sp>
      <p:grpSp>
        <p:nvGrpSpPr>
          <p:cNvPr id="186" name="Google Shape;186;p9"/>
          <p:cNvGrpSpPr/>
          <p:nvPr/>
        </p:nvGrpSpPr>
        <p:grpSpPr>
          <a:xfrm>
            <a:off x="609600" y="1660859"/>
            <a:ext cx="10972800" cy="4290886"/>
            <a:chOff x="0" y="60659"/>
            <a:chExt cx="10972800" cy="4290886"/>
          </a:xfrm>
        </p:grpSpPr>
        <p:sp>
          <p:nvSpPr>
            <p:cNvPr id="187" name="Google Shape;187;p9"/>
            <p:cNvSpPr/>
            <p:nvPr/>
          </p:nvSpPr>
          <p:spPr>
            <a:xfrm>
              <a:off x="0" y="370619"/>
              <a:ext cx="10972800" cy="1223775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9"/>
            <p:cNvSpPr txBox="1"/>
            <p:nvPr/>
          </p:nvSpPr>
          <p:spPr>
            <a:xfrm>
              <a:off x="0" y="370619"/>
              <a:ext cx="10972800" cy="1223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9350" lIns="851600" spcFirstLastPara="1" rIns="851600" wrap="square" tIns="437375">
              <a:noAutofit/>
            </a:bodyPr>
            <a:lstStyle/>
            <a:p>
              <a:pPr indent="-9525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None/>
              </a:pPr>
              <a:r>
                <a:t/>
              </a:r>
              <a:endPara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95250" lvl="1" marL="228600" marR="0" rtl="0" algn="l">
                <a:lnSpc>
                  <a:spcPct val="90000"/>
                </a:lnSpc>
                <a:spcBef>
                  <a:spcPts val="315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None/>
              </a:pPr>
              <a:r>
                <a:t/>
              </a:r>
              <a:endPara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9"/>
            <p:cNvSpPr/>
            <p:nvPr/>
          </p:nvSpPr>
          <p:spPr>
            <a:xfrm>
              <a:off x="548640" y="60659"/>
              <a:ext cx="7680960" cy="61992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9"/>
            <p:cNvSpPr txBox="1"/>
            <p:nvPr/>
          </p:nvSpPr>
          <p:spPr>
            <a:xfrm>
              <a:off x="578902" y="90921"/>
              <a:ext cx="7620436" cy="5593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90300" spcFirstLastPara="1" rIns="29030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b="1" lang="en-US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Keadaan Umum</a:t>
              </a:r>
              <a:endParaRPr b="1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9"/>
            <p:cNvSpPr/>
            <p:nvPr/>
          </p:nvSpPr>
          <p:spPr>
            <a:xfrm>
              <a:off x="0" y="1903995"/>
              <a:ext cx="10972800" cy="244755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9"/>
            <p:cNvSpPr txBox="1"/>
            <p:nvPr/>
          </p:nvSpPr>
          <p:spPr>
            <a:xfrm>
              <a:off x="0" y="1903995"/>
              <a:ext cx="10972800" cy="2447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63575" lIns="851600" spcFirstLastPara="1" rIns="851600" wrap="square" tIns="437375">
              <a:noAutofit/>
            </a:bodyPr>
            <a:lstStyle/>
            <a:p>
              <a:pPr indent="-8255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Calibri"/>
                <a:buNone/>
              </a:pPr>
              <a:r>
                <a:t/>
              </a:r>
              <a:endParaRPr b="0" i="0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45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Calibri"/>
                <a:buChar char="•"/>
              </a:pPr>
              <a:r>
                <a:rPr b="0" i="0" lang="en-US" sz="23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Denyut jantung	:    x/menit</a:t>
              </a:r>
              <a:endParaRPr b="0" i="0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45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Calibri"/>
                <a:buChar char="•"/>
              </a:pPr>
              <a:r>
                <a:rPr b="0" i="0" lang="en-US" sz="23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Laju napas		:   x/menit</a:t>
              </a:r>
              <a:endParaRPr b="0" i="0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45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Calibri"/>
                <a:buChar char="•"/>
              </a:pPr>
              <a:r>
                <a:rPr b="0" i="0" lang="en-US" sz="23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Suhu			:     C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45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Calibri"/>
                <a:buChar char="•"/>
              </a:pPr>
              <a:r>
                <a:rPr b="0" i="0" lang="en-US" sz="23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Saturasi O</a:t>
              </a:r>
              <a:r>
                <a:rPr b="0" baseline="-25000" i="0" lang="en-US" sz="23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		</a:t>
              </a:r>
              <a:r>
                <a:rPr b="0" i="0" lang="en-US" sz="23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    %</a:t>
              </a:r>
              <a:endParaRPr b="0" i="0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9"/>
            <p:cNvSpPr/>
            <p:nvPr/>
          </p:nvSpPr>
          <p:spPr>
            <a:xfrm>
              <a:off x="548640" y="1707794"/>
              <a:ext cx="7680960" cy="61992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9"/>
            <p:cNvSpPr txBox="1"/>
            <p:nvPr/>
          </p:nvSpPr>
          <p:spPr>
            <a:xfrm>
              <a:off x="578902" y="1738056"/>
              <a:ext cx="7620436" cy="5593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90300" spcFirstLastPara="1" rIns="29030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b="1" lang="en-US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Tanda Vital</a:t>
              </a:r>
              <a:endParaRPr b="1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5" name="Google Shape;195;p9"/>
          <p:cNvSpPr txBox="1"/>
          <p:nvPr>
            <p:ph idx="12" type="sldNum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0" name="Google Shape;200;p10"/>
          <p:cNvGraphicFramePr/>
          <p:nvPr/>
        </p:nvGraphicFramePr>
        <p:xfrm>
          <a:off x="609600" y="3418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{72746FA7-7730-4929-8074-B4637D000B6B}</a:tableStyleId>
              </a:tblPr>
              <a:tblGrid>
                <a:gridCol w="1904375"/>
                <a:gridCol w="9068425"/>
              </a:tblGrid>
              <a:tr h="365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400"/>
                        <a:buFont typeface="Calibri"/>
                        <a:buNone/>
                      </a:pPr>
                      <a:r>
                        <a:rPr b="1" i="0" lang="en-US" sz="24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ORGAN</a:t>
                      </a:r>
                      <a:endParaRPr/>
                    </a:p>
                  </a:txBody>
                  <a:tcPr marT="34300" marB="34300" marR="65325" marL="65325" anchor="ctr">
                    <a:lnL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BACC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400"/>
                        <a:buFont typeface="Calibri"/>
                        <a:buNone/>
                      </a:pPr>
                      <a:r>
                        <a:rPr b="1" i="0" lang="en-US" sz="24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DESKRIPSI</a:t>
                      </a:r>
                      <a:endParaRPr/>
                    </a:p>
                  </a:txBody>
                  <a:tcPr marT="34300" marB="34300" marR="65325" marL="653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BACC6"/>
                    </a:solidFill>
                  </a:tcPr>
                </a:tc>
              </a:tr>
              <a:tr h="645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Kepala</a:t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5325" marL="65325" anchor="ctr">
                    <a:lnL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Terdapat caput </a:t>
                      </a:r>
                      <a:r>
                        <a:rPr lang="en-US" sz="2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succedaneum</a:t>
                      </a:r>
                      <a:endParaRPr sz="24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5325" marL="653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Mata</a:t>
                      </a:r>
                      <a:endParaRPr/>
                    </a:p>
                  </a:txBody>
                  <a:tcPr marT="34300" marB="34300" marR="65325" marL="65325" anchor="ctr">
                    <a:lnL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sz="24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5325" marL="653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9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THT</a:t>
                      </a:r>
                      <a:endParaRPr/>
                    </a:p>
                  </a:txBody>
                  <a:tcPr marT="34300" marB="34300" marR="65325" marL="65325" anchor="ctr">
                    <a:lnL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1" i="1" sz="2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5325" marL="653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2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Mulut</a:t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5325" marL="65325" anchor="ctr">
                    <a:lnL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5325" marL="653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5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Dada</a:t>
                      </a:r>
                      <a:endParaRPr/>
                    </a:p>
                  </a:txBody>
                  <a:tcPr marT="34300" marB="34300" marR="65325" marL="65325" anchor="ctr">
                    <a:lnL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49000" marL="49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5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Jantung</a:t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5325" marL="65325" anchor="ctr">
                    <a:lnL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49000" marL="49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Paru</a:t>
                      </a:r>
                      <a:endParaRPr/>
                    </a:p>
                  </a:txBody>
                  <a:tcPr marT="34300" marB="34300" marR="65325" marL="65325" anchor="ctr">
                    <a:lnL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49000" marL="49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Abdomen</a:t>
                      </a:r>
                      <a:endParaRPr/>
                    </a:p>
                  </a:txBody>
                  <a:tcPr marT="34275" marB="34275" marR="65325" marL="65325" anchor="ctr">
                    <a:lnL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1" i="1" sz="2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275" marB="34275" marR="65325" marL="653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93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Ekstremitas</a:t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1425" marL="51425" anchor="ctr">
                    <a:lnL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1425" marL="5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Genitalia</a:t>
                      </a:r>
                      <a:endParaRPr/>
                    </a:p>
                  </a:txBody>
                  <a:tcPr marT="0" marB="0" marR="51425" marL="51425" anchor="ctr">
                    <a:lnL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0" marB="0" marR="51425" marL="5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Diagnosis (ICD 10)</a:t>
            </a:r>
            <a:endParaRPr/>
          </a:p>
        </p:txBody>
      </p:sp>
      <p:sp>
        <p:nvSpPr>
          <p:cNvPr id="206" name="Google Shape;206;p11"/>
          <p:cNvSpPr txBox="1"/>
          <p:nvPr>
            <p:ph idx="1" type="body"/>
          </p:nvPr>
        </p:nvSpPr>
        <p:spPr>
          <a:xfrm>
            <a:off x="609600" y="1600200"/>
            <a:ext cx="9230816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51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07" name="Google Shape;207;p11"/>
          <p:cNvSpPr txBox="1"/>
          <p:nvPr>
            <p:ph idx="2" type="body"/>
          </p:nvPr>
        </p:nvSpPr>
        <p:spPr>
          <a:xfrm>
            <a:off x="6197600" y="1600206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				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Laboratorium</a:t>
            </a:r>
            <a:endParaRPr/>
          </a:p>
        </p:txBody>
      </p:sp>
      <p:graphicFrame>
        <p:nvGraphicFramePr>
          <p:cNvPr id="213" name="Google Shape;213;p12"/>
          <p:cNvGraphicFramePr/>
          <p:nvPr/>
        </p:nvGraphicFramePr>
        <p:xfrm>
          <a:off x="6096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{1AD8F807-4859-491D-8D53-81D1F0AABB23}</a:tableStyleId>
              </a:tblPr>
              <a:tblGrid>
                <a:gridCol w="1455650"/>
                <a:gridCol w="1455650"/>
                <a:gridCol w="1455650"/>
                <a:gridCol w="1455650"/>
              </a:tblGrid>
              <a:tr h="513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</a:rPr>
                        <a:t>Pemeriksaan </a:t>
                      </a:r>
                      <a:endParaRPr b="1" sz="1600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26000" marB="26000" marR="26000" marL="26000" anchor="ctr">
                    <a:solidFill>
                      <a:srgbClr val="8CB3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</a:rPr>
                        <a:t>Nilai Rujukan</a:t>
                      </a:r>
                      <a:endParaRPr b="1" sz="1600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26000" marB="26000" marR="26000" marL="26000" anchor="ctr">
                    <a:solidFill>
                      <a:srgbClr val="8CB3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</a:rPr>
                        <a:t>Unit</a:t>
                      </a:r>
                      <a:endParaRPr b="1" sz="1600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26000" marB="26000" marR="26000" marL="26000" anchor="ctr">
                    <a:solidFill>
                      <a:srgbClr val="8CB3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</a:rPr>
                        <a:t>Hasil</a:t>
                      </a:r>
                      <a:endParaRPr b="1" sz="1600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26000" marB="26000" marR="26000" marL="26000" anchor="ctr">
                    <a:solidFill>
                      <a:srgbClr val="8CB3E3"/>
                    </a:solidFill>
                  </a:tcPr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Hemoglobin</a:t>
                      </a:r>
                      <a:endParaRPr sz="1600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26000" marB="26000" marR="26000" marL="26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14.0 - 22.0</a:t>
                      </a:r>
                      <a:endParaRPr sz="1600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26000" marB="26000" marR="26000" marL="26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g/dL</a:t>
                      </a:r>
                      <a:endParaRPr sz="1600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26000" marB="26000" marR="26000" marL="26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00" marB="26000" marR="26000" marL="26000" anchor="ctr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Hematokrit</a:t>
                      </a:r>
                      <a:endParaRPr sz="1600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26000" marB="26000" marR="26000" marL="26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24.0 - 75.0</a:t>
                      </a:r>
                      <a:endParaRPr sz="1600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26000" marB="26000" marR="26000" marL="26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%</a:t>
                      </a:r>
                      <a:endParaRPr sz="1600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26000" marB="26000" marR="26000" marL="26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00" marB="26000" marR="26000" marL="26000" anchor="ctr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Eritrosit</a:t>
                      </a:r>
                      <a:endParaRPr sz="1600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26000" marB="26000" marR="26000" marL="26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5.00 - 7.00</a:t>
                      </a:r>
                      <a:endParaRPr sz="1600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26000" marB="26000" marR="26000" marL="26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10^6/µL</a:t>
                      </a:r>
                      <a:endParaRPr sz="1600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26000" marB="26000" marR="26000" marL="26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00" marB="26000" marR="26000" marL="26000" anchor="ctr"/>
                </a:tc>
              </a:tr>
              <a:tr h="430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MCV/VER</a:t>
                      </a:r>
                      <a:endParaRPr sz="1600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26000" marB="26000" marR="26000" marL="26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100.0 - 120.0</a:t>
                      </a:r>
                      <a:endParaRPr sz="1600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26000" marB="26000" marR="26000" marL="26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fL</a:t>
                      </a:r>
                      <a:endParaRPr sz="1600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26000" marB="26000" marR="26000" marL="26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00" marB="26000" marR="26000" marL="26000" anchor="ctr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MCH/HER</a:t>
                      </a:r>
                      <a:endParaRPr sz="1600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26000" marB="26000" marR="26000" marL="26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31.0 - 37.0</a:t>
                      </a:r>
                      <a:endParaRPr sz="1600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26000" marB="26000" marR="26000" marL="26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pg</a:t>
                      </a:r>
                      <a:endParaRPr sz="1600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26000" marB="26000" marR="26000" marL="26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00" marB="26000" marR="26000" marL="26000" anchor="ctr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MCHC/KHER</a:t>
                      </a:r>
                      <a:endParaRPr sz="1600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26000" marB="26000" marR="26000" marL="26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30.0 - 36.0</a:t>
                      </a:r>
                      <a:endParaRPr sz="1600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26000" marB="26000" marR="26000" marL="26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g/dL</a:t>
                      </a:r>
                      <a:endParaRPr sz="1600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26000" marB="26000" marR="26000" marL="26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00" marB="26000" marR="26000" marL="26000" anchor="ctr"/>
                </a:tc>
              </a:tr>
              <a:tr h="513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Jumlah Trombosit</a:t>
                      </a:r>
                      <a:endParaRPr sz="1600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26000" marB="26000" marR="26000" marL="26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100 - 450</a:t>
                      </a:r>
                      <a:endParaRPr sz="1600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26000" marB="26000" marR="26000" marL="26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10^3/µL</a:t>
                      </a:r>
                      <a:endParaRPr sz="1600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26000" marB="26000" marR="26000" marL="26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00" marB="26000" marR="26000" marL="26000" anchor="ctr"/>
                </a:tc>
              </a:tr>
              <a:tr h="513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Jumlah Leukosit</a:t>
                      </a:r>
                      <a:endParaRPr sz="1600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26000" marB="26000" marR="26000" marL="26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10.00 - 26.00</a:t>
                      </a:r>
                      <a:endParaRPr sz="1600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26000" marB="26000" marR="26000" marL="26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10^3/µL</a:t>
                      </a:r>
                      <a:endParaRPr sz="1600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26000" marB="26000" marR="26000" marL="26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00" marB="26000" marR="26000" marL="26000" anchor="ctr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Basofil</a:t>
                      </a:r>
                      <a:endParaRPr sz="1600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26000" marB="26000" marR="26000" marL="26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0 - 2</a:t>
                      </a:r>
                      <a:endParaRPr sz="1600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26000" marB="26000" marR="26000" marL="26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%</a:t>
                      </a:r>
                      <a:endParaRPr sz="1600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26000" marB="26000" marR="26000" marL="26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00" marB="26000" marR="26000" marL="26000" anchor="ctr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Eosinofil</a:t>
                      </a:r>
                      <a:endParaRPr sz="1600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26000" marB="26000" marR="26000" marL="26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1 - 6</a:t>
                      </a:r>
                      <a:endParaRPr sz="1600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26000" marB="26000" marR="26000" marL="26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%</a:t>
                      </a:r>
                      <a:endParaRPr sz="1600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26000" marB="26000" marR="26000" marL="26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00" marB="26000" marR="26000" marL="26000" anchor="ctr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Neutrofil</a:t>
                      </a:r>
                      <a:endParaRPr sz="1600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26000" marB="26000" marR="26000" marL="26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40.0 - 80.0</a:t>
                      </a:r>
                      <a:endParaRPr sz="1600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26000" marB="26000" marR="26000" marL="26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%</a:t>
                      </a:r>
                      <a:endParaRPr sz="1600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26000" marB="26000" marR="26000" marL="26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00" marB="26000" marR="26000" marL="26000" anchor="ctr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Limfosit</a:t>
                      </a:r>
                      <a:endParaRPr sz="1600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26000" marB="26000" marR="26000" marL="26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20 - 40</a:t>
                      </a:r>
                      <a:endParaRPr sz="1600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26000" marB="26000" marR="26000" marL="26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%</a:t>
                      </a:r>
                      <a:endParaRPr sz="1600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26000" marB="26000" marR="26000" marL="26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00" marB="26000" marR="26000" marL="26000" anchor="ctr"/>
                </a:tc>
              </a:tr>
              <a:tr h="282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Monosit</a:t>
                      </a:r>
                      <a:endParaRPr sz="1600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26000" marB="26000" marR="26000" marL="26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2 - 10</a:t>
                      </a:r>
                      <a:endParaRPr sz="1600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26000" marB="26000" marR="26000" marL="26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%</a:t>
                      </a:r>
                      <a:endParaRPr sz="1600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26000" marB="26000" marR="26000" marL="26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00" marB="26000" marR="26000" marL="26000" anchor="ctr"/>
                </a:tc>
              </a:tr>
            </a:tbl>
          </a:graphicData>
        </a:graphic>
      </p:graphicFrame>
      <p:sp>
        <p:nvSpPr>
          <p:cNvPr id="214" name="Google Shape;214;p12"/>
          <p:cNvSpPr txBox="1"/>
          <p:nvPr/>
        </p:nvSpPr>
        <p:spPr>
          <a:xfrm>
            <a:off x="6774954" y="5589240"/>
            <a:ext cx="4824536" cy="830997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Kesan: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Radiologi (kalau ada)</a:t>
            </a:r>
            <a:endParaRPr/>
          </a:p>
        </p:txBody>
      </p:sp>
      <p:sp>
        <p:nvSpPr>
          <p:cNvPr id="220" name="Google Shape;220;p13"/>
          <p:cNvSpPr txBox="1"/>
          <p:nvPr>
            <p:ph idx="2" type="body"/>
          </p:nvPr>
        </p:nvSpPr>
        <p:spPr>
          <a:xfrm>
            <a:off x="6197600" y="1600206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51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21" name="Google Shape;221;p13"/>
          <p:cNvSpPr txBox="1"/>
          <p:nvPr>
            <p:ph idx="1" type="body"/>
          </p:nvPr>
        </p:nvSpPr>
        <p:spPr>
          <a:xfrm>
            <a:off x="609600" y="1600206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51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Tata Laksana</a:t>
            </a:r>
            <a:endParaRPr/>
          </a:p>
        </p:txBody>
      </p:sp>
      <p:sp>
        <p:nvSpPr>
          <p:cNvPr id="228" name="Google Shape;228;p14"/>
          <p:cNvSpPr txBox="1"/>
          <p:nvPr>
            <p:ph idx="1" type="body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Termoregulasi			: 	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Oksigenasi adekuat		: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Nutrisi &amp; cairan adekuat 	: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Atasi infeksi			: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Pemantauan			: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5"/>
          <p:cNvSpPr txBox="1"/>
          <p:nvPr>
            <p:ph type="ctrTitle"/>
          </p:nvPr>
        </p:nvSpPr>
        <p:spPr>
          <a:xfrm>
            <a:off x="914400" y="2130431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Terima Kasih</a:t>
            </a:r>
            <a:endParaRPr/>
          </a:p>
        </p:txBody>
      </p:sp>
      <p:sp>
        <p:nvSpPr>
          <p:cNvPr id="234" name="Google Shape;234;p15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aporan Jaga IGD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2013-11-15T04:27:30Z</dcterms:created>
  <dc:creator>Ludi Dhyani Rahmartani</dc:creator>
</cp:coreProperties>
</file>