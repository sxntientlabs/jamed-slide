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2" r:id="rId5"/>
    <p:sldMasterId id="2147483663" r:id="rId6"/>
    <p:sldMasterId id="214748366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772500-9EED-473D-9F45-76D0DFB6DDE8}">
  <a:tblStyle styleId="{F4772500-9EED-473D-9F45-76D0DFB6DDE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5"/>
          </a:solidFill>
        </a:fill>
      </a:tcStyle>
    </a:firstRow>
    <a:neCell>
      <a:tcTxStyle/>
    </a:neCell>
    <a:nwCell>
      <a:tcTxStyle/>
    </a:nwCell>
  </a:tblStyle>
  <a:tblStyle styleId="{CE045CBF-CEEB-4D3F-AE40-DF6B4DF7F0FF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6bccfc7974_0_1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g26bccfc7974_0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6bccfc7974_0_1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26bccfc7974_0_1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6bccfc7974_0_1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g26bccfc7974_0_1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6bccfc7974_0_1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26bccfc7974_0_1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6bccfc7974_0_1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26bccfc7974_0_1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6bccfc7974_0_1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g26bccfc7974_0_1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6bccfc7974_0_1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26bccfc7974_0_1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6bccfc7974_0_1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26bccfc7974_0_1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6bccfc7974_0_2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26bccfc7974_0_2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6bccfc7974_0_2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26bccfc7974_0_2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6bccfc7974_0_2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26bccfc7974_0_2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6bccfc7974_0_2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26bccfc7974_0_2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6bccfc7974_0_2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26bccfc7974_0_2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6bccfc7974_0_2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26bccfc7974_0_2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bccfc7974_0_2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26bccfc7974_0_2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6bccfc7974_0_2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26bccfc7974_0_2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6bccfc7974_0_2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26bccfc7974_0_2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6bccfc7974_0_2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26bccfc7974_0_2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6bccfc7974_0_2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26bccfc7974_0_2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623888" y="1765935"/>
            <a:ext cx="4291800" cy="1347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33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628650" y="3603785"/>
            <a:ext cx="6906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128588" y="4760119"/>
            <a:ext cx="342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628650" y="273844"/>
            <a:ext cx="50037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30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128588" y="4760119"/>
            <a:ext cx="342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0" type="dt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7"/>
          <p:cNvSpPr txBox="1"/>
          <p:nvPr>
            <p:ph idx="11" type="ftr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128588" y="4760119"/>
            <a:ext cx="342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/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/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/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/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/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/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/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/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2.xml"/><Relationship Id="rId3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/>
        </p:nvSpPr>
        <p:spPr>
          <a:xfrm>
            <a:off x="6894909" y="2500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100"/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128588" y="4760119"/>
            <a:ext cx="342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/>
        </p:nvSpPr>
        <p:spPr>
          <a:xfrm>
            <a:off x="6894909" y="2500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100"/>
          </a:p>
        </p:txBody>
      </p:sp>
      <p:sp>
        <p:nvSpPr>
          <p:cNvPr id="61" name="Google Shape;61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128588" y="4760119"/>
            <a:ext cx="342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623888" y="1765697"/>
            <a:ext cx="4292100" cy="134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300"/>
              <a:t>Lap</a:t>
            </a:r>
            <a:r>
              <a:rPr lang="en"/>
              <a:t>oran Jaga Mahasiswa RSUI</a:t>
            </a:r>
            <a:endParaRPr sz="3300"/>
          </a:p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628650" y="3604021"/>
            <a:ext cx="69069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Nama penyaji dan tgl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88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/>
              <a:t>Nama:</a:t>
            </a:r>
            <a:endParaRPr/>
          </a:p>
          <a:p>
            <a:pPr indent="0" lvl="0" marL="88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/>
              <a:t>Usia:</a:t>
            </a:r>
            <a:endParaRPr/>
          </a:p>
          <a:p>
            <a:pPr indent="0" lvl="0" marL="88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/>
              <a:t>Jenis kelamin: </a:t>
            </a:r>
            <a:endParaRPr/>
          </a:p>
          <a:p>
            <a:pPr indent="0" lvl="0" marL="88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/>
              <a:t>Nomor RM:</a:t>
            </a:r>
            <a:endParaRPr/>
          </a:p>
          <a:p>
            <a:pPr indent="0" lvl="0" marL="88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/>
              <a:t>Tempat tinggal:</a:t>
            </a:r>
            <a:endParaRPr/>
          </a:p>
          <a:p>
            <a:pPr indent="0" lvl="0" marL="88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9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Foto pasien dengan mata ditutup untuk menyamarkan idenditas dan tidak untuk disebarkan di luar forum jaga kecuali sdh dimintakan ijin tertulis</a:t>
            </a:r>
            <a:endParaRPr/>
          </a:p>
        </p:txBody>
      </p:sp>
      <p:sp>
        <p:nvSpPr>
          <p:cNvPr id="87" name="Google Shape;87;p19"/>
          <p:cNvSpPr txBox="1"/>
          <p:nvPr>
            <p:ph type="title"/>
          </p:nvPr>
        </p:nvSpPr>
        <p:spPr>
          <a:xfrm>
            <a:off x="628650" y="273844"/>
            <a:ext cx="50037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Identitas</a:t>
            </a:r>
            <a:endParaRPr/>
          </a:p>
        </p:txBody>
      </p:sp>
      <p:sp>
        <p:nvSpPr>
          <p:cNvPr id="88" name="Google Shape;88;p19"/>
          <p:cNvSpPr txBox="1"/>
          <p:nvPr/>
        </p:nvSpPr>
        <p:spPr>
          <a:xfrm>
            <a:off x="628650" y="3746500"/>
            <a:ext cx="7969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KELUHAN UTAMA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8100" lvl="0" marL="177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Tampilan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82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❑"/>
            </a:pPr>
            <a:r>
              <a:rPr lang="en"/>
              <a:t>Tonus</a:t>
            </a:r>
            <a:endParaRPr/>
          </a:p>
          <a:p>
            <a:pPr indent="-349250" lvl="0" marL="482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❑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Interaksi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82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❑"/>
            </a:pPr>
            <a:r>
              <a:rPr lang="en"/>
              <a:t>Kenyamanan</a:t>
            </a:r>
            <a:endParaRPr/>
          </a:p>
          <a:p>
            <a:pPr indent="-349250" lvl="0" marL="482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❑"/>
            </a:pPr>
            <a:r>
              <a:rPr lang="en"/>
              <a:t>Kontak mata</a:t>
            </a:r>
            <a:endParaRPr/>
          </a:p>
          <a:p>
            <a:pPr indent="-349250" lvl="0" marL="482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❑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Suara/Tangisan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0"/>
          <p:cNvSpPr txBox="1"/>
          <p:nvPr>
            <p:ph idx="2" type="body"/>
          </p:nvPr>
        </p:nvSpPr>
        <p:spPr>
          <a:xfrm>
            <a:off x="4619625" y="940118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8100" lvl="0" marL="177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Upaya napas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82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oto Sans Symbols"/>
              <a:buChar char="❑"/>
            </a:pPr>
            <a:r>
              <a:rPr lang="en"/>
              <a:t>Napas cuping hidung</a:t>
            </a:r>
            <a:endParaRPr/>
          </a:p>
          <a:p>
            <a:pPr indent="-349250" lvl="0" marL="482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oto Sans Symbols"/>
              <a:buChar char="❑"/>
            </a:pPr>
            <a:r>
              <a:rPr lang="en"/>
              <a:t>suara napas tambahan</a:t>
            </a:r>
            <a:endParaRPr/>
          </a:p>
          <a:p>
            <a:pPr indent="-349250" lvl="0" marL="482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oto Sans Symbols"/>
              <a:buChar char="❑"/>
            </a:pPr>
            <a:r>
              <a:rPr lang="en"/>
              <a:t>r</a:t>
            </a:r>
            <a:r>
              <a:rPr lang="en"/>
              <a:t>etraksi</a:t>
            </a:r>
            <a:endParaRPr/>
          </a:p>
          <a:p>
            <a:pPr indent="-349250" lvl="0" marL="482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oto Sans Symbols"/>
              <a:buChar char="❑"/>
            </a:pPr>
            <a:r>
              <a:rPr lang="en"/>
              <a:t>posisi abnormal</a:t>
            </a:r>
            <a:endParaRPr/>
          </a:p>
          <a:p>
            <a:pPr indent="0" lvl="0" marL="139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oto Sans Symbols"/>
              <a:buNone/>
            </a:pPr>
            <a:r>
              <a:t/>
            </a:r>
            <a:endParaRPr/>
          </a:p>
          <a:p>
            <a:pPr indent="0" lvl="0" marL="139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Sirkulasi</a:t>
            </a:r>
            <a:endParaRPr/>
          </a:p>
          <a:p>
            <a:pPr indent="-349250" lvl="0" marL="482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oto Sans Symbols"/>
              <a:buChar char="❑"/>
            </a:pPr>
            <a:r>
              <a:rPr lang="en"/>
              <a:t>Sianosis</a:t>
            </a:r>
            <a:endParaRPr/>
          </a:p>
          <a:p>
            <a:pPr indent="-349250" lvl="0" marL="482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oto Sans Symbols"/>
              <a:buChar char="❑"/>
            </a:pPr>
            <a:r>
              <a:rPr lang="en"/>
              <a:t>p</a:t>
            </a:r>
            <a:r>
              <a:rPr lang="en"/>
              <a:t>ucat</a:t>
            </a:r>
            <a:endParaRPr/>
          </a:p>
          <a:p>
            <a:pPr indent="-349250" lvl="0" marL="482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oto Sans Symbols"/>
              <a:buChar char="❑"/>
            </a:pPr>
            <a:r>
              <a:rPr lang="en"/>
              <a:t>kutis marmorata</a:t>
            </a:r>
            <a:endParaRPr/>
          </a:p>
        </p:txBody>
      </p:sp>
      <p:sp>
        <p:nvSpPr>
          <p:cNvPr id="95" name="Google Shape;95;p20"/>
          <p:cNvSpPr txBox="1"/>
          <p:nvPr>
            <p:ph type="title"/>
          </p:nvPr>
        </p:nvSpPr>
        <p:spPr>
          <a:xfrm>
            <a:off x="628650" y="273844"/>
            <a:ext cx="50031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Segitiga Asesmen Gawat Anak</a:t>
            </a:r>
            <a:endParaRPr sz="3000"/>
          </a:p>
        </p:txBody>
      </p:sp>
      <p:sp>
        <p:nvSpPr>
          <p:cNvPr id="96" name="Google Shape;96;p20"/>
          <p:cNvSpPr/>
          <p:nvPr/>
        </p:nvSpPr>
        <p:spPr>
          <a:xfrm>
            <a:off x="628650" y="4178618"/>
            <a:ext cx="6966000" cy="530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KESAN: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i="1" lang="en"/>
              <a:t>Airway</a:t>
            </a:r>
            <a:endParaRPr/>
          </a:p>
          <a:p>
            <a:pPr indent="-2540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i="1" lang="en"/>
              <a:t>Breathing</a:t>
            </a:r>
            <a:endParaRPr/>
          </a:p>
          <a:p>
            <a:pPr indent="-2540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i="1" lang="en"/>
              <a:t>Circulation</a:t>
            </a:r>
            <a:endParaRPr/>
          </a:p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Disability</a:t>
            </a:r>
            <a:endParaRPr/>
          </a:p>
          <a:p>
            <a:pPr indent="-2540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Exposure</a:t>
            </a:r>
            <a:endParaRPr/>
          </a:p>
          <a:p>
            <a:pPr indent="-254000" lvl="1" marL="685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Allergy</a:t>
            </a:r>
            <a:endParaRPr/>
          </a:p>
          <a:p>
            <a:pPr indent="-254000" lvl="1" marL="685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Medication</a:t>
            </a:r>
            <a:endParaRPr/>
          </a:p>
          <a:p>
            <a:pPr indent="-254000" lvl="1" marL="685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Past Medical History</a:t>
            </a:r>
            <a:endParaRPr/>
          </a:p>
          <a:p>
            <a:pPr indent="-254000" lvl="1" marL="685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Last Meal</a:t>
            </a:r>
            <a:endParaRPr/>
          </a:p>
          <a:p>
            <a:pPr indent="-254000" lvl="1" marL="685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Event Lead</a:t>
            </a:r>
            <a:endParaRPr/>
          </a:p>
        </p:txBody>
      </p:sp>
      <p:sp>
        <p:nvSpPr>
          <p:cNvPr id="103" name="Google Shape;103;p21"/>
          <p:cNvSpPr txBox="1"/>
          <p:nvPr>
            <p:ph type="title"/>
          </p:nvPr>
        </p:nvSpPr>
        <p:spPr>
          <a:xfrm>
            <a:off x="628650" y="273844"/>
            <a:ext cx="50037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Survei Primer</a:t>
            </a:r>
            <a:endParaRPr/>
          </a:p>
        </p:txBody>
      </p:sp>
      <p:sp>
        <p:nvSpPr>
          <p:cNvPr id="104" name="Google Shape;104;p21"/>
          <p:cNvSpPr txBox="1"/>
          <p:nvPr/>
        </p:nvSpPr>
        <p:spPr>
          <a:xfrm>
            <a:off x="628650" y="4094480"/>
            <a:ext cx="7372500" cy="238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KESIMPULAN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651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22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651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22"/>
          <p:cNvSpPr txBox="1"/>
          <p:nvPr>
            <p:ph type="title"/>
          </p:nvPr>
        </p:nvSpPr>
        <p:spPr>
          <a:xfrm>
            <a:off x="628650" y="273844"/>
            <a:ext cx="50037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Tatalaksana kegawatdaruratan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8100" lvl="0" marL="177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Riwayat Penyakit Sekarang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3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8100" lvl="0" marL="177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3"/>
          <p:cNvSpPr txBox="1"/>
          <p:nvPr>
            <p:ph type="title"/>
          </p:nvPr>
        </p:nvSpPr>
        <p:spPr>
          <a:xfrm>
            <a:off x="628650" y="273844"/>
            <a:ext cx="50031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Survei Sekunder</a:t>
            </a:r>
            <a:endParaRPr sz="3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Riwayat Penyakit Dahulu</a:t>
            </a:r>
            <a:endParaRPr/>
          </a:p>
        </p:txBody>
      </p:sp>
      <p:sp>
        <p:nvSpPr>
          <p:cNvPr id="124" name="Google Shape;124;p24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Riwayat Penyakit Keluarga</a:t>
            </a:r>
            <a:endParaRPr/>
          </a:p>
        </p:txBody>
      </p:sp>
      <p:sp>
        <p:nvSpPr>
          <p:cNvPr id="125" name="Google Shape;125;p24"/>
          <p:cNvSpPr txBox="1"/>
          <p:nvPr>
            <p:ph type="title"/>
          </p:nvPr>
        </p:nvSpPr>
        <p:spPr>
          <a:xfrm>
            <a:off x="628650" y="273844"/>
            <a:ext cx="50037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Survei Sekunder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Kehamilan dan Persalinan</a:t>
            </a:r>
            <a:endParaRPr/>
          </a:p>
        </p:txBody>
      </p:sp>
      <p:sp>
        <p:nvSpPr>
          <p:cNvPr id="131" name="Google Shape;131;p25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Riwayat imunisasi</a:t>
            </a:r>
            <a:endParaRPr/>
          </a:p>
        </p:txBody>
      </p:sp>
      <p:sp>
        <p:nvSpPr>
          <p:cNvPr id="132" name="Google Shape;132;p25"/>
          <p:cNvSpPr txBox="1"/>
          <p:nvPr>
            <p:ph type="title"/>
          </p:nvPr>
        </p:nvSpPr>
        <p:spPr>
          <a:xfrm>
            <a:off x="628650" y="273844"/>
            <a:ext cx="50037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Survei Sekunder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Nutrisi</a:t>
            </a:r>
            <a:endParaRPr/>
          </a:p>
        </p:txBody>
      </p:sp>
      <p:sp>
        <p:nvSpPr>
          <p:cNvPr id="138" name="Google Shape;138;p26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Riwayat tumbuh kembang</a:t>
            </a:r>
            <a:endParaRPr/>
          </a:p>
        </p:txBody>
      </p:sp>
      <p:sp>
        <p:nvSpPr>
          <p:cNvPr id="139" name="Google Shape;139;p26"/>
          <p:cNvSpPr txBox="1"/>
          <p:nvPr>
            <p:ph type="title"/>
          </p:nvPr>
        </p:nvSpPr>
        <p:spPr>
          <a:xfrm>
            <a:off x="628650" y="273844"/>
            <a:ext cx="50037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Survei Sekunder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BB</a:t>
            </a:r>
            <a:endParaRPr/>
          </a:p>
          <a:p>
            <a:pPr indent="-2540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TB</a:t>
            </a:r>
            <a:endParaRPr/>
          </a:p>
          <a:p>
            <a:pPr indent="-2540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Lingkar kepala</a:t>
            </a:r>
            <a:endParaRPr/>
          </a:p>
          <a:p>
            <a:pPr indent="-2540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LiLA</a:t>
            </a:r>
            <a:endParaRPr/>
          </a:p>
        </p:txBody>
      </p:sp>
      <p:sp>
        <p:nvSpPr>
          <p:cNvPr id="145" name="Google Shape;145;p27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BB/U</a:t>
            </a:r>
            <a:endParaRPr/>
          </a:p>
          <a:p>
            <a:pPr indent="-2540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TB/U</a:t>
            </a:r>
            <a:endParaRPr/>
          </a:p>
          <a:p>
            <a:pPr indent="-2540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BB/TB</a:t>
            </a:r>
            <a:endParaRPr/>
          </a:p>
          <a:p>
            <a:pPr indent="-1651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27"/>
          <p:cNvSpPr txBox="1"/>
          <p:nvPr>
            <p:ph type="title"/>
          </p:nvPr>
        </p:nvSpPr>
        <p:spPr>
          <a:xfrm>
            <a:off x="628650" y="273844"/>
            <a:ext cx="50037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Status Antropometri</a:t>
            </a:r>
            <a:endParaRPr/>
          </a:p>
        </p:txBody>
      </p:sp>
      <p:sp>
        <p:nvSpPr>
          <p:cNvPr id="147" name="Google Shape;147;p27"/>
          <p:cNvSpPr txBox="1"/>
          <p:nvPr/>
        </p:nvSpPr>
        <p:spPr>
          <a:xfrm>
            <a:off x="628650" y="4038601"/>
            <a:ext cx="7817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Kesimpulan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Keadaan Umum</a:t>
            </a:r>
            <a:endParaRPr/>
          </a:p>
          <a:p>
            <a:pPr indent="-2540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Kesadaran</a:t>
            </a:r>
            <a:endParaRPr/>
          </a:p>
          <a:p>
            <a:pPr indent="-2540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Laju nadi</a:t>
            </a:r>
            <a:endParaRPr/>
          </a:p>
          <a:p>
            <a:pPr indent="-2540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Tekanan darah</a:t>
            </a:r>
            <a:endParaRPr/>
          </a:p>
        </p:txBody>
      </p:sp>
      <p:sp>
        <p:nvSpPr>
          <p:cNvPr id="153" name="Google Shape;153;p28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Laju napas</a:t>
            </a:r>
            <a:endParaRPr/>
          </a:p>
          <a:p>
            <a:pPr indent="-2540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Saturasi Oksigen</a:t>
            </a:r>
            <a:endParaRPr/>
          </a:p>
          <a:p>
            <a:pPr indent="-2540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Suhu</a:t>
            </a:r>
            <a:endParaRPr/>
          </a:p>
        </p:txBody>
      </p:sp>
      <p:sp>
        <p:nvSpPr>
          <p:cNvPr id="154" name="Google Shape;154;p28"/>
          <p:cNvSpPr txBox="1"/>
          <p:nvPr>
            <p:ph type="title"/>
          </p:nvPr>
        </p:nvSpPr>
        <p:spPr>
          <a:xfrm>
            <a:off x="628650" y="273844"/>
            <a:ext cx="50037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Pemeriksaan Fisis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9" name="Google Shape;159;p29"/>
          <p:cNvGraphicFramePr/>
          <p:nvPr/>
        </p:nvGraphicFramePr>
        <p:xfrm>
          <a:off x="673100" y="6852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{F4772500-9EED-473D-9F45-76D0DFB6DDE8}</a:tableStyleId>
              </a:tblPr>
              <a:tblGrid>
                <a:gridCol w="1242700"/>
                <a:gridCol w="6605900"/>
              </a:tblGrid>
              <a:tr h="28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</a:rPr>
                        <a:t>Organ</a:t>
                      </a:r>
                      <a:endParaRPr sz="1100"/>
                    </a:p>
                  </a:txBody>
                  <a:tcPr marT="34300" marB="34300" marR="65325" marL="653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</a:rPr>
                        <a:t>Deskripsi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65325" marL="65325" anchor="ctr"/>
                </a:tc>
              </a:tr>
              <a:tr h="40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/>
                        <a:t>Kepala</a:t>
                      </a:r>
                      <a:endParaRPr sz="1500" u="none" cap="none" strike="noStrike"/>
                    </a:p>
                  </a:txBody>
                  <a:tcPr marT="34300" marB="34300" marR="65325" marL="653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5325" marL="65325" anchor="ctr">
                    <a:solidFill>
                      <a:schemeClr val="lt1"/>
                    </a:solidFill>
                  </a:tcPr>
                </a:tc>
              </a:tr>
              <a:tr h="40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/>
                        <a:t>Mata</a:t>
                      </a:r>
                      <a:endParaRPr sz="1100"/>
                    </a:p>
                  </a:txBody>
                  <a:tcPr marT="34300" marB="34300" marR="65325" marL="653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5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34300" marB="34300" marR="65325" marL="65325" anchor="ctr">
                    <a:solidFill>
                      <a:schemeClr val="lt1"/>
                    </a:solidFill>
                  </a:tcPr>
                </a:tc>
              </a:tr>
              <a:tr h="40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/>
                        <a:t>THT</a:t>
                      </a:r>
                      <a:endParaRPr sz="1100"/>
                    </a:p>
                  </a:txBody>
                  <a:tcPr marT="34300" marB="34300" marR="65325" marL="653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34300" marB="34300" marR="65325" marL="65325" anchor="ctr">
                    <a:solidFill>
                      <a:schemeClr val="lt1"/>
                    </a:solidFill>
                  </a:tcPr>
                </a:tc>
              </a:tr>
              <a:tr h="40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/>
                        <a:t>Leher</a:t>
                      </a:r>
                      <a:endParaRPr sz="1500" u="none" cap="none" strike="noStrike"/>
                    </a:p>
                  </a:txBody>
                  <a:tcPr marT="34300" marB="34300" marR="65325" marL="653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5325" marL="65325" anchor="ctr">
                    <a:solidFill>
                      <a:schemeClr val="lt1"/>
                    </a:solidFill>
                  </a:tcPr>
                </a:tc>
              </a:tr>
              <a:tr h="40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Dada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5325" marL="653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9000" marL="49000" anchor="ctr">
                    <a:solidFill>
                      <a:schemeClr val="lt1"/>
                    </a:solidFill>
                  </a:tcPr>
                </a:tc>
              </a:tr>
              <a:tr h="40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Jantung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5325" marL="653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9000" marL="49000" anchor="ctr">
                    <a:solidFill>
                      <a:schemeClr val="lt1"/>
                    </a:solidFill>
                  </a:tcPr>
                </a:tc>
              </a:tr>
              <a:tr h="40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Paru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5325" marL="653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9000" marL="49000" anchor="ctr">
                    <a:solidFill>
                      <a:schemeClr val="lt1"/>
                    </a:solidFill>
                  </a:tcPr>
                </a:tc>
              </a:tr>
              <a:tr h="40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Abdomen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5325" marL="653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500" u="none" cap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9000" marL="49000" anchor="ctr">
                    <a:solidFill>
                      <a:schemeClr val="lt1"/>
                    </a:solidFill>
                  </a:tcPr>
                </a:tc>
              </a:tr>
              <a:tr h="40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Genitalia</a:t>
                      </a:r>
                      <a:endParaRPr sz="1100"/>
                    </a:p>
                  </a:txBody>
                  <a:tcPr marT="34300" marB="34300" marR="65325" marL="653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500" u="none" cap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9000" marL="49000" anchor="ctr">
                    <a:solidFill>
                      <a:schemeClr val="lt1"/>
                    </a:solidFill>
                  </a:tcPr>
                </a:tc>
              </a:tr>
              <a:tr h="40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Ekstremitas </a:t>
                      </a:r>
                      <a:endParaRPr sz="1100"/>
                    </a:p>
                  </a:txBody>
                  <a:tcPr marT="34300" marB="34300" marR="65325" marL="653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15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9000" marL="4900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60" name="Google Shape;160;p29"/>
          <p:cNvSpPr txBox="1"/>
          <p:nvPr>
            <p:ph idx="12" type="sldNum"/>
          </p:nvPr>
        </p:nvSpPr>
        <p:spPr>
          <a:xfrm>
            <a:off x="128588" y="4760119"/>
            <a:ext cx="342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Diagnosis kerja</a:t>
            </a:r>
            <a:endParaRPr/>
          </a:p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651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type="title"/>
          </p:nvPr>
        </p:nvSpPr>
        <p:spPr>
          <a:xfrm>
            <a:off x="628650" y="273844"/>
            <a:ext cx="50037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Pemeriksaan penunjang </a:t>
            </a:r>
            <a:endParaRPr/>
          </a:p>
        </p:txBody>
      </p:sp>
      <p:graphicFrame>
        <p:nvGraphicFramePr>
          <p:cNvPr id="172" name="Google Shape;172;p31"/>
          <p:cNvGraphicFramePr/>
          <p:nvPr/>
        </p:nvGraphicFramePr>
        <p:xfrm>
          <a:off x="482347" y="11029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{CE045CBF-CEEB-4D3F-AE40-DF6B4DF7F0FF}</a:tableStyleId>
              </a:tblPr>
              <a:tblGrid>
                <a:gridCol w="1097300"/>
                <a:gridCol w="960575"/>
                <a:gridCol w="661975"/>
                <a:gridCol w="937775"/>
              </a:tblGrid>
              <a:tr h="40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Tanggal</a:t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Satuan</a:t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Nilai normal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26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Hemoglobin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g/dL</a:t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</a:tr>
              <a:tr h="26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Hematokrit</a:t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%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</a:tr>
              <a:tr h="26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Leukosit</a:t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/uL</a:t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</a:tr>
              <a:tr h="26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Trombosit</a:t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/uL</a:t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</a:tr>
              <a:tr h="40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Hitung jenis</a:t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%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</a:tr>
              <a:tr h="26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SGOT/SGPT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g/dL</a:t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</a:tr>
              <a:tr h="26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Ur/Cr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g/dL</a:t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</a:tr>
              <a:tr h="26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LFG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</a:tr>
              <a:tr h="26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Na/K/Cl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mEq/L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</a:tr>
              <a:tr h="26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GDS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g/dL</a:t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  <p:graphicFrame>
        <p:nvGraphicFramePr>
          <p:cNvPr id="173" name="Google Shape;173;p31"/>
          <p:cNvGraphicFramePr/>
          <p:nvPr/>
        </p:nvGraphicFramePr>
        <p:xfrm>
          <a:off x="4940554" y="12378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{CE045CBF-CEEB-4D3F-AE40-DF6B4DF7F0FF}</a:tableStyleId>
              </a:tblPr>
              <a:tblGrid>
                <a:gridCol w="1083125"/>
                <a:gridCol w="573250"/>
                <a:gridCol w="682575"/>
                <a:gridCol w="747175"/>
              </a:tblGrid>
              <a:tr h="62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AGD</a:t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Satuan</a:t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Nilai normal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28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pH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</a:tr>
              <a:tr h="28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PCO2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</a:tr>
              <a:tr h="28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PO2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</a:tr>
              <a:tr h="28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SaO2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%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</a:tr>
              <a:tr h="441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BE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</a:tr>
              <a:tr h="28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HCO3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  <p:sp>
        <p:nvSpPr>
          <p:cNvPr id="174" name="Google Shape;174;p31"/>
          <p:cNvSpPr txBox="1"/>
          <p:nvPr/>
        </p:nvSpPr>
        <p:spPr>
          <a:xfrm>
            <a:off x="4572000" y="3873500"/>
            <a:ext cx="4254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Kesimpulan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Radiologi</a:t>
            </a:r>
            <a:endParaRPr/>
          </a:p>
        </p:txBody>
      </p:sp>
      <p:sp>
        <p:nvSpPr>
          <p:cNvPr id="180" name="Google Shape;180;p32"/>
          <p:cNvSpPr txBox="1"/>
          <p:nvPr>
            <p:ph idx="2" type="body"/>
          </p:nvPr>
        </p:nvSpPr>
        <p:spPr>
          <a:xfrm>
            <a:off x="1739900" y="4025900"/>
            <a:ext cx="67755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Interpretasi</a:t>
            </a:r>
            <a:endParaRPr/>
          </a:p>
        </p:txBody>
      </p:sp>
      <p:sp>
        <p:nvSpPr>
          <p:cNvPr id="181" name="Google Shape;181;p32"/>
          <p:cNvSpPr txBox="1"/>
          <p:nvPr>
            <p:ph type="title"/>
          </p:nvPr>
        </p:nvSpPr>
        <p:spPr>
          <a:xfrm>
            <a:off x="628650" y="273844"/>
            <a:ext cx="50037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Pemeriksaan Penunjang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Pemeriksaan lain</a:t>
            </a:r>
            <a:endParaRPr/>
          </a:p>
        </p:txBody>
      </p:sp>
      <p:sp>
        <p:nvSpPr>
          <p:cNvPr id="187" name="Google Shape;187;p33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651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33"/>
          <p:cNvSpPr txBox="1"/>
          <p:nvPr>
            <p:ph type="title"/>
          </p:nvPr>
        </p:nvSpPr>
        <p:spPr>
          <a:xfrm>
            <a:off x="628650" y="273844"/>
            <a:ext cx="50037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Pemeriksaan penunjang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Diagnosis akhir</a:t>
            </a:r>
            <a:endParaRPr/>
          </a:p>
        </p:txBody>
      </p:sp>
      <p:sp>
        <p:nvSpPr>
          <p:cNvPr id="194" name="Google Shape;194;p3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651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Tatalaksana</a:t>
            </a:r>
            <a:endParaRPr/>
          </a:p>
        </p:txBody>
      </p:sp>
      <p:sp>
        <p:nvSpPr>
          <p:cNvPr id="200" name="Google Shape;200;p3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651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6"/>
          <p:cNvSpPr txBox="1"/>
          <p:nvPr>
            <p:ph type="title"/>
          </p:nvPr>
        </p:nvSpPr>
        <p:spPr>
          <a:xfrm>
            <a:off x="623888" y="1765935"/>
            <a:ext cx="4291800" cy="1347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Terima kasih</a:t>
            </a:r>
            <a:endParaRPr/>
          </a:p>
        </p:txBody>
      </p:sp>
      <p:sp>
        <p:nvSpPr>
          <p:cNvPr id="206" name="Google Shape;206;p36"/>
          <p:cNvSpPr txBox="1"/>
          <p:nvPr>
            <p:ph idx="1" type="body"/>
          </p:nvPr>
        </p:nvSpPr>
        <p:spPr>
          <a:xfrm>
            <a:off x="628650" y="3603785"/>
            <a:ext cx="6906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651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3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4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