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4" r:id="rId25"/>
    <p:sldId id="275" r:id="rId26"/>
    <p:sldId id="276" r:id="rId27"/>
    <p:sldId id="277" r:id="rId28"/>
    <p:sldId id="278" r:id="rId29"/>
    <p:sldId id="279" r:id="rId30"/>
    <p:sldId id="280" r:id="rId31"/>
    <p:sldId id="281" r:id="rId32"/>
    <p:sldId id="282" r:id="rId33"/>
    <p:sldId id="283" r:id="rId34"/>
  </p:sldIdLst>
  <p:sldSz cy="6858000" cx="12192000"/>
  <p:notesSz cx="6858000" cy="9144000"/>
  <p:embeddedFontLst>
    <p:embeddedFont>
      <p:font typeface="Tahoma"/>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8">
          <p15:clr>
            <a:srgbClr val="A4A3A4"/>
          </p15:clr>
        </p15:guide>
        <p15:guide id="2" pos="3840">
          <p15:clr>
            <a:srgbClr val="A4A3A4"/>
          </p15:clr>
        </p15:guide>
      </p15:sldGuideLst>
    </p:ext>
    <p:ext uri="GoogleSlidesCustomDataVersion2">
      <go:slidesCustomData xmlns:go="http://customooxmlschemas.google.com/" r:id="rId37" roundtripDataSignature="AMtx7mh82cNlech7KoqO1iEQLQIwhfGt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3FD3BB-6AEC-4177-8B16-0444DD7132F1}">
  <a:tblStyle styleId="{1A3FD3BB-6AEC-4177-8B16-0444DD7132F1}" styleName="Table_0">
    <a:wholeTbl>
      <a:tcTxStyle b="off" i="off">
        <a:font>
          <a:latin typeface="Tw Cen MT"/>
          <a:ea typeface="Tw Cen MT"/>
          <a:cs typeface="Tw Cen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A"/>
          </a:solidFill>
        </a:fill>
      </a:tcStyle>
    </a:wholeTbl>
    <a:band1H>
      <a:tcTxStyle b="off" i="off"/>
      <a:tcStyle>
        <a:fill>
          <a:solidFill>
            <a:srgbClr val="CBE2F5"/>
          </a:solidFill>
        </a:fill>
      </a:tcStyle>
    </a:band1H>
    <a:band2H>
      <a:tcTxStyle b="off" i="off"/>
    </a:band2H>
    <a:band1V>
      <a:tcTxStyle b="off" i="off"/>
      <a:tcStyle>
        <a:fill>
          <a:solidFill>
            <a:srgbClr val="CBE2F5"/>
          </a:solidFill>
        </a:fill>
      </a:tcStyle>
    </a:band1V>
    <a:band2V>
      <a:tcTxStyle b="off" i="off"/>
    </a:band2V>
    <a:lastCol>
      <a:tcTxStyle b="on" i="off">
        <a:font>
          <a:latin typeface="Tw Cen MT"/>
          <a:ea typeface="Tw Cen MT"/>
          <a:cs typeface="Tw Cen MT"/>
        </a:font>
        <a:schemeClr val="lt1"/>
      </a:tcTxStyle>
      <a:tcStyle>
        <a:fill>
          <a:solidFill>
            <a:schemeClr val="accent1"/>
          </a:solidFill>
        </a:fill>
      </a:tcStyle>
    </a:lastCol>
    <a:firstCol>
      <a:tcTxStyle b="on" i="off">
        <a:font>
          <a:latin typeface="Tw Cen MT"/>
          <a:ea typeface="Tw Cen MT"/>
          <a:cs typeface="Tw Cen MT"/>
        </a:font>
        <a:schemeClr val="lt1"/>
      </a:tcTxStyle>
      <a:tcStyle>
        <a:fill>
          <a:solidFill>
            <a:schemeClr val="accent1"/>
          </a:solidFill>
        </a:fill>
      </a:tcStyle>
    </a:firstCol>
    <a:lastRow>
      <a:tcTxStyle b="on" i="off">
        <a:font>
          <a:latin typeface="Tw Cen MT"/>
          <a:ea typeface="Tw Cen MT"/>
          <a:cs typeface="Tw Cen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Tw Cen MT"/>
          <a:ea typeface="Tw Cen MT"/>
          <a:cs typeface="Tw Cen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E4BE2650-F012-4872-BDB0-1B5FA276066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91051F6-62D5-4A95-B19F-8D2742D3A515}" styleName="Table_2">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6CFF632-D1ED-4598-934C-71CC27260839}" styleName="Table_3">
    <a:wholeTbl>
      <a:tcTxStyle b="off" i="off">
        <a:font>
          <a:latin typeface="Calibri"/>
          <a:ea typeface="Calibri"/>
          <a:cs typeface="Calibri"/>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8"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Tahoma-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Tahoma-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Berat badan sebutkan di awal dari awal sudah menyebutkan berat badan </a:t>
            </a:r>
            <a:endParaRPr/>
          </a:p>
        </p:txBody>
      </p:sp>
      <p:sp>
        <p:nvSpPr>
          <p:cNvPr id="112" name="Google Shape;1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dibaca: baik/tidak saja, jika ada masalah dibacakan</a:t>
            </a:r>
            <a:endParaRPr/>
          </a:p>
          <a:p>
            <a:pPr indent="0" lvl="0" marL="0" rtl="0" algn="l">
              <a:lnSpc>
                <a:spcPct val="100000"/>
              </a:lnSpc>
              <a:spcBef>
                <a:spcPts val="0"/>
              </a:spcBef>
              <a:spcAft>
                <a:spcPts val="0"/>
              </a:spcAft>
              <a:buSzPts val="1400"/>
              <a:buNone/>
            </a:pPr>
            <a:r>
              <a:rPr lang="en-US"/>
              <a:t>KESIMPULAN…. ada kegawatan/tidak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knp gk di intubasi → karena dia kusmaul akibat asidosis metabolik berat, bukan cardiopulmonary failure → kejr gk intubasi dgn memperbaiki faktor metaboliknya (hypovolemia)  </a:t>
            </a:r>
            <a:endParaRPr/>
          </a:p>
          <a:p>
            <a:pPr indent="0" lvl="0" marL="0" rtl="0" algn="l">
              <a:lnSpc>
                <a:spcPct val="100000"/>
              </a:lnSpc>
              <a:spcBef>
                <a:spcPts val="0"/>
              </a:spcBef>
              <a:spcAft>
                <a:spcPts val="0"/>
              </a:spcAft>
              <a:buSzPts val="1400"/>
              <a:buNone/>
            </a:pPr>
            <a:r>
              <a:rPr lang="en-US"/>
              <a:t>lama2 kalau prolonged syok → respiratory failure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20" name="Google Shape;12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Char char="●"/>
            </a:pPr>
            <a:r>
              <a:rPr lang="en-US"/>
              <a:t>assesment breathing tambahkan sudah dapat oksigen atau blm</a:t>
            </a:r>
            <a:endParaRPr/>
          </a:p>
          <a:p>
            <a:pPr indent="-317500" lvl="0" marL="457200" rtl="0" algn="l">
              <a:lnSpc>
                <a:spcPct val="100000"/>
              </a:lnSpc>
              <a:spcBef>
                <a:spcPts val="0"/>
              </a:spcBef>
              <a:spcAft>
                <a:spcPts val="0"/>
              </a:spcAft>
              <a:buSzPts val="1400"/>
              <a:buChar char="●"/>
            </a:pPr>
            <a:r>
              <a:rPr lang="en-US"/>
              <a:t>tidak terdapat saturasi </a:t>
            </a:r>
            <a:endParaRPr/>
          </a:p>
          <a:p>
            <a:pPr indent="-317500" lvl="0" marL="457200" rtl="0" algn="l">
              <a:lnSpc>
                <a:spcPct val="100000"/>
              </a:lnSpc>
              <a:spcBef>
                <a:spcPts val="0"/>
              </a:spcBef>
              <a:spcAft>
                <a:spcPts val="0"/>
              </a:spcAft>
              <a:buSzPts val="1400"/>
              <a:buChar char="●"/>
            </a:pPr>
            <a:r>
              <a:rPr lang="en-US"/>
              <a:t>pasien ini ada PDA</a:t>
            </a:r>
            <a:endParaRPr/>
          </a:p>
          <a:p>
            <a:pPr indent="-317500" lvl="1" marL="914400" rtl="0" algn="l">
              <a:lnSpc>
                <a:spcPct val="100000"/>
              </a:lnSpc>
              <a:spcBef>
                <a:spcPts val="0"/>
              </a:spcBef>
              <a:spcAft>
                <a:spcPts val="0"/>
              </a:spcAft>
              <a:buSzPts val="1400"/>
              <a:buChar char="○"/>
            </a:pPr>
            <a:r>
              <a:rPr lang="en-US"/>
              <a:t>di pda ada aliran darah yg berlebihan ke paru2 → lung overflow → kasih tatalaksana antifailure → furosemide untuk mengurangi preload</a:t>
            </a:r>
            <a:endParaRPr/>
          </a:p>
          <a:p>
            <a:pPr indent="-317500" lvl="1" marL="914400" rtl="0" algn="l">
              <a:lnSpc>
                <a:spcPct val="100000"/>
              </a:lnSpc>
              <a:spcBef>
                <a:spcPts val="0"/>
              </a:spcBef>
              <a:spcAft>
                <a:spcPts val="0"/>
              </a:spcAft>
              <a:buSzPts val="1400"/>
              <a:buChar char="○"/>
            </a:pPr>
            <a:r>
              <a:rPr lang="en-US"/>
              <a:t>ada captopril untuk afterload</a:t>
            </a:r>
            <a:endParaRPr/>
          </a:p>
          <a:p>
            <a:pPr indent="-317500" lvl="1" marL="914400" rtl="0" algn="l">
              <a:lnSpc>
                <a:spcPct val="100000"/>
              </a:lnSpc>
              <a:spcBef>
                <a:spcPts val="0"/>
              </a:spcBef>
              <a:spcAft>
                <a:spcPts val="0"/>
              </a:spcAft>
              <a:buSzPts val="1400"/>
              <a:buChar char="○"/>
            </a:pPr>
            <a:r>
              <a:rPr lang="en-US"/>
              <a:t>pada pasien yg ada afterflow → tubuh kompensasi dengan </a:t>
            </a:r>
            <a:endParaRPr/>
          </a:p>
          <a:p>
            <a:pPr indent="-317500" lvl="1" marL="914400" rtl="0" algn="l">
              <a:lnSpc>
                <a:spcPct val="100000"/>
              </a:lnSpc>
              <a:spcBef>
                <a:spcPts val="0"/>
              </a:spcBef>
              <a:spcAft>
                <a:spcPts val="0"/>
              </a:spcAft>
              <a:buSzPts val="1400"/>
              <a:buChar char="○"/>
            </a:pPr>
            <a:r>
              <a:rPr lang="en-US"/>
              <a:t>PDA : L-R shunt → aliran darah di sisi kanan jantung banyak → QP/QS ≥1 → kompensasi tubuh dengan meningkatkan PVR → awalnya baik → lama lama jadi pulmonary hypertension → tekanan PVR naik terus, sehingga akhirnya shunt jadi R-L (Eisenmenger syndrome) → kalau ini sudah terjadi, defek belum tentu bisa diperbaiki </a:t>
            </a:r>
            <a:endParaRPr/>
          </a:p>
          <a:p>
            <a:pPr indent="-317500" lvl="1" marL="914400" rtl="0" algn="l">
              <a:lnSpc>
                <a:spcPct val="100000"/>
              </a:lnSpc>
              <a:spcBef>
                <a:spcPts val="0"/>
              </a:spcBef>
              <a:spcAft>
                <a:spcPts val="0"/>
              </a:spcAft>
              <a:buSzPts val="1400"/>
              <a:buChar char="○"/>
            </a:pPr>
            <a:r>
              <a:rPr lang="en-US"/>
              <a:t>Kalau lagi dalam emergency → obat furosemid tidak dilanjutkan dulu karena dapat mengurangi preload</a:t>
            </a:r>
            <a:endParaRPr/>
          </a:p>
          <a:p>
            <a:pPr indent="-317500" lvl="1" marL="914400" rtl="0" algn="l">
              <a:lnSpc>
                <a:spcPct val="100000"/>
              </a:lnSpc>
              <a:spcBef>
                <a:spcPts val="0"/>
              </a:spcBef>
              <a:spcAft>
                <a:spcPts val="0"/>
              </a:spcAft>
              <a:buSzPts val="1400"/>
              <a:buChar char="○"/>
            </a:pPr>
            <a:r>
              <a:rPr lang="en-US"/>
              <a:t>Oada hipovolemia: furosemide dihentikan dulu (karena preloadnya perlu ditingkatkan) </a:t>
            </a:r>
            <a:endParaRPr/>
          </a:p>
          <a:p>
            <a:pPr indent="-317500" lvl="0" marL="457200" rtl="0" algn="l">
              <a:lnSpc>
                <a:spcPct val="100000"/>
              </a:lnSpc>
              <a:spcBef>
                <a:spcPts val="0"/>
              </a:spcBef>
              <a:spcAft>
                <a:spcPts val="0"/>
              </a:spcAft>
              <a:buSzPts val="1400"/>
              <a:buChar char="●"/>
            </a:pPr>
            <a:r>
              <a:rPr lang="en-US"/>
              <a:t>Primary survey </a:t>
            </a:r>
            <a:endParaRPr/>
          </a:p>
          <a:p>
            <a:pPr indent="-317500" lvl="1" marL="914400" rtl="0" algn="l">
              <a:lnSpc>
                <a:spcPct val="100000"/>
              </a:lnSpc>
              <a:spcBef>
                <a:spcPts val="0"/>
              </a:spcBef>
              <a:spcAft>
                <a:spcPts val="0"/>
              </a:spcAft>
              <a:buSzPts val="1400"/>
              <a:buChar char="○"/>
            </a:pPr>
            <a:r>
              <a:rPr lang="en-US"/>
              <a:t>Airway: clear/not clear, kalau tidak, tangani </a:t>
            </a:r>
            <a:endParaRPr/>
          </a:p>
          <a:p>
            <a:pPr indent="-317500" lvl="1" marL="914400" rtl="0" algn="l">
              <a:lnSpc>
                <a:spcPct val="100000"/>
              </a:lnSpc>
              <a:spcBef>
                <a:spcPts val="0"/>
              </a:spcBef>
              <a:spcAft>
                <a:spcPts val="0"/>
              </a:spcAft>
              <a:buSzPts val="1400"/>
              <a:buChar char="○"/>
            </a:pPr>
            <a:r>
              <a:rPr lang="en-US"/>
              <a:t>B: gasping/apneu : 5 rescue breathing. Terapi O2 bila kelainan nafas diluar gasping</a:t>
            </a:r>
            <a:endParaRPr/>
          </a:p>
          <a:p>
            <a:pPr indent="-317500" lvl="1" marL="914400" rtl="0" algn="l">
              <a:lnSpc>
                <a:spcPct val="100000"/>
              </a:lnSpc>
              <a:spcBef>
                <a:spcPts val="0"/>
              </a:spcBef>
              <a:spcAft>
                <a:spcPts val="0"/>
              </a:spcAft>
              <a:buSzPts val="1400"/>
              <a:buChar char="○"/>
            </a:pPr>
            <a:r>
              <a:rPr lang="en-US"/>
              <a:t>C: RJP apabila tidak ada pulse/ HR&lt;60x/min</a:t>
            </a:r>
            <a:endParaRPr/>
          </a:p>
          <a:p>
            <a:pPr indent="-317500" lvl="1" marL="914400" rtl="0" algn="l">
              <a:lnSpc>
                <a:spcPct val="100000"/>
              </a:lnSpc>
              <a:spcBef>
                <a:spcPts val="0"/>
              </a:spcBef>
              <a:spcAft>
                <a:spcPts val="0"/>
              </a:spcAft>
              <a:buSzPts val="1400"/>
              <a:buChar char="○"/>
            </a:pPr>
            <a:r>
              <a:rPr lang="en-US"/>
              <a:t>D: pemeriksaan neurologis</a:t>
            </a:r>
            <a:endParaRPr/>
          </a:p>
          <a:p>
            <a:pPr indent="-317500" lvl="1" marL="914400" rtl="0" algn="l">
              <a:lnSpc>
                <a:spcPct val="100000"/>
              </a:lnSpc>
              <a:spcBef>
                <a:spcPts val="0"/>
              </a:spcBef>
              <a:spcAft>
                <a:spcPts val="0"/>
              </a:spcAft>
              <a:buSzPts val="1400"/>
              <a:buChar char="○"/>
            </a:pPr>
            <a:r>
              <a:rPr lang="en-US"/>
              <a:t>E: expose and telanjangin pasiennya → liat apakah ada jejas/ hematom/ ikterik/ ukur suhunya/ </a:t>
            </a:r>
            <a:endParaRPr/>
          </a:p>
          <a:p>
            <a:pPr indent="-317500" lvl="1" marL="914400" rtl="0" algn="l">
              <a:lnSpc>
                <a:spcPct val="100000"/>
              </a:lnSpc>
              <a:spcBef>
                <a:spcPts val="0"/>
              </a:spcBef>
              <a:spcAft>
                <a:spcPts val="0"/>
              </a:spcAft>
              <a:buSzPts val="1400"/>
              <a:buChar char="○"/>
            </a:pPr>
            <a:r>
              <a:rPr lang="en-US"/>
              <a:t>AMPLE adalah secondary survey → harusnya dipindahkan ke slide berikutnya, berbeda dgn primary survey</a:t>
            </a:r>
            <a:endParaRP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6a07f40bfe_3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26a07f40bfe_3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Char char="●"/>
            </a:pPr>
            <a:r>
              <a:rPr lang="en-US"/>
              <a:t>assesment breathing tambahkan sudah dapat oksigen atau blm</a:t>
            </a:r>
            <a:endParaRPr/>
          </a:p>
          <a:p>
            <a:pPr indent="-317500" lvl="0" marL="457200" rtl="0" algn="l">
              <a:lnSpc>
                <a:spcPct val="100000"/>
              </a:lnSpc>
              <a:spcBef>
                <a:spcPts val="0"/>
              </a:spcBef>
              <a:spcAft>
                <a:spcPts val="0"/>
              </a:spcAft>
              <a:buSzPts val="1400"/>
              <a:buChar char="●"/>
            </a:pPr>
            <a:r>
              <a:rPr lang="en-US"/>
              <a:t>tidak terdapat saturasi </a:t>
            </a:r>
            <a:endParaRPr/>
          </a:p>
          <a:p>
            <a:pPr indent="-317500" lvl="0" marL="457200" rtl="0" algn="l">
              <a:lnSpc>
                <a:spcPct val="100000"/>
              </a:lnSpc>
              <a:spcBef>
                <a:spcPts val="0"/>
              </a:spcBef>
              <a:spcAft>
                <a:spcPts val="0"/>
              </a:spcAft>
              <a:buSzPts val="1400"/>
              <a:buChar char="●"/>
            </a:pPr>
            <a:r>
              <a:rPr lang="en-US"/>
              <a:t>pasien ini ada PDA</a:t>
            </a:r>
            <a:endParaRPr/>
          </a:p>
          <a:p>
            <a:pPr indent="-317500" lvl="1" marL="914400" rtl="0" algn="l">
              <a:lnSpc>
                <a:spcPct val="100000"/>
              </a:lnSpc>
              <a:spcBef>
                <a:spcPts val="0"/>
              </a:spcBef>
              <a:spcAft>
                <a:spcPts val="0"/>
              </a:spcAft>
              <a:buSzPts val="1400"/>
              <a:buChar char="○"/>
            </a:pPr>
            <a:r>
              <a:rPr lang="en-US"/>
              <a:t>di pda ada aliran darah yg berlebihan ke paru2 → lung overflow → kasih tatalaksana antifailure → furosemide untuk mengurangi preload</a:t>
            </a:r>
            <a:endParaRPr/>
          </a:p>
          <a:p>
            <a:pPr indent="-317500" lvl="1" marL="914400" rtl="0" algn="l">
              <a:lnSpc>
                <a:spcPct val="100000"/>
              </a:lnSpc>
              <a:spcBef>
                <a:spcPts val="0"/>
              </a:spcBef>
              <a:spcAft>
                <a:spcPts val="0"/>
              </a:spcAft>
              <a:buSzPts val="1400"/>
              <a:buChar char="○"/>
            </a:pPr>
            <a:r>
              <a:rPr lang="en-US"/>
              <a:t>ada captopril untuk afterload</a:t>
            </a:r>
            <a:endParaRPr/>
          </a:p>
          <a:p>
            <a:pPr indent="-317500" lvl="1" marL="914400" rtl="0" algn="l">
              <a:lnSpc>
                <a:spcPct val="100000"/>
              </a:lnSpc>
              <a:spcBef>
                <a:spcPts val="0"/>
              </a:spcBef>
              <a:spcAft>
                <a:spcPts val="0"/>
              </a:spcAft>
              <a:buSzPts val="1400"/>
              <a:buChar char="○"/>
            </a:pPr>
            <a:r>
              <a:rPr lang="en-US"/>
              <a:t>pada pasien yg ada afterflow → tubuh kompensasi dengan </a:t>
            </a:r>
            <a:endParaRPr/>
          </a:p>
          <a:p>
            <a:pPr indent="-317500" lvl="1" marL="914400" rtl="0" algn="l">
              <a:lnSpc>
                <a:spcPct val="100000"/>
              </a:lnSpc>
              <a:spcBef>
                <a:spcPts val="0"/>
              </a:spcBef>
              <a:spcAft>
                <a:spcPts val="0"/>
              </a:spcAft>
              <a:buSzPts val="1400"/>
              <a:buChar char="○"/>
            </a:pPr>
            <a:r>
              <a:rPr lang="en-US"/>
              <a:t>PDA : L-R shunt → aliran darah di sisi kanan jantung banyak → QP/QS ≥1 → kompensasi tubuh dengan meningkatkan PVR → awalnya baik → lama lama jadi pulmonary hypertension → tekanan PVR naik terus, sehingga akhirnya shunt jadi R-L (Eisenmenger syndrome) → kalau ini sudah terjadi, defek belum tentu bisa diperbaiki </a:t>
            </a:r>
            <a:endParaRPr/>
          </a:p>
          <a:p>
            <a:pPr indent="-317500" lvl="1" marL="914400" rtl="0" algn="l">
              <a:lnSpc>
                <a:spcPct val="100000"/>
              </a:lnSpc>
              <a:spcBef>
                <a:spcPts val="0"/>
              </a:spcBef>
              <a:spcAft>
                <a:spcPts val="0"/>
              </a:spcAft>
              <a:buSzPts val="1400"/>
              <a:buChar char="○"/>
            </a:pPr>
            <a:r>
              <a:rPr lang="en-US"/>
              <a:t>Kalau lagi dalam emergency → obat furosemid tidak dilanjutkan dulu karena dapat mengurangi preload</a:t>
            </a:r>
            <a:endParaRPr/>
          </a:p>
          <a:p>
            <a:pPr indent="-317500" lvl="1" marL="914400" rtl="0" algn="l">
              <a:lnSpc>
                <a:spcPct val="100000"/>
              </a:lnSpc>
              <a:spcBef>
                <a:spcPts val="0"/>
              </a:spcBef>
              <a:spcAft>
                <a:spcPts val="0"/>
              </a:spcAft>
              <a:buSzPts val="1400"/>
              <a:buChar char="○"/>
            </a:pPr>
            <a:r>
              <a:rPr lang="en-US"/>
              <a:t>Oada hipovolemia: furosemide dihentikan dulu (karena preloadnya perlu ditingkatkan) </a:t>
            </a:r>
            <a:endParaRPr/>
          </a:p>
          <a:p>
            <a:pPr indent="-317500" lvl="0" marL="457200" rtl="0" algn="l">
              <a:lnSpc>
                <a:spcPct val="100000"/>
              </a:lnSpc>
              <a:spcBef>
                <a:spcPts val="0"/>
              </a:spcBef>
              <a:spcAft>
                <a:spcPts val="0"/>
              </a:spcAft>
              <a:buSzPts val="1400"/>
              <a:buChar char="●"/>
            </a:pPr>
            <a:r>
              <a:rPr lang="en-US"/>
              <a:t>Primary survey </a:t>
            </a:r>
            <a:endParaRPr/>
          </a:p>
          <a:p>
            <a:pPr indent="-317500" lvl="1" marL="914400" rtl="0" algn="l">
              <a:lnSpc>
                <a:spcPct val="100000"/>
              </a:lnSpc>
              <a:spcBef>
                <a:spcPts val="0"/>
              </a:spcBef>
              <a:spcAft>
                <a:spcPts val="0"/>
              </a:spcAft>
              <a:buSzPts val="1400"/>
              <a:buChar char="○"/>
            </a:pPr>
            <a:r>
              <a:rPr lang="en-US"/>
              <a:t>Airway: clear/not clear, kalau tidak, tangani </a:t>
            </a:r>
            <a:endParaRPr/>
          </a:p>
          <a:p>
            <a:pPr indent="-317500" lvl="1" marL="914400" rtl="0" algn="l">
              <a:lnSpc>
                <a:spcPct val="100000"/>
              </a:lnSpc>
              <a:spcBef>
                <a:spcPts val="0"/>
              </a:spcBef>
              <a:spcAft>
                <a:spcPts val="0"/>
              </a:spcAft>
              <a:buSzPts val="1400"/>
              <a:buChar char="○"/>
            </a:pPr>
            <a:r>
              <a:rPr lang="en-US"/>
              <a:t>B: gasping/apneu : 5 rescue breathing. Terapi O2 bila kelainan nafas diluar gasping</a:t>
            </a:r>
            <a:endParaRPr/>
          </a:p>
          <a:p>
            <a:pPr indent="-317500" lvl="1" marL="914400" rtl="0" algn="l">
              <a:lnSpc>
                <a:spcPct val="100000"/>
              </a:lnSpc>
              <a:spcBef>
                <a:spcPts val="0"/>
              </a:spcBef>
              <a:spcAft>
                <a:spcPts val="0"/>
              </a:spcAft>
              <a:buSzPts val="1400"/>
              <a:buChar char="○"/>
            </a:pPr>
            <a:r>
              <a:rPr lang="en-US"/>
              <a:t>C: RJP apabila tidak ada pulse/ HR&lt;60x/min</a:t>
            </a:r>
            <a:endParaRPr/>
          </a:p>
          <a:p>
            <a:pPr indent="-317500" lvl="1" marL="914400" rtl="0" algn="l">
              <a:lnSpc>
                <a:spcPct val="100000"/>
              </a:lnSpc>
              <a:spcBef>
                <a:spcPts val="0"/>
              </a:spcBef>
              <a:spcAft>
                <a:spcPts val="0"/>
              </a:spcAft>
              <a:buSzPts val="1400"/>
              <a:buChar char="○"/>
            </a:pPr>
            <a:r>
              <a:rPr lang="en-US"/>
              <a:t>D: pemeriksaan neurologis</a:t>
            </a:r>
            <a:endParaRPr/>
          </a:p>
          <a:p>
            <a:pPr indent="-317500" lvl="1" marL="914400" rtl="0" algn="l">
              <a:lnSpc>
                <a:spcPct val="100000"/>
              </a:lnSpc>
              <a:spcBef>
                <a:spcPts val="0"/>
              </a:spcBef>
              <a:spcAft>
                <a:spcPts val="0"/>
              </a:spcAft>
              <a:buSzPts val="1400"/>
              <a:buChar char="○"/>
            </a:pPr>
            <a:r>
              <a:rPr lang="en-US"/>
              <a:t>E: </a:t>
            </a:r>
            <a:endParaRPr/>
          </a:p>
          <a:p>
            <a:pPr indent="-317500" lvl="1" marL="914400" rtl="0" algn="l">
              <a:lnSpc>
                <a:spcPct val="100000"/>
              </a:lnSpc>
              <a:spcBef>
                <a:spcPts val="0"/>
              </a:spcBef>
              <a:spcAft>
                <a:spcPts val="0"/>
              </a:spcAft>
              <a:buSzPts val="1400"/>
              <a:buChar char="○"/>
            </a:pPr>
            <a:r>
              <a:rPr lang="en-US"/>
              <a:t>AMPLE adalah secondary survey → harusnya dipinda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di tiap komponen primary survey harus identify &amp; intervene</a:t>
            </a:r>
            <a:endParaRPr/>
          </a:p>
        </p:txBody>
      </p:sp>
      <p:sp>
        <p:nvSpPr>
          <p:cNvPr id="137" name="Google Shape;137;g26a07f40bfe_3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384175" y="685800"/>
            <a:ext cx="6083300" cy="34226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4" name="Google Shape;1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Calibri"/>
                <a:ea typeface="Calibri"/>
                <a:cs typeface="Calibri"/>
                <a:sym typeface="Calibri"/>
              </a:rPr>
              <a:t>tulispoin-poinpenting</a:t>
            </a:r>
            <a:endParaRPr>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Laryngomalacia</a:t>
            </a:r>
            <a:endParaRPr/>
          </a:p>
          <a:p>
            <a:pPr indent="-317500" lvl="0" marL="457200" rtl="0" algn="l">
              <a:lnSpc>
                <a:spcPct val="100000"/>
              </a:lnSpc>
              <a:spcBef>
                <a:spcPts val="0"/>
              </a:spcBef>
              <a:spcAft>
                <a:spcPts val="0"/>
              </a:spcAft>
              <a:buSzPts val="1400"/>
              <a:buChar char="-"/>
            </a:pPr>
            <a:r>
              <a:rPr lang="en-US"/>
              <a:t>Anam: sering tersedak</a:t>
            </a:r>
            <a:endParaRPr/>
          </a:p>
          <a:p>
            <a:pPr indent="-317500" lvl="0" marL="457200" rtl="0" algn="l">
              <a:lnSpc>
                <a:spcPct val="100000"/>
              </a:lnSpc>
              <a:spcBef>
                <a:spcPts val="0"/>
              </a:spcBef>
              <a:spcAft>
                <a:spcPts val="0"/>
              </a:spcAft>
              <a:buSzPts val="1400"/>
              <a:buChar char="-"/>
            </a:pPr>
            <a:r>
              <a:rPr lang="en-US"/>
              <a:t>sering gumoh / regurgitasi </a:t>
            </a:r>
            <a:endParaRPr/>
          </a:p>
          <a:p>
            <a:pPr indent="-317500" lvl="0" marL="457200" rtl="0" algn="l">
              <a:lnSpc>
                <a:spcPct val="100000"/>
              </a:lnSpc>
              <a:spcBef>
                <a:spcPts val="0"/>
              </a:spcBef>
              <a:spcAft>
                <a:spcPts val="0"/>
              </a:spcAft>
              <a:buSzPts val="1400"/>
              <a:buChar char="-"/>
            </a:pPr>
            <a:r>
              <a:rPr lang="en-US"/>
              <a:t>Posisi (PF)</a:t>
            </a:r>
            <a:endParaRPr/>
          </a:p>
          <a:p>
            <a:pPr indent="-317500" lvl="1" marL="914400" rtl="0" algn="l">
              <a:lnSpc>
                <a:spcPct val="100000"/>
              </a:lnSpc>
              <a:spcBef>
                <a:spcPts val="0"/>
              </a:spcBef>
              <a:spcAft>
                <a:spcPts val="0"/>
              </a:spcAft>
              <a:buSzPts val="1400"/>
              <a:buChar char="-"/>
            </a:pPr>
            <a:r>
              <a:rPr lang="en-US"/>
              <a:t>Posisi tertenu yang lebih nyaman (ex. pasien di miringkan merasa lebih nyaman) </a:t>
            </a:r>
            <a:endParaRPr/>
          </a:p>
          <a:p>
            <a:pPr indent="-317500" lvl="1" marL="914400" rtl="0" algn="l">
              <a:lnSpc>
                <a:spcPct val="100000"/>
              </a:lnSpc>
              <a:spcBef>
                <a:spcPts val="0"/>
              </a:spcBef>
              <a:spcAft>
                <a:spcPts val="0"/>
              </a:spcAft>
              <a:buSzPts val="1400"/>
              <a:buChar char="-"/>
            </a:pPr>
            <a:r>
              <a:rPr lang="en-US"/>
              <a:t>posisi sandyver (melengkung, khas pada anak2 laringomalasia &amp; gerd)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317500" lvl="1" marL="914400" rtl="0" algn="l">
              <a:lnSpc>
                <a:spcPct val="100000"/>
              </a:lnSpc>
              <a:spcBef>
                <a:spcPts val="0"/>
              </a:spcBef>
              <a:spcAft>
                <a:spcPts val="0"/>
              </a:spcAft>
              <a:buSzPts val="1400"/>
              <a:buChar char="-"/>
            </a:pPr>
            <a:r>
              <a:rPr lang="en-US"/>
              <a:t>bikin dalam bentuk timeline </a:t>
            </a:r>
            <a:endParaRPr/>
          </a:p>
        </p:txBody>
      </p:sp>
      <p:sp>
        <p:nvSpPr>
          <p:cNvPr id="145" name="Google Shape;14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1" name="Google Shape;15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9" name="Google Shape;16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dibacakan kesannya saja</a:t>
            </a:r>
            <a:endParaRPr/>
          </a:p>
        </p:txBody>
      </p:sp>
      <p:sp>
        <p:nvSpPr>
          <p:cNvPr id="170" name="Google Shape;17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Clr>
                <a:schemeClr val="dk1"/>
              </a:buClr>
              <a:buSzPts val="1100"/>
              <a:buFont typeface="Arial"/>
              <a:buNone/>
            </a:pPr>
            <a:r>
              <a:rPr lang="en-US"/>
              <a:t>STATUS GIZI DITENTUKAN SAAT PASIEN TIDAK DEHIDRASI </a:t>
            </a:r>
            <a:endParaRPr/>
          </a:p>
          <a:p>
            <a:pPr indent="0" lvl="0" marL="0" rtl="0" algn="l">
              <a:lnSpc>
                <a:spcPct val="100000"/>
              </a:lnSpc>
              <a:spcBef>
                <a:spcPts val="0"/>
              </a:spcBef>
              <a:spcAft>
                <a:spcPts val="0"/>
              </a:spcAft>
              <a:buSzPts val="1400"/>
              <a:buNone/>
            </a:pPr>
            <a:r>
              <a:rPr lang="en-US"/>
              <a:t>gizi buruk </a:t>
            </a:r>
            <a:endParaRPr/>
          </a:p>
        </p:txBody>
      </p:sp>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6a07f40bfe_2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Stunting = perawakan sangat pendek. Bisa ditegakkan menggunakan nilai Z dari kurva TB/U</a:t>
            </a:r>
            <a:endParaRPr/>
          </a:p>
          <a:p>
            <a:pPr indent="0" lvl="0" marL="0" rtl="0" algn="l">
              <a:lnSpc>
                <a:spcPct val="100000"/>
              </a:lnSpc>
              <a:spcBef>
                <a:spcPts val="0"/>
              </a:spcBef>
              <a:spcAft>
                <a:spcPts val="0"/>
              </a:spcAft>
              <a:buSzPts val="1400"/>
              <a:buNone/>
            </a:pPr>
            <a:r>
              <a:rPr lang="en-US"/>
              <a:t>menggambarkan MEP kronik </a:t>
            </a:r>
            <a:endParaRPr/>
          </a:p>
          <a:p>
            <a:pPr indent="0" lvl="0" marL="0" rtl="0" algn="l">
              <a:lnSpc>
                <a:spcPct val="100000"/>
              </a:lnSpc>
              <a:spcBef>
                <a:spcPts val="0"/>
              </a:spcBef>
              <a:spcAft>
                <a:spcPts val="0"/>
              </a:spcAft>
              <a:buSzPts val="1400"/>
              <a:buNone/>
            </a:pPr>
            <a:r>
              <a:rPr lang="en-US"/>
              <a:t>Apabila MEP secara akut, yang terpengaruhi lebih dahulu adalah BB</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apakah anak stunting bisa gizi baik? Bisa</a:t>
            </a:r>
            <a:endParaRPr/>
          </a:p>
          <a:p>
            <a:pPr indent="0" lvl="0" marL="0" rtl="0" algn="l">
              <a:lnSpc>
                <a:spcPct val="100000"/>
              </a:lnSpc>
              <a:spcBef>
                <a:spcPts val="0"/>
              </a:spcBef>
              <a:spcAft>
                <a:spcPts val="0"/>
              </a:spcAft>
              <a:buSzPts val="1400"/>
              <a:buNone/>
            </a:pPr>
            <a:r>
              <a:rPr lang="en-US"/>
              <a:t>anak gizbur perawakan sangat pendek yang ditatalaksana, yang naik duluan akan BBnya, dan catch up growth menyusul. stunting → perawakan sangat pendek (atau dibawah z score -3)</a:t>
            </a:r>
            <a:endParaRPr/>
          </a:p>
          <a:p>
            <a:pPr indent="0" lvl="0" marL="0" rtl="0" algn="l">
              <a:lnSpc>
                <a:spcPct val="100000"/>
              </a:lnSpc>
              <a:spcBef>
                <a:spcPts val="0"/>
              </a:spcBef>
              <a:spcAft>
                <a:spcPts val="0"/>
              </a:spcAft>
              <a:buSzPts val="1400"/>
              <a:buNone/>
            </a:pPr>
            <a:r>
              <a:rPr lang="en-US"/>
              <a:t>stunting mengambarkan status kekurangan energi protein → efek akutnya adalah kekurangan BB,</a:t>
            </a:r>
            <a:endParaRPr/>
          </a:p>
          <a:p>
            <a:pPr indent="0" lvl="0" marL="0" rtl="0" algn="l">
              <a:lnSpc>
                <a:spcPct val="100000"/>
              </a:lnSpc>
              <a:spcBef>
                <a:spcPts val="0"/>
              </a:spcBef>
              <a:spcAft>
                <a:spcPts val="0"/>
              </a:spcAft>
              <a:buSzPts val="1400"/>
              <a:buNone/>
            </a:pPr>
            <a:r>
              <a:rPr lang="en-US"/>
              <a:t>kalau sudah terjadi secara kronik → tinggi badan juga ikut terpengaruh</a:t>
            </a:r>
            <a:endParaRPr/>
          </a:p>
          <a:p>
            <a:pPr indent="0" lvl="0" marL="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Char char="-"/>
            </a:pPr>
            <a:r>
              <a:t/>
            </a:r>
            <a:endParaRPr/>
          </a:p>
          <a:p>
            <a:r>
              <a:rPr lang="en-US" sz="900"/>
              <a:t>WHO Child Growth Standards chart source: https://www.who.int/tools/child-growth-standards/standards/length-height-for-age</a:t>
            </a:r>
            <a:endParaRPr lang="en-US" sz="900"/>
          </a:p>
        </p:txBody>
      </p:sp>
      <p:sp>
        <p:nvSpPr>
          <p:cNvPr id="194" name="Google Shape;194;g26a07f40bfe_2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6a07f40bfe_2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r>
              <a:rPr lang="en-US" sz="900"/>
              <a:t>WHO Child Growth Standards chart source: https://www.who.int/tools/child-growth-standards/standards/weight-for-age</a:t>
            </a:r>
            <a:endParaRPr lang="en-US" sz="900"/>
          </a:p>
        </p:txBody>
      </p:sp>
      <p:sp>
        <p:nvSpPr>
          <p:cNvPr id="199" name="Google Shape;199;g26a07f40bfe_2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6a07f40bfe_2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STATUS GIZI DITENTUKAN SAAT PASIEN TIDAK DEHIDRASI tidak bisa menentukan status gizi pasien menggunakan BB pasien saat lagi mengalami syok</a:t>
            </a:r>
            <a:endParaRPr/>
          </a:p>
          <a:p>
            <a:r>
              <a:rPr lang="en-US" sz="900"/>
              <a:t>WHO Child Growth Standards chart source: https://www.who.int/tools/child-growth-standards/standards/weight-for-length-height</a:t>
            </a:r>
            <a:endParaRPr lang="en-US" sz="900"/>
          </a:p>
        </p:txBody>
      </p:sp>
      <p:sp>
        <p:nvSpPr>
          <p:cNvPr id="204" name="Google Shape;204;g26a07f40bfe_2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fisiologi syok hipovolemia: PP menyempit → usaha pooling darah ke jantung → kalo decom shock, PP melebar </a:t>
            </a:r>
            <a:endParaRPr/>
          </a:p>
        </p:txBody>
      </p:sp>
      <p:sp>
        <p:nvSpPr>
          <p:cNvPr id="209" name="Google Shape;20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gizbur pasien ini → turgor pasti lambat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di pasien ini hepatomegali! status gizinya dinilai dengan LILA. apabila hepatomegalinya masih normal untuk usia, status gizi bisa ditentukan seperti biasanya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menentukkan status gizi, harus pada saat normovolemia </a:t>
            </a:r>
            <a:endParaRPr/>
          </a:p>
          <a:p>
            <a:pPr indent="0" lvl="0" marL="0" rtl="0" algn="l">
              <a:lnSpc>
                <a:spcPct val="100000"/>
              </a:lnSpc>
              <a:spcBef>
                <a:spcPts val="0"/>
              </a:spcBef>
              <a:spcAft>
                <a:spcPts val="0"/>
              </a:spcAft>
              <a:buSzPts val="1400"/>
              <a:buNone/>
            </a:pPr>
            <a:r>
              <a:rPr lang="en-US"/>
              <a:t>→ laringomalasia: tanyakan riwayat tersedak juga, tanyakan mengenai respons anak saat reposisi posisi</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kalau masih normal sesuai usia, masih gpp, tapi kalau sudah tidak normal tidak sesuai dengan usia baru gunakan LILA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18" name="Google Shape;2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Global delay: pada setidaknya 2 aspek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23" name="Google Shape;2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6afcc48be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Syok hipovolemia</a:t>
            </a:r>
            <a:endParaRPr/>
          </a:p>
          <a:p>
            <a:pPr indent="-317500" lvl="0" marL="457200" rtl="0" algn="l">
              <a:lnSpc>
                <a:spcPct val="100000"/>
              </a:lnSpc>
              <a:spcBef>
                <a:spcPts val="0"/>
              </a:spcBef>
              <a:spcAft>
                <a:spcPts val="0"/>
              </a:spcAft>
              <a:buSzPts val="1400"/>
              <a:buChar char="-"/>
            </a:pPr>
            <a:r>
              <a:rPr lang="en-US"/>
              <a:t>Apabila dari anam &amp; PF yakin, dapat langsung loading dengan yakin (20cc/kgBB)</a:t>
            </a:r>
            <a:endParaRPr/>
          </a:p>
          <a:p>
            <a:pPr indent="-317500" lvl="0" marL="457200" rtl="0" algn="l">
              <a:lnSpc>
                <a:spcPct val="100000"/>
              </a:lnSpc>
              <a:spcBef>
                <a:spcPts val="0"/>
              </a:spcBef>
              <a:spcAft>
                <a:spcPts val="0"/>
              </a:spcAft>
              <a:buSzPts val="1400"/>
              <a:buChar char="-"/>
            </a:pPr>
            <a:r>
              <a:rPr lang="en-US"/>
              <a:t>Hati hati dengan pasien in (gizi buruk) → menganggu kontraktilitas miokard</a:t>
            </a:r>
            <a:endParaRPr/>
          </a:p>
          <a:p>
            <a:pPr indent="-317500" lvl="0" marL="457200" rtl="0" algn="l">
              <a:lnSpc>
                <a:spcPct val="100000"/>
              </a:lnSpc>
              <a:spcBef>
                <a:spcPts val="0"/>
              </a:spcBef>
              <a:spcAft>
                <a:spcPts val="0"/>
              </a:spcAft>
              <a:buSzPts val="1400"/>
              <a:buChar char="-"/>
            </a:pPr>
            <a:r>
              <a:rPr lang="en-US"/>
              <a:t>apabila PJBnya PDA saja (tanpa PH), overload cairan bisa menyebabkan edema paru </a:t>
            </a:r>
            <a:endParaRPr/>
          </a:p>
          <a:p>
            <a:pPr indent="-317500" lvl="0" marL="457200" rtl="0" algn="l">
              <a:lnSpc>
                <a:spcPct val="100000"/>
              </a:lnSpc>
              <a:spcBef>
                <a:spcPts val="0"/>
              </a:spcBef>
              <a:spcAft>
                <a:spcPts val="0"/>
              </a:spcAft>
              <a:buSzPts val="1400"/>
              <a:buChar char="-"/>
            </a:pPr>
            <a:r>
              <a:rPr lang="en-US"/>
              <a:t>Penelitian Maitland et al., di anak2 dengan dehidrasi: Konservatif vs. terapi cairan agresif</a:t>
            </a:r>
            <a:endParaRPr/>
          </a:p>
          <a:p>
            <a:pPr indent="-317500" lvl="1" marL="914400" rtl="0" algn="l">
              <a:lnSpc>
                <a:spcPct val="100000"/>
              </a:lnSpc>
              <a:spcBef>
                <a:spcPts val="0"/>
              </a:spcBef>
              <a:spcAft>
                <a:spcPts val="0"/>
              </a:spcAft>
              <a:buSzPts val="1400"/>
              <a:buChar char="-"/>
            </a:pPr>
            <a:r>
              <a:rPr lang="en-US"/>
              <a:t>mortalitas agresif&gt; konservatif </a:t>
            </a:r>
            <a:endParaRPr/>
          </a:p>
          <a:p>
            <a:pPr indent="-317500" lvl="1" marL="914400" rtl="0" algn="l">
              <a:lnSpc>
                <a:spcPct val="100000"/>
              </a:lnSpc>
              <a:spcBef>
                <a:spcPts val="0"/>
              </a:spcBef>
              <a:spcAft>
                <a:spcPts val="0"/>
              </a:spcAft>
              <a:buSzPts val="1400"/>
              <a:buChar char="-"/>
            </a:pPr>
            <a:r>
              <a:rPr lang="en-US"/>
              <a:t>ternyata anak2 di afrika banyak malaria, gizbur → anemia </a:t>
            </a:r>
            <a:endParaRPr/>
          </a:p>
          <a:p>
            <a:pPr indent="-317500" lvl="1" marL="914400" rtl="0" algn="l">
              <a:lnSpc>
                <a:spcPct val="100000"/>
              </a:lnSpc>
              <a:spcBef>
                <a:spcPts val="0"/>
              </a:spcBef>
              <a:spcAft>
                <a:spcPts val="0"/>
              </a:spcAft>
              <a:buSzPts val="1400"/>
              <a:buChar char="-"/>
            </a:pPr>
            <a:r>
              <a:rPr lang="en-US"/>
              <a:t>pada populasi khusus, pemberian cairan secara agresif bisa menyebabkan perburukan </a:t>
            </a:r>
            <a:endParaRPr/>
          </a:p>
          <a:p>
            <a:pPr indent="-317500" lvl="0" marL="457200" rtl="0" algn="l">
              <a:lnSpc>
                <a:spcPct val="100000"/>
              </a:lnSpc>
              <a:spcBef>
                <a:spcPts val="0"/>
              </a:spcBef>
              <a:spcAft>
                <a:spcPts val="0"/>
              </a:spcAft>
              <a:buSzPts val="1400"/>
              <a:buChar char="-"/>
            </a:pPr>
            <a:r>
              <a:rPr lang="en-US"/>
              <a:t>Setiap 1x challenge: nilai respons/tidak </a:t>
            </a:r>
            <a:endParaRPr/>
          </a:p>
          <a:p>
            <a:pPr indent="-317500" lvl="1" marL="914400" rtl="0" algn="l">
              <a:lnSpc>
                <a:spcPct val="100000"/>
              </a:lnSpc>
              <a:spcBef>
                <a:spcPts val="0"/>
              </a:spcBef>
              <a:spcAft>
                <a:spcPts val="0"/>
              </a:spcAft>
              <a:buSzPts val="1400"/>
              <a:buChar char="-"/>
            </a:pPr>
            <a:r>
              <a:rPr lang="en-US"/>
              <a:t>perbaikan: Kesadaran membaik? takipneu perbaikkan? WoB (nafas cuping hidung, retraksi) membaik? takikardia jadi normal? Pulse pressure menyempit jadi normal? CRT kembali &lt;2s? Urin output (&gt;1cc/kg/jam)?</a:t>
            </a:r>
            <a:endParaRPr/>
          </a:p>
          <a:p>
            <a:pPr indent="-317500" lvl="2" marL="1371600" rtl="0" algn="l">
              <a:lnSpc>
                <a:spcPct val="100000"/>
              </a:lnSpc>
              <a:spcBef>
                <a:spcPts val="0"/>
              </a:spcBef>
              <a:spcAft>
                <a:spcPts val="0"/>
              </a:spcAft>
              <a:buSzPts val="1400"/>
              <a:buChar char="-"/>
            </a:pPr>
            <a:r>
              <a:rPr lang="en-US"/>
              <a:t>Membaik, tapi belum semua </a:t>
            </a:r>
            <a:r>
              <a:rPr lang="en-US" u="sng"/>
              <a:t>dan </a:t>
            </a:r>
            <a:r>
              <a:rPr lang="en-US"/>
              <a:t>belum ada efek samping : ronki basah halus, hepatomegali teraba tumpul, edema/bengkak. </a:t>
            </a:r>
            <a:endParaRPr/>
          </a:p>
          <a:p>
            <a:pPr indent="-317500" lvl="2" marL="1371600" rtl="0" algn="l">
              <a:lnSpc>
                <a:spcPct val="100000"/>
              </a:lnSpc>
              <a:spcBef>
                <a:spcPts val="0"/>
              </a:spcBef>
              <a:spcAft>
                <a:spcPts val="0"/>
              </a:spcAft>
              <a:buSzPts val="1400"/>
              <a:buChar char="-"/>
            </a:pPr>
            <a:r>
              <a:rPr lang="en-US"/>
              <a:t>Tidak yakin dengan klinis anak, dan banyak risiko overload? → PLR (HANYA BISA DI USIA ≥2 tahun). → baringkan anak, angkat panggul 45º selama 10 menit. sebelum &amp; setelah angkat ukur hemodinamik pasien → respons (+): berikan cairan. </a:t>
            </a:r>
            <a:endParaRPr/>
          </a:p>
          <a:p>
            <a:pPr indent="0" lvl="0" marL="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Char char="-"/>
            </a:pPr>
            <a:r>
              <a:rPr lang="en-US"/>
              <a:t>3P Pasien syok: preload, pump, pipe, </a:t>
            </a:r>
            <a:endParaRPr/>
          </a:p>
          <a:p>
            <a:pPr indent="-317500" lvl="1" marL="914400" rtl="0" algn="l">
              <a:lnSpc>
                <a:spcPct val="100000"/>
              </a:lnSpc>
              <a:spcBef>
                <a:spcPts val="0"/>
              </a:spcBef>
              <a:spcAft>
                <a:spcPts val="0"/>
              </a:spcAft>
              <a:buSzPts val="1400"/>
              <a:buChar char="-"/>
            </a:pPr>
            <a:r>
              <a:rPr lang="en-US"/>
              <a:t>apakah ada tanda efek samping?</a:t>
            </a:r>
            <a:endParaRPr/>
          </a:p>
          <a:p>
            <a:pPr indent="-317500" lvl="1" marL="914400" rtl="0" algn="l">
              <a:lnSpc>
                <a:spcPct val="100000"/>
              </a:lnSpc>
              <a:spcBef>
                <a:spcPts val="0"/>
              </a:spcBef>
              <a:spcAft>
                <a:spcPts val="0"/>
              </a:spcAft>
              <a:buSzPts val="1400"/>
              <a:buChar char="-"/>
            </a:pPr>
            <a:r>
              <a:rPr lang="en-US"/>
              <a:t>Laktat tinggi: menjelaskan asidosis metabolik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airway bebas, breathing tampak cepat dan dalam (kusmaul)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jelaskan ada perbaikan HR gk pasca loading gk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dibagging krn kegawat daruratan cardiopulmonar → awalnya rencananya mau di intubasi, namun ternyata dengan dibantu VTP itu sudah cukup membantu </a:t>
            </a:r>
            <a:endParaRPr/>
          </a:p>
          <a:p>
            <a:pPr indent="0" lvl="0" marL="0" rtl="0" algn="l">
              <a:lnSpc>
                <a:spcPct val="100000"/>
              </a:lnSpc>
              <a:spcBef>
                <a:spcPts val="0"/>
              </a:spcBef>
              <a:spcAft>
                <a:spcPts val="0"/>
              </a:spcAft>
              <a:buSzPts val="1400"/>
              <a:buNone/>
            </a:pPr>
            <a:r>
              <a:rPr lang="en-US"/>
              <a:t>Indikasi dibantu assisted ventilation : nafas megap megap (apneu)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penurunan bb&gt;10% makanya cairan rumatannya kayak gitu.</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bayi ini HT karena BPD dan PH</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bikin table hemodinamik</a:t>
            </a:r>
            <a:endParaRPr/>
          </a:p>
          <a:p>
            <a:pPr indent="-317500" lvl="0" marL="457200" rtl="0" algn="l">
              <a:lnSpc>
                <a:spcPct val="100000"/>
              </a:lnSpc>
              <a:spcBef>
                <a:spcPts val="0"/>
              </a:spcBef>
              <a:spcAft>
                <a:spcPts val="0"/>
              </a:spcAft>
              <a:buSzPts val="1400"/>
              <a:buChar char="-"/>
            </a:pPr>
            <a:r>
              <a:rPr lang="en-US"/>
              <a:t>tensi</a:t>
            </a:r>
            <a:endParaRPr/>
          </a:p>
          <a:p>
            <a:pPr indent="-317500" lvl="0" marL="457200" rtl="0" algn="l">
              <a:lnSpc>
                <a:spcPct val="100000"/>
              </a:lnSpc>
              <a:spcBef>
                <a:spcPts val="0"/>
              </a:spcBef>
              <a:spcAft>
                <a:spcPts val="0"/>
              </a:spcAft>
              <a:buSzPts val="1400"/>
              <a:buChar char="-"/>
            </a:pPr>
            <a:r>
              <a:rPr lang="en-US"/>
              <a:t>HR</a:t>
            </a:r>
            <a:endParaRPr/>
          </a:p>
          <a:p>
            <a:pPr indent="-317500" lvl="0" marL="457200" rtl="0" algn="l">
              <a:lnSpc>
                <a:spcPct val="100000"/>
              </a:lnSpc>
              <a:spcBef>
                <a:spcPts val="0"/>
              </a:spcBef>
              <a:spcAft>
                <a:spcPts val="0"/>
              </a:spcAft>
              <a:buSzPts val="1400"/>
              <a:buChar char="-"/>
            </a:pPr>
            <a:r>
              <a:rPr lang="en-US"/>
              <a:t>diuresis</a:t>
            </a:r>
            <a:endParaRPr/>
          </a:p>
          <a:p>
            <a:pPr indent="-317500" lvl="0" marL="457200" rtl="0" algn="l">
              <a:lnSpc>
                <a:spcPct val="100000"/>
              </a:lnSpc>
              <a:spcBef>
                <a:spcPts val="0"/>
              </a:spcBef>
              <a:spcAft>
                <a:spcPts val="0"/>
              </a:spcAft>
              <a:buSzPts val="1400"/>
              <a:buChar char="-"/>
            </a:pPr>
            <a:r>
              <a:rPr lang="en-US"/>
              <a:t>CRT</a:t>
            </a:r>
            <a:endParaRPr/>
          </a:p>
          <a:p>
            <a:pPr indent="-317500" lvl="0" marL="457200" rtl="0" algn="l">
              <a:lnSpc>
                <a:spcPct val="100000"/>
              </a:lnSpc>
              <a:spcBef>
                <a:spcPts val="0"/>
              </a:spcBef>
              <a:spcAft>
                <a:spcPts val="0"/>
              </a:spcAft>
              <a:buSzPts val="1400"/>
              <a:buChar char="-"/>
            </a:pPr>
            <a:r>
              <a:rPr lang="en-US"/>
              <a:t>Akral hangat</a:t>
            </a:r>
            <a:endParaRPr/>
          </a:p>
          <a:p>
            <a:pPr indent="-317500" lvl="0" marL="457200" rtl="0" algn="l">
              <a:lnSpc>
                <a:spcPct val="100000"/>
              </a:lnSpc>
              <a:spcBef>
                <a:spcPts val="0"/>
              </a:spcBef>
              <a:spcAft>
                <a:spcPts val="0"/>
              </a:spcAft>
              <a:buSzPts val="1400"/>
              <a:buChar char="-"/>
            </a:pPr>
            <a:r>
              <a:rPr lang="en-US"/>
              <a:t>Nyeri perut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Kapan kita challenge, kapan kita loading</a:t>
            </a:r>
            <a:endParaRPr/>
          </a:p>
          <a:p>
            <a:pPr indent="-317500" lvl="0" marL="457200" rtl="0" algn="l">
              <a:lnSpc>
                <a:spcPct val="100000"/>
              </a:lnSpc>
              <a:spcBef>
                <a:spcPts val="0"/>
              </a:spcBef>
              <a:spcAft>
                <a:spcPts val="0"/>
              </a:spcAft>
              <a:buSzPts val="1400"/>
              <a:buChar char="-"/>
            </a:pPr>
            <a:r>
              <a:rPr lang="en-US"/>
              <a:t>dikasus ini harus hati2 untuk loading cairan karena dia gizi buruk —&gt; bisa mengganggu kontraktilitas miokard.</a:t>
            </a:r>
            <a:endParaRPr/>
          </a:p>
          <a:p>
            <a:pPr indent="-317500" lvl="0" marL="457200" rtl="0" algn="l">
              <a:lnSpc>
                <a:spcPct val="100000"/>
              </a:lnSpc>
              <a:spcBef>
                <a:spcPts val="0"/>
              </a:spcBef>
              <a:spcAft>
                <a:spcPts val="0"/>
              </a:spcAft>
              <a:buSzPts val="1400"/>
              <a:buChar char="-"/>
            </a:pPr>
            <a:r>
              <a:rPr lang="en-US"/>
              <a:t>kalau pjb hanya pda ajaj, resikonya adalah lung edema</a:t>
            </a:r>
            <a:endParaRPr/>
          </a:p>
          <a:p>
            <a:pPr indent="-317500" lvl="0" marL="457200" rtl="0" algn="l">
              <a:lnSpc>
                <a:spcPct val="100000"/>
              </a:lnSpc>
              <a:spcBef>
                <a:spcPts val="0"/>
              </a:spcBef>
              <a:spcAft>
                <a:spcPts val="0"/>
              </a:spcAft>
              <a:buSzPts val="1400"/>
              <a:buChar char="-"/>
            </a:pPr>
            <a:r>
              <a:rPr lang="en-US"/>
              <a:t>yang pertama di nilai saat kasih challenge → liat apakah target tercapai atau tidak</a:t>
            </a:r>
            <a:endParaRPr/>
          </a:p>
          <a:p>
            <a:pPr indent="-317500" lvl="1" marL="914400" rtl="0" algn="l">
              <a:lnSpc>
                <a:spcPct val="100000"/>
              </a:lnSpc>
              <a:spcBef>
                <a:spcPts val="0"/>
              </a:spcBef>
              <a:spcAft>
                <a:spcPts val="0"/>
              </a:spcAft>
              <a:buSzPts val="1400"/>
              <a:buChar char="-"/>
            </a:pPr>
            <a:r>
              <a:rPr lang="en-US"/>
              <a:t>liat juga kalau sudah muncul efek samping pasca loading </a:t>
            </a:r>
            <a:endParaRPr/>
          </a:p>
          <a:p>
            <a:pPr indent="-317500" lvl="2" marL="1371600" rtl="0" algn="l">
              <a:lnSpc>
                <a:spcPct val="100000"/>
              </a:lnSpc>
              <a:spcBef>
                <a:spcPts val="0"/>
              </a:spcBef>
              <a:spcAft>
                <a:spcPts val="0"/>
              </a:spcAft>
              <a:buSzPts val="1400"/>
              <a:buChar char="-"/>
            </a:pPr>
            <a:r>
              <a:rPr lang="en-US"/>
              <a:t>ronki basah</a:t>
            </a:r>
            <a:endParaRPr/>
          </a:p>
          <a:p>
            <a:pPr indent="-317500" lvl="2" marL="1371600" rtl="0" algn="l">
              <a:lnSpc>
                <a:spcPct val="100000"/>
              </a:lnSpc>
              <a:spcBef>
                <a:spcPts val="0"/>
              </a:spcBef>
              <a:spcAft>
                <a:spcPts val="0"/>
              </a:spcAft>
              <a:buSzPts val="1400"/>
              <a:buChar char="-"/>
            </a:pPr>
            <a:r>
              <a:rPr lang="en-US"/>
              <a:t>pembesaran hepar</a:t>
            </a:r>
            <a:endParaRPr/>
          </a:p>
          <a:p>
            <a:pPr indent="-317500" lvl="2" marL="1371600" rtl="0" algn="l">
              <a:lnSpc>
                <a:spcPct val="100000"/>
              </a:lnSpc>
              <a:spcBef>
                <a:spcPts val="0"/>
              </a:spcBef>
              <a:spcAft>
                <a:spcPts val="0"/>
              </a:spcAft>
              <a:buSzPts val="1400"/>
              <a:buChar char="-"/>
            </a:pPr>
            <a:r>
              <a:rPr lang="en-US"/>
              <a:t>tanda edema </a:t>
            </a:r>
            <a:endParaRPr/>
          </a:p>
          <a:p>
            <a:pPr indent="-317500" lvl="1" marL="914400" rtl="0" algn="l">
              <a:lnSpc>
                <a:spcPct val="100000"/>
              </a:lnSpc>
              <a:spcBef>
                <a:spcPts val="0"/>
              </a:spcBef>
              <a:spcAft>
                <a:spcPts val="0"/>
              </a:spcAft>
              <a:buSzPts val="1400"/>
              <a:buChar char="-"/>
            </a:pPr>
            <a:r>
              <a:rPr lang="en-US"/>
              <a:t>apakah ada perbaikan tachypnea dan tachycardia </a:t>
            </a:r>
            <a:endParaRPr/>
          </a:p>
          <a:p>
            <a:pPr indent="-317500" lvl="1" marL="914400" rtl="0" algn="l">
              <a:lnSpc>
                <a:spcPct val="100000"/>
              </a:lnSpc>
              <a:spcBef>
                <a:spcPts val="0"/>
              </a:spcBef>
              <a:spcAft>
                <a:spcPts val="0"/>
              </a:spcAft>
              <a:buSzPts val="1400"/>
              <a:buChar char="-"/>
            </a:pPr>
            <a:r>
              <a:rPr lang="en-US"/>
              <a:t>Perbaikan pada CRT</a:t>
            </a:r>
            <a:endParaRPr/>
          </a:p>
          <a:p>
            <a:pPr indent="-317500" lvl="1" marL="914400" rtl="0" algn="l">
              <a:lnSpc>
                <a:spcPct val="100000"/>
              </a:lnSpc>
              <a:spcBef>
                <a:spcPts val="0"/>
              </a:spcBef>
              <a:spcAft>
                <a:spcPts val="0"/>
              </a:spcAft>
              <a:buSzPts val="1400"/>
              <a:buChar char="-"/>
            </a:pPr>
            <a:r>
              <a:rPr lang="en-US"/>
              <a:t>Urine output</a:t>
            </a:r>
            <a:endParaRPr/>
          </a:p>
          <a:p>
            <a:pPr indent="-317500" lvl="1" marL="914400" rtl="0" algn="l">
              <a:lnSpc>
                <a:spcPct val="100000"/>
              </a:lnSpc>
              <a:spcBef>
                <a:spcPts val="0"/>
              </a:spcBef>
              <a:spcAft>
                <a:spcPts val="0"/>
              </a:spcAft>
              <a:buSzPts val="1400"/>
              <a:buChar char="-"/>
            </a:pPr>
            <a:r>
              <a:rPr lang="en-US"/>
              <a:t>kalau semua hal ini sudah capai → sudah cukup</a:t>
            </a:r>
            <a:endParaRPr/>
          </a:p>
          <a:p>
            <a:pPr indent="-317500" lvl="1" marL="914400" rtl="0" algn="l">
              <a:lnSpc>
                <a:spcPct val="100000"/>
              </a:lnSpc>
              <a:spcBef>
                <a:spcPts val="0"/>
              </a:spcBef>
              <a:spcAft>
                <a:spcPts val="0"/>
              </a:spcAft>
              <a:buSzPts val="1400"/>
              <a:buChar char="-"/>
            </a:pPr>
            <a:r>
              <a:rPr lang="en-US"/>
              <a:t>passive leg raising → balikkan pasien → angkat kaki pasien 45 derajat selama 10 menit → ukur hemodinamisnya → kalau respons, bisa turunkan kakinya</a:t>
            </a:r>
            <a:endParaRPr/>
          </a:p>
        </p:txBody>
      </p:sp>
      <p:sp>
        <p:nvSpPr>
          <p:cNvPr id="229" name="Google Shape;229;g26afcc48be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Syok hipovolemia</a:t>
            </a:r>
            <a:endParaRPr/>
          </a:p>
          <a:p>
            <a:pPr indent="-317500" lvl="0" marL="457200" rtl="0" algn="l">
              <a:lnSpc>
                <a:spcPct val="100000"/>
              </a:lnSpc>
              <a:spcBef>
                <a:spcPts val="0"/>
              </a:spcBef>
              <a:spcAft>
                <a:spcPts val="0"/>
              </a:spcAft>
              <a:buSzPts val="1400"/>
              <a:buChar char="-"/>
            </a:pPr>
            <a:r>
              <a:rPr lang="en-US"/>
              <a:t>Apabila dari anam &amp; PF yakin, dapat langsung loading dengan yakin (20cc/kgBB)</a:t>
            </a:r>
            <a:endParaRPr/>
          </a:p>
          <a:p>
            <a:pPr indent="-317500" lvl="0" marL="457200" rtl="0" algn="l">
              <a:lnSpc>
                <a:spcPct val="100000"/>
              </a:lnSpc>
              <a:spcBef>
                <a:spcPts val="0"/>
              </a:spcBef>
              <a:spcAft>
                <a:spcPts val="0"/>
              </a:spcAft>
              <a:buSzPts val="1400"/>
              <a:buChar char="-"/>
            </a:pPr>
            <a:r>
              <a:rPr lang="en-US"/>
              <a:t>Hati hati dengan pasien in (gizi buruk) → menganggu kontraktilitas miokard</a:t>
            </a:r>
            <a:endParaRPr/>
          </a:p>
          <a:p>
            <a:pPr indent="-317500" lvl="0" marL="457200" rtl="0" algn="l">
              <a:lnSpc>
                <a:spcPct val="100000"/>
              </a:lnSpc>
              <a:spcBef>
                <a:spcPts val="0"/>
              </a:spcBef>
              <a:spcAft>
                <a:spcPts val="0"/>
              </a:spcAft>
              <a:buSzPts val="1400"/>
              <a:buChar char="-"/>
            </a:pPr>
            <a:r>
              <a:rPr lang="en-US"/>
              <a:t>apabila PJBnya PDA saja (tanpa PH), overload cairan bisa menyebabkan edema paru </a:t>
            </a:r>
            <a:endParaRPr/>
          </a:p>
          <a:p>
            <a:pPr indent="-317500" lvl="0" marL="457200" rtl="0" algn="l">
              <a:lnSpc>
                <a:spcPct val="100000"/>
              </a:lnSpc>
              <a:spcBef>
                <a:spcPts val="0"/>
              </a:spcBef>
              <a:spcAft>
                <a:spcPts val="0"/>
              </a:spcAft>
              <a:buSzPts val="1400"/>
              <a:buChar char="-"/>
            </a:pPr>
            <a:r>
              <a:rPr lang="en-US"/>
              <a:t>Penelitian Maitland et al., di anak2 dengan dehidrasi: Konservatif vs. terapi cairan agresif</a:t>
            </a:r>
            <a:endParaRPr/>
          </a:p>
          <a:p>
            <a:pPr indent="-317500" lvl="1" marL="914400" rtl="0" algn="l">
              <a:lnSpc>
                <a:spcPct val="100000"/>
              </a:lnSpc>
              <a:spcBef>
                <a:spcPts val="0"/>
              </a:spcBef>
              <a:spcAft>
                <a:spcPts val="0"/>
              </a:spcAft>
              <a:buSzPts val="1400"/>
              <a:buChar char="-"/>
            </a:pPr>
            <a:r>
              <a:rPr lang="en-US"/>
              <a:t>mortalitas agresif&gt; konservatif </a:t>
            </a:r>
            <a:endParaRPr/>
          </a:p>
          <a:p>
            <a:pPr indent="-317500" lvl="1" marL="914400" rtl="0" algn="l">
              <a:lnSpc>
                <a:spcPct val="100000"/>
              </a:lnSpc>
              <a:spcBef>
                <a:spcPts val="0"/>
              </a:spcBef>
              <a:spcAft>
                <a:spcPts val="0"/>
              </a:spcAft>
              <a:buSzPts val="1400"/>
              <a:buChar char="-"/>
            </a:pPr>
            <a:r>
              <a:rPr lang="en-US"/>
              <a:t>ternyata anak2 di afrika banyak malaria, gizbur → anemia </a:t>
            </a:r>
            <a:endParaRPr/>
          </a:p>
          <a:p>
            <a:pPr indent="-317500" lvl="1" marL="914400" rtl="0" algn="l">
              <a:lnSpc>
                <a:spcPct val="100000"/>
              </a:lnSpc>
              <a:spcBef>
                <a:spcPts val="0"/>
              </a:spcBef>
              <a:spcAft>
                <a:spcPts val="0"/>
              </a:spcAft>
              <a:buSzPts val="1400"/>
              <a:buChar char="-"/>
            </a:pPr>
            <a:r>
              <a:rPr lang="en-US"/>
              <a:t>pada populasi khusus, pemberian cairan secara agresif bisa menyebabkan perburukan </a:t>
            </a:r>
            <a:endParaRPr/>
          </a:p>
          <a:p>
            <a:pPr indent="-317500" lvl="0" marL="457200" rtl="0" algn="l">
              <a:lnSpc>
                <a:spcPct val="100000"/>
              </a:lnSpc>
              <a:spcBef>
                <a:spcPts val="0"/>
              </a:spcBef>
              <a:spcAft>
                <a:spcPts val="0"/>
              </a:spcAft>
              <a:buSzPts val="1400"/>
              <a:buChar char="-"/>
            </a:pPr>
            <a:r>
              <a:rPr lang="en-US"/>
              <a:t>Setiap 1x challenge: nilai respons/tidak </a:t>
            </a:r>
            <a:endParaRPr/>
          </a:p>
          <a:p>
            <a:pPr indent="-317500" lvl="1" marL="914400" rtl="0" algn="l">
              <a:lnSpc>
                <a:spcPct val="100000"/>
              </a:lnSpc>
              <a:spcBef>
                <a:spcPts val="0"/>
              </a:spcBef>
              <a:spcAft>
                <a:spcPts val="0"/>
              </a:spcAft>
              <a:buSzPts val="1400"/>
              <a:buChar char="-"/>
            </a:pPr>
            <a:r>
              <a:rPr lang="en-US"/>
              <a:t>perbaikan: Kesadaran membaik? takipneu perbaikkan? WoB (nafas cuping hidung, retraksi) membaik? takikardia jadi normal? Pulse pressure menyempit jadi normal? CRT kembali &lt;2s? Urin output (&gt;1cc/kg/jam)?</a:t>
            </a:r>
            <a:endParaRPr/>
          </a:p>
          <a:p>
            <a:pPr indent="-317500" lvl="2" marL="1371600" rtl="0" algn="l">
              <a:lnSpc>
                <a:spcPct val="100000"/>
              </a:lnSpc>
              <a:spcBef>
                <a:spcPts val="0"/>
              </a:spcBef>
              <a:spcAft>
                <a:spcPts val="0"/>
              </a:spcAft>
              <a:buSzPts val="1400"/>
              <a:buChar char="-"/>
            </a:pPr>
            <a:r>
              <a:rPr lang="en-US"/>
              <a:t>Membaik, tapi belum semua </a:t>
            </a:r>
            <a:r>
              <a:rPr lang="en-US" u="sng"/>
              <a:t>dan </a:t>
            </a:r>
            <a:r>
              <a:rPr lang="en-US"/>
              <a:t>belum ada efek samping : ronki basah halus, hepatomegali teraba tumpul, edema/bengkak. </a:t>
            </a:r>
            <a:endParaRPr/>
          </a:p>
          <a:p>
            <a:pPr indent="-317500" lvl="2" marL="1371600" rtl="0" algn="l">
              <a:lnSpc>
                <a:spcPct val="100000"/>
              </a:lnSpc>
              <a:spcBef>
                <a:spcPts val="0"/>
              </a:spcBef>
              <a:spcAft>
                <a:spcPts val="0"/>
              </a:spcAft>
              <a:buSzPts val="1400"/>
              <a:buChar char="-"/>
            </a:pPr>
            <a:r>
              <a:rPr lang="en-US"/>
              <a:t>Tidak yakin dengan klinis anak, dan banyak risiko overload? → PLR (HANYA BISA DI USIA ≥2 tahun). → baringkan anak, angkat panggul 45º selama 10 menit. sebelum &amp; setelah angkat ukur hemodinamik pasien → respons (+): berikan cairan. </a:t>
            </a:r>
            <a:endParaRPr/>
          </a:p>
          <a:p>
            <a:pPr indent="0" lvl="0" marL="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Char char="-"/>
            </a:pPr>
            <a:r>
              <a:rPr lang="en-US"/>
              <a:t>3P Pasien syok: preload, pump, pipe, </a:t>
            </a:r>
            <a:endParaRPr/>
          </a:p>
          <a:p>
            <a:pPr indent="-317500" lvl="1" marL="914400" rtl="0" algn="l">
              <a:lnSpc>
                <a:spcPct val="100000"/>
              </a:lnSpc>
              <a:spcBef>
                <a:spcPts val="0"/>
              </a:spcBef>
              <a:spcAft>
                <a:spcPts val="0"/>
              </a:spcAft>
              <a:buSzPts val="1400"/>
              <a:buChar char="-"/>
            </a:pPr>
            <a:r>
              <a:rPr lang="en-US"/>
              <a:t>apakah ada tanda efek samping?</a:t>
            </a:r>
            <a:endParaRPr/>
          </a:p>
          <a:p>
            <a:pPr indent="-317500" lvl="1" marL="914400" rtl="0" algn="l">
              <a:lnSpc>
                <a:spcPct val="100000"/>
              </a:lnSpc>
              <a:spcBef>
                <a:spcPts val="0"/>
              </a:spcBef>
              <a:spcAft>
                <a:spcPts val="0"/>
              </a:spcAft>
              <a:buSzPts val="1400"/>
              <a:buChar char="-"/>
            </a:pPr>
            <a:r>
              <a:rPr lang="en-US"/>
              <a:t>Laktat tinggi: menjelaskan asidosis metabolik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airway bebas, breathing tampak cepat dan dalam (kusmaul)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jelaskan ada perbaikan HR gk pasca loading gk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dibagging krn kegawat daruratan cardiopulmonar → awalnya rencananya mau di intubasi, namun ternyata dengan dibantu VTP itu sudah cukup membantu </a:t>
            </a:r>
            <a:endParaRPr/>
          </a:p>
          <a:p>
            <a:pPr indent="0" lvl="0" marL="0" rtl="0" algn="l">
              <a:lnSpc>
                <a:spcPct val="100000"/>
              </a:lnSpc>
              <a:spcBef>
                <a:spcPts val="0"/>
              </a:spcBef>
              <a:spcAft>
                <a:spcPts val="0"/>
              </a:spcAft>
              <a:buSzPts val="1400"/>
              <a:buNone/>
            </a:pPr>
            <a:r>
              <a:rPr lang="en-US"/>
              <a:t>Indikasi dibantu assisted ventilation : nafas megap megap (apneu)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penurunan bb&gt;10% makanya cairan rumatannya kayak gitu.</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bayi ini HT karena BPD dan PH</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bikin table hemodinamik</a:t>
            </a:r>
            <a:endParaRPr/>
          </a:p>
          <a:p>
            <a:pPr indent="-317500" lvl="0" marL="457200" rtl="0" algn="l">
              <a:lnSpc>
                <a:spcPct val="100000"/>
              </a:lnSpc>
              <a:spcBef>
                <a:spcPts val="0"/>
              </a:spcBef>
              <a:spcAft>
                <a:spcPts val="0"/>
              </a:spcAft>
              <a:buSzPts val="1400"/>
              <a:buChar char="-"/>
            </a:pPr>
            <a:r>
              <a:rPr lang="en-US"/>
              <a:t>tensi</a:t>
            </a:r>
            <a:endParaRPr/>
          </a:p>
          <a:p>
            <a:pPr indent="-317500" lvl="0" marL="457200" rtl="0" algn="l">
              <a:lnSpc>
                <a:spcPct val="100000"/>
              </a:lnSpc>
              <a:spcBef>
                <a:spcPts val="0"/>
              </a:spcBef>
              <a:spcAft>
                <a:spcPts val="0"/>
              </a:spcAft>
              <a:buSzPts val="1400"/>
              <a:buChar char="-"/>
            </a:pPr>
            <a:r>
              <a:rPr lang="en-US"/>
              <a:t>HR</a:t>
            </a:r>
            <a:endParaRPr/>
          </a:p>
          <a:p>
            <a:pPr indent="-317500" lvl="0" marL="457200" rtl="0" algn="l">
              <a:lnSpc>
                <a:spcPct val="100000"/>
              </a:lnSpc>
              <a:spcBef>
                <a:spcPts val="0"/>
              </a:spcBef>
              <a:spcAft>
                <a:spcPts val="0"/>
              </a:spcAft>
              <a:buSzPts val="1400"/>
              <a:buChar char="-"/>
            </a:pPr>
            <a:r>
              <a:rPr lang="en-US"/>
              <a:t>diuresis</a:t>
            </a:r>
            <a:endParaRPr/>
          </a:p>
          <a:p>
            <a:pPr indent="-317500" lvl="0" marL="457200" rtl="0" algn="l">
              <a:lnSpc>
                <a:spcPct val="100000"/>
              </a:lnSpc>
              <a:spcBef>
                <a:spcPts val="0"/>
              </a:spcBef>
              <a:spcAft>
                <a:spcPts val="0"/>
              </a:spcAft>
              <a:buSzPts val="1400"/>
              <a:buChar char="-"/>
            </a:pPr>
            <a:r>
              <a:rPr lang="en-US"/>
              <a:t>CRT</a:t>
            </a:r>
            <a:endParaRPr/>
          </a:p>
          <a:p>
            <a:pPr indent="-317500" lvl="0" marL="457200" rtl="0" algn="l">
              <a:lnSpc>
                <a:spcPct val="100000"/>
              </a:lnSpc>
              <a:spcBef>
                <a:spcPts val="0"/>
              </a:spcBef>
              <a:spcAft>
                <a:spcPts val="0"/>
              </a:spcAft>
              <a:buSzPts val="1400"/>
              <a:buChar char="-"/>
            </a:pPr>
            <a:r>
              <a:rPr lang="en-US"/>
              <a:t>Akral hangat</a:t>
            </a:r>
            <a:endParaRPr/>
          </a:p>
          <a:p>
            <a:pPr indent="-317500" lvl="0" marL="457200" rtl="0" algn="l">
              <a:lnSpc>
                <a:spcPct val="100000"/>
              </a:lnSpc>
              <a:spcBef>
                <a:spcPts val="0"/>
              </a:spcBef>
              <a:spcAft>
                <a:spcPts val="0"/>
              </a:spcAft>
              <a:buSzPts val="1400"/>
              <a:buChar char="-"/>
            </a:pPr>
            <a:r>
              <a:rPr lang="en-US"/>
              <a:t>Nyeri perut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Kapan kita challenge, kapan kita loading</a:t>
            </a:r>
            <a:endParaRPr/>
          </a:p>
          <a:p>
            <a:pPr indent="-317500" lvl="0" marL="457200" rtl="0" algn="l">
              <a:lnSpc>
                <a:spcPct val="100000"/>
              </a:lnSpc>
              <a:spcBef>
                <a:spcPts val="0"/>
              </a:spcBef>
              <a:spcAft>
                <a:spcPts val="0"/>
              </a:spcAft>
              <a:buSzPts val="1400"/>
              <a:buChar char="-"/>
            </a:pPr>
            <a:r>
              <a:rPr lang="en-US"/>
              <a:t>dikasus ini harus hati2 untuk loading cairan karena dia gizi buruk —&gt; bisa mengganggu kontraktilitas miokard.</a:t>
            </a:r>
            <a:endParaRPr/>
          </a:p>
          <a:p>
            <a:pPr indent="-317500" lvl="0" marL="457200" rtl="0" algn="l">
              <a:lnSpc>
                <a:spcPct val="100000"/>
              </a:lnSpc>
              <a:spcBef>
                <a:spcPts val="0"/>
              </a:spcBef>
              <a:spcAft>
                <a:spcPts val="0"/>
              </a:spcAft>
              <a:buSzPts val="1400"/>
              <a:buChar char="-"/>
            </a:pPr>
            <a:r>
              <a:rPr lang="en-US"/>
              <a:t>kalau pjb hanya pda ajaj, resikonya adalah lung edema</a:t>
            </a:r>
            <a:endParaRPr/>
          </a:p>
          <a:p>
            <a:pPr indent="-317500" lvl="0" marL="457200" rtl="0" algn="l">
              <a:lnSpc>
                <a:spcPct val="100000"/>
              </a:lnSpc>
              <a:spcBef>
                <a:spcPts val="0"/>
              </a:spcBef>
              <a:spcAft>
                <a:spcPts val="0"/>
              </a:spcAft>
              <a:buSzPts val="1400"/>
              <a:buChar char="-"/>
            </a:pPr>
            <a:r>
              <a:rPr lang="en-US"/>
              <a:t>yang pertama di nilai saat kasih challenge → liat apakah target tercapai atau tidak</a:t>
            </a:r>
            <a:endParaRPr/>
          </a:p>
          <a:p>
            <a:pPr indent="-317500" lvl="1" marL="914400" rtl="0" algn="l">
              <a:lnSpc>
                <a:spcPct val="100000"/>
              </a:lnSpc>
              <a:spcBef>
                <a:spcPts val="0"/>
              </a:spcBef>
              <a:spcAft>
                <a:spcPts val="0"/>
              </a:spcAft>
              <a:buSzPts val="1400"/>
              <a:buChar char="-"/>
            </a:pPr>
            <a:r>
              <a:rPr lang="en-US"/>
              <a:t>liat juga kalau sudah muncul efek samping pasca loading </a:t>
            </a:r>
            <a:endParaRPr/>
          </a:p>
          <a:p>
            <a:pPr indent="-317500" lvl="2" marL="1371600" rtl="0" algn="l">
              <a:lnSpc>
                <a:spcPct val="100000"/>
              </a:lnSpc>
              <a:spcBef>
                <a:spcPts val="0"/>
              </a:spcBef>
              <a:spcAft>
                <a:spcPts val="0"/>
              </a:spcAft>
              <a:buSzPts val="1400"/>
              <a:buChar char="-"/>
            </a:pPr>
            <a:r>
              <a:rPr lang="en-US"/>
              <a:t>ronki basah</a:t>
            </a:r>
            <a:endParaRPr/>
          </a:p>
          <a:p>
            <a:pPr indent="-317500" lvl="2" marL="1371600" rtl="0" algn="l">
              <a:lnSpc>
                <a:spcPct val="100000"/>
              </a:lnSpc>
              <a:spcBef>
                <a:spcPts val="0"/>
              </a:spcBef>
              <a:spcAft>
                <a:spcPts val="0"/>
              </a:spcAft>
              <a:buSzPts val="1400"/>
              <a:buChar char="-"/>
            </a:pPr>
            <a:r>
              <a:rPr lang="en-US"/>
              <a:t>pembesaran hepar</a:t>
            </a:r>
            <a:endParaRPr/>
          </a:p>
          <a:p>
            <a:pPr indent="-317500" lvl="2" marL="1371600" rtl="0" algn="l">
              <a:lnSpc>
                <a:spcPct val="100000"/>
              </a:lnSpc>
              <a:spcBef>
                <a:spcPts val="0"/>
              </a:spcBef>
              <a:spcAft>
                <a:spcPts val="0"/>
              </a:spcAft>
              <a:buSzPts val="1400"/>
              <a:buChar char="-"/>
            </a:pPr>
            <a:r>
              <a:rPr lang="en-US"/>
              <a:t>tanda edema </a:t>
            </a:r>
            <a:endParaRPr/>
          </a:p>
          <a:p>
            <a:pPr indent="-317500" lvl="1" marL="914400" rtl="0" algn="l">
              <a:lnSpc>
                <a:spcPct val="100000"/>
              </a:lnSpc>
              <a:spcBef>
                <a:spcPts val="0"/>
              </a:spcBef>
              <a:spcAft>
                <a:spcPts val="0"/>
              </a:spcAft>
              <a:buSzPts val="1400"/>
              <a:buChar char="-"/>
            </a:pPr>
            <a:r>
              <a:rPr lang="en-US"/>
              <a:t>apakah ada perbaikan tachypnea dan tachycardia </a:t>
            </a:r>
            <a:endParaRPr/>
          </a:p>
          <a:p>
            <a:pPr indent="-317500" lvl="1" marL="914400" rtl="0" algn="l">
              <a:lnSpc>
                <a:spcPct val="100000"/>
              </a:lnSpc>
              <a:spcBef>
                <a:spcPts val="0"/>
              </a:spcBef>
              <a:spcAft>
                <a:spcPts val="0"/>
              </a:spcAft>
              <a:buSzPts val="1400"/>
              <a:buChar char="-"/>
            </a:pPr>
            <a:r>
              <a:rPr lang="en-US"/>
              <a:t>Perbaikan pada CRT</a:t>
            </a:r>
            <a:endParaRPr/>
          </a:p>
          <a:p>
            <a:pPr indent="-317500" lvl="1" marL="914400" rtl="0" algn="l">
              <a:lnSpc>
                <a:spcPct val="100000"/>
              </a:lnSpc>
              <a:spcBef>
                <a:spcPts val="0"/>
              </a:spcBef>
              <a:spcAft>
                <a:spcPts val="0"/>
              </a:spcAft>
              <a:buSzPts val="1400"/>
              <a:buChar char="-"/>
            </a:pPr>
            <a:r>
              <a:rPr lang="en-US"/>
              <a:t>Urine output</a:t>
            </a:r>
            <a:endParaRPr/>
          </a:p>
          <a:p>
            <a:pPr indent="-317500" lvl="1" marL="914400" rtl="0" algn="l">
              <a:lnSpc>
                <a:spcPct val="100000"/>
              </a:lnSpc>
              <a:spcBef>
                <a:spcPts val="0"/>
              </a:spcBef>
              <a:spcAft>
                <a:spcPts val="0"/>
              </a:spcAft>
              <a:buSzPts val="1400"/>
              <a:buChar char="-"/>
            </a:pPr>
            <a:r>
              <a:rPr lang="en-US"/>
              <a:t>kalau semua hal ini sudah capai → sudah cukup</a:t>
            </a:r>
            <a:endParaRPr/>
          </a:p>
          <a:p>
            <a:pPr indent="-317500" lvl="1" marL="914400" rtl="0" algn="l">
              <a:lnSpc>
                <a:spcPct val="100000"/>
              </a:lnSpc>
              <a:spcBef>
                <a:spcPts val="0"/>
              </a:spcBef>
              <a:spcAft>
                <a:spcPts val="0"/>
              </a:spcAft>
              <a:buSzPts val="1400"/>
              <a:buChar char="-"/>
            </a:pPr>
            <a:r>
              <a:rPr lang="en-US"/>
              <a:t>passive leg raising → balikkan pasien → angkat kaki pasien 45 derajat selama 10 menit → ukur hemodinamisnya → kalau respons, bisa turunkan kakinya</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rumus mekanisme kompensasi: 21.35 pCO2 nya, terkompensasi, tapi pHnya masih dibawh normal, berarti ada penyebab lain untuk asidosisnya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hitung anion gap : (Na+ + K+) – (Cl- + HCO3-)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(140 + 5.3) - (8.9 +109) = 27.4</a:t>
            </a:r>
            <a:endParaRPr/>
          </a:p>
          <a:p>
            <a:pPr indent="0" lvl="0" marL="0" rtl="0" algn="l">
              <a:lnSpc>
                <a:spcPct val="100000"/>
              </a:lnSpc>
              <a:spcBef>
                <a:spcPts val="0"/>
              </a:spcBef>
              <a:spcAft>
                <a:spcPts val="0"/>
              </a:spcAft>
              <a:buSzPts val="1400"/>
              <a:buNone/>
            </a:pPr>
            <a:r>
              <a:rPr lang="en-US"/>
              <a:t>Normal anion gap &lt;18</a:t>
            </a:r>
            <a:endParaRPr/>
          </a:p>
          <a:p>
            <a:pPr indent="0" lvl="0" marL="0" rtl="0" algn="l">
              <a:lnSpc>
                <a:spcPct val="100000"/>
              </a:lnSpc>
              <a:spcBef>
                <a:spcPts val="0"/>
              </a:spcBef>
              <a:spcAft>
                <a:spcPts val="0"/>
              </a:spcAft>
              <a:buSzPts val="1400"/>
              <a:buNone/>
            </a:pPr>
            <a:r>
              <a:rPr lang="en-US"/>
              <a:t>ini high anion gap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Alur baca AGD</a:t>
            </a:r>
            <a:endParaRPr/>
          </a:p>
          <a:p>
            <a:pPr indent="-317500" lvl="0" marL="457200" rtl="0" algn="l">
              <a:lnSpc>
                <a:spcPct val="100000"/>
              </a:lnSpc>
              <a:spcBef>
                <a:spcPts val="0"/>
              </a:spcBef>
              <a:spcAft>
                <a:spcPts val="0"/>
              </a:spcAft>
              <a:buSzPts val="1400"/>
              <a:buChar char="-"/>
            </a:pPr>
            <a:r>
              <a:rPr lang="en-US"/>
              <a:t>baca primary casenya</a:t>
            </a:r>
            <a:endParaRPr/>
          </a:p>
          <a:p>
            <a:pPr indent="-317500" lvl="0" marL="457200" rtl="0" algn="l">
              <a:lnSpc>
                <a:spcPct val="100000"/>
              </a:lnSpc>
              <a:spcBef>
                <a:spcPts val="0"/>
              </a:spcBef>
              <a:spcAft>
                <a:spcPts val="0"/>
              </a:spcAft>
              <a:buSzPts val="1400"/>
              <a:buChar char="-"/>
            </a:pPr>
            <a:r>
              <a:rPr lang="en-US"/>
              <a:t>ex. pneumonia :alkalosis respiratorik dikompensasi metabolik</a:t>
            </a:r>
            <a:endParaRPr/>
          </a:p>
          <a:p>
            <a:pPr indent="-317500" lvl="0" marL="457200" rtl="0" algn="l">
              <a:lnSpc>
                <a:spcPct val="100000"/>
              </a:lnSpc>
              <a:spcBef>
                <a:spcPts val="0"/>
              </a:spcBef>
              <a:spcAft>
                <a:spcPts val="0"/>
              </a:spcAft>
              <a:buSzPts val="1400"/>
              <a:buChar char="-"/>
            </a:pPr>
            <a:r>
              <a:rPr lang="en-US"/>
              <a:t>kalo anak ini, ada hipovolemia → pasti asidosis metabolik, dengan kompensasi respirasi </a:t>
            </a:r>
            <a:endParaRPr/>
          </a:p>
          <a:p>
            <a:pPr indent="-317500" lvl="0" marL="457200" rtl="0" algn="l">
              <a:lnSpc>
                <a:spcPct val="100000"/>
              </a:lnSpc>
              <a:spcBef>
                <a:spcPts val="0"/>
              </a:spcBef>
              <a:spcAft>
                <a:spcPts val="0"/>
              </a:spcAft>
              <a:buSzPts val="1400"/>
              <a:buChar char="-"/>
            </a:pPr>
            <a:r>
              <a:rPr lang="en-US"/>
              <a:t>Cantumkan AGD itu diberikan terapi oksigen atau tidak → di pasien ini 99.50 hiperoksia kalau di room air, tapi di pasien yang menerima terapi oksigen, ini </a:t>
            </a:r>
            <a:endParaRPr/>
          </a:p>
          <a:p>
            <a:pPr indent="-317500" lvl="0" marL="457200" rtl="0" algn="l">
              <a:lnSpc>
                <a:spcPct val="100000"/>
              </a:lnSpc>
              <a:spcBef>
                <a:spcPts val="0"/>
              </a:spcBef>
              <a:spcAft>
                <a:spcPts val="0"/>
              </a:spcAft>
              <a:buSzPts val="1400"/>
              <a:buChar char="-"/>
            </a:pPr>
            <a:r>
              <a:rPr lang="en-US"/>
              <a:t>SF Rasio : saturasi perifer/fraksi yg diberikan </a:t>
            </a:r>
            <a:br>
              <a:rPr lang="en-US"/>
            </a:b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saat memeriksa AGD, sebutkan terapi oksigennya apa</a:t>
            </a:r>
            <a:endParaRPr/>
          </a:p>
          <a:p>
            <a:pPr indent="-317500" lvl="0" marL="457200" rtl="0" algn="l">
              <a:lnSpc>
                <a:spcPct val="100000"/>
              </a:lnSpc>
              <a:spcBef>
                <a:spcPts val="0"/>
              </a:spcBef>
              <a:spcAft>
                <a:spcPts val="0"/>
              </a:spcAft>
              <a:buSzPts val="1400"/>
              <a:buChar char="-"/>
            </a:pPr>
            <a:r>
              <a:rPr lang="en-US"/>
              <a:t>saat ini pasien hiperoksia, tp harus dibandingkan dengan oksigen apa yg diberikan</a:t>
            </a:r>
            <a:endParaRPr/>
          </a:p>
          <a:p>
            <a:pPr indent="-317500" lvl="1" marL="914400" rtl="0" algn="l">
              <a:lnSpc>
                <a:spcPct val="100000"/>
              </a:lnSpc>
              <a:spcBef>
                <a:spcPts val="0"/>
              </a:spcBef>
              <a:spcAft>
                <a:spcPts val="0"/>
              </a:spcAft>
              <a:buSzPts val="1400"/>
              <a:buChar char="-"/>
            </a:pPr>
            <a:r>
              <a:rPr lang="en-US"/>
              <a:t>kalau dia room air → hiperoksia</a:t>
            </a:r>
            <a:endParaRPr/>
          </a:p>
          <a:p>
            <a:pPr indent="-317500" lvl="1" marL="914400" rtl="0" algn="l">
              <a:lnSpc>
                <a:spcPct val="100000"/>
              </a:lnSpc>
              <a:spcBef>
                <a:spcPts val="0"/>
              </a:spcBef>
              <a:spcAft>
                <a:spcPts val="0"/>
              </a:spcAft>
              <a:buSzPts val="1400"/>
              <a:buChar char="-"/>
            </a:pPr>
            <a:r>
              <a:rPr lang="en-US"/>
              <a:t>Kalau dengan terapi oksigen → blm tentu hiperoksia</a:t>
            </a:r>
            <a:endParaRPr/>
          </a:p>
          <a:p>
            <a:pPr indent="-317500" lvl="0" marL="457200" rtl="0" algn="l">
              <a:lnSpc>
                <a:spcPct val="100000"/>
              </a:lnSpc>
              <a:spcBef>
                <a:spcPts val="0"/>
              </a:spcBef>
              <a:spcAft>
                <a:spcPts val="0"/>
              </a:spcAft>
              <a:buSzPts val="1400"/>
              <a:buChar char="-"/>
            </a:pPr>
            <a:r>
              <a:t/>
            </a:r>
            <a:endParaRPr/>
          </a:p>
        </p:txBody>
      </p:sp>
      <p:sp>
        <p:nvSpPr>
          <p:cNvPr id="243" name="Google Shape;2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6a07f40bfe_3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26a07f40bfe_3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setelah AGD ke-3, diuresis dan uremia sudah terkoreksi masih dicari penyebab </a:t>
            </a:r>
            <a:endParaRPr/>
          </a:p>
          <a:p>
            <a:pPr indent="0" lvl="0" marL="0" rtl="0" algn="l">
              <a:lnSpc>
                <a:spcPct val="100000"/>
              </a:lnSpc>
              <a:spcBef>
                <a:spcPts val="0"/>
              </a:spcBef>
              <a:spcAft>
                <a:spcPts val="0"/>
              </a:spcAft>
              <a:buSzPts val="1400"/>
              <a:buNone/>
            </a:pPr>
            <a:r>
              <a:rPr lang="en-US"/>
              <a:t>Loss bicarbonate saluran cerna → harusnya anion gap normal (ex. diare) → di pasien ini high anion gap, harus dicari etiologinya</a:t>
            </a:r>
            <a:endParaRPr/>
          </a:p>
        </p:txBody>
      </p:sp>
      <p:sp>
        <p:nvSpPr>
          <p:cNvPr id="252" name="Google Shape;252;g26a07f40bfe_3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6a07f40bfe_2_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Hemokonsentrasiterdapat hemokonsentrasi</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normal hb untuk anak 9 bulan: 11-12</a:t>
            </a:r>
            <a:endParaRPr/>
          </a:p>
        </p:txBody>
      </p:sp>
      <p:sp>
        <p:nvSpPr>
          <p:cNvPr id="260" name="Google Shape;260;g26a07f40bfe_2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6a07f40bfe_2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26a07f40bfe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6a07f40bfe_2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g26a07f40bfe_2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6a07f40bfe_3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kasih AB, pasien dgn shock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CRoss check dosis ceftazidim dengan dosisi untuk severe infection </a:t>
            </a:r>
            <a:endParaRPr/>
          </a:p>
        </p:txBody>
      </p:sp>
      <p:sp>
        <p:nvSpPr>
          <p:cNvPr id="286" name="Google Shape;286;g26a07f40bfe_3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6a07f40bfe_2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wajib periksa hipotermi, hipoglikemi, dehidrasi</a:t>
            </a:r>
            <a:endParaRPr/>
          </a:p>
        </p:txBody>
      </p:sp>
      <p:sp>
        <p:nvSpPr>
          <p:cNvPr id="292" name="Google Shape;292;g26a07f40bfe_2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6a07f40bfe_2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g26a07f40bfe_2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sp>
        <p:nvSpPr>
          <p:cNvPr id="17" name="Google Shape;17;p19"/>
          <p:cNvSpPr/>
          <p:nvPr/>
        </p:nvSpPr>
        <p:spPr>
          <a:xfrm>
            <a:off x="0" y="0"/>
            <a:ext cx="12192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9"/>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9"/>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21" name="Google Shape;21;p1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24" name="Google Shape;24;p19"/>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0"/>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8" name="Google Shape;28;p2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2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1"/>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4" name="Google Shape;34;p21"/>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5" name="Google Shape;35;p2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8" name="Shape 38"/>
        <p:cNvGrpSpPr/>
        <p:nvPr/>
      </p:nvGrpSpPr>
      <p:grpSpPr>
        <a:xfrm>
          <a:off x="0" y="0"/>
          <a:ext cx="0" cy="0"/>
          <a:chOff x="0" y="0"/>
          <a:chExt cx="0" cy="0"/>
        </a:xfrm>
      </p:grpSpPr>
      <p:sp>
        <p:nvSpPr>
          <p:cNvPr id="39" name="Google Shape;39;p22"/>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2"/>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2"/>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b="0"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3" name="Google Shape;43;p2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46" name="Google Shape;46;p22"/>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3"/>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0" name="Google Shape;50;p23"/>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23"/>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2" name="Google Shape;52;p23"/>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3" name="Google Shape;53;p2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2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1" name="Shape 61"/>
        <p:cNvGrpSpPr/>
        <p:nvPr/>
      </p:nvGrpSpPr>
      <p:grpSpPr>
        <a:xfrm>
          <a:off x="0" y="0"/>
          <a:ext cx="0" cy="0"/>
          <a:chOff x="0" y="0"/>
          <a:chExt cx="0" cy="0"/>
        </a:xfrm>
      </p:grpSpPr>
      <p:sp>
        <p:nvSpPr>
          <p:cNvPr id="62" name="Google Shape;62;p2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8" name="Google Shape;68;p26"/>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9" name="Google Shape;69;p2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2" name="Shape 72"/>
        <p:cNvGrpSpPr/>
        <p:nvPr/>
      </p:nvGrpSpPr>
      <p:grpSpPr>
        <a:xfrm>
          <a:off x="0" y="0"/>
          <a:ext cx="0" cy="0"/>
          <a:chOff x="0" y="0"/>
          <a:chExt cx="0" cy="0"/>
        </a:xfrm>
      </p:grpSpPr>
      <p:sp>
        <p:nvSpPr>
          <p:cNvPr id="73" name="Google Shape;73;p27"/>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p:nvPr>
            <p:ph idx="2" type="pic"/>
          </p:nvPr>
        </p:nvSpPr>
        <p:spPr>
          <a:xfrm>
            <a:off x="0" y="-1"/>
            <a:ext cx="12188952" cy="4572000"/>
          </a:xfrm>
          <a:prstGeom prst="rect">
            <a:avLst/>
          </a:prstGeom>
          <a:solidFill>
            <a:srgbClr val="76CEEF"/>
          </a:solidFill>
          <a:ln>
            <a:noFill/>
          </a:ln>
        </p:spPr>
      </p:sp>
      <p:sp>
        <p:nvSpPr>
          <p:cNvPr id="75" name="Google Shape;75;p27"/>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6" name="Google Shape;76;p2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79" name="Google Shape;79;p27"/>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2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3" name="Google Shape;83;p2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6" name="Shape 86"/>
        <p:cNvGrpSpPr/>
        <p:nvPr/>
      </p:nvGrpSpPr>
      <p:grpSpPr>
        <a:xfrm>
          <a:off x="0" y="0"/>
          <a:ext cx="0" cy="0"/>
          <a:chOff x="0" y="0"/>
          <a:chExt cx="0" cy="0"/>
        </a:xfrm>
      </p:grpSpPr>
      <p:sp>
        <p:nvSpPr>
          <p:cNvPr id="87" name="Google Shape;87;p29"/>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9"/>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9" name="Google Shape;89;p2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92" name="Google Shape;92;p29"/>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Twentieth Century"/>
              <a:buNone/>
              <a:defRPr b="0" i="0" sz="50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1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1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rgbClr val="0C0C0C"/>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1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lnSpc>
                <a:spcPct val="100000"/>
              </a:lnSpc>
              <a:spcBef>
                <a:spcPts val="0"/>
              </a:spcBef>
              <a:spcAft>
                <a:spcPts val="0"/>
              </a:spcAft>
              <a:buClr>
                <a:srgbClr val="000000"/>
              </a:buClr>
              <a:buSzPts val="1000"/>
              <a:buFont typeface="Arial"/>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15" name="Google Shape;15;p18"/>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jamed-who-lhfa-girls.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jamed-who-wfa-girls.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jamed-who-wfl-girls.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ph type="ctrTitle"/>
          </p:nvPr>
        </p:nvSpPr>
        <p:spPr>
          <a:xfrm>
            <a:off x="1101662" y="2382696"/>
            <a:ext cx="10102851" cy="1470025"/>
          </a:xfrm>
          <a:prstGeom prst="rect">
            <a:avLst/>
          </a:prstGeom>
          <a:solidFill>
            <a:schemeClr val="lt1"/>
          </a:solidFill>
          <a:ln>
            <a:noFill/>
          </a:ln>
        </p:spPr>
        <p:txBody>
          <a:bodyPr anchorCtr="0" anchor="ctr" bIns="45700" lIns="91425" spcFirstLastPara="1" rIns="91425" wrap="square" tIns="45700">
            <a:normAutofit/>
          </a:bodyPr>
          <a:lstStyle/>
          <a:p>
            <a:pPr indent="0" lvl="0" marL="0" rtl="0" algn="ctr">
              <a:lnSpc>
                <a:spcPct val="80000"/>
              </a:lnSpc>
              <a:spcBef>
                <a:spcPts val="0"/>
              </a:spcBef>
              <a:spcAft>
                <a:spcPts val="0"/>
              </a:spcAft>
              <a:buClr>
                <a:schemeClr val="dk1"/>
              </a:buClr>
              <a:buSzPts val="6000"/>
              <a:buFont typeface="Twentieth Century"/>
              <a:buNone/>
            </a:pPr>
            <a:r>
              <a:rPr lang="en-US" sz="6000">
                <a:solidFill>
                  <a:schemeClr val="dk1"/>
                </a:solidFill>
              </a:rPr>
              <a:t>LAPORAN JAGA IGD</a:t>
            </a:r>
            <a:br>
              <a:rPr lang="en-US" sz="6000">
                <a:solidFill>
                  <a:schemeClr val="dk1"/>
                </a:solidFill>
              </a:rPr>
            </a:br>
            <a:r>
              <a:rPr lang="en-US" sz="3200">
                <a:solidFill>
                  <a:schemeClr val="dk1"/>
                </a:solidFill>
              </a:rPr>
              <a:t>Senin</a:t>
            </a:r>
            <a:r>
              <a:rPr b="0" lang="en-US" sz="3200">
                <a:solidFill>
                  <a:schemeClr val="dk1"/>
                </a:solidFill>
              </a:rPr>
              <a:t>, </a:t>
            </a:r>
            <a:r>
              <a:rPr lang="en-US" sz="3200">
                <a:solidFill>
                  <a:schemeClr val="dk1"/>
                </a:solidFill>
              </a:rPr>
              <a:t>26 Februari 2024</a:t>
            </a:r>
            <a:endParaRPr sz="6000">
              <a:solidFill>
                <a:schemeClr val="dk1"/>
              </a:solidFill>
            </a:endParaRPr>
          </a:p>
        </p:txBody>
      </p:sp>
      <p:sp>
        <p:nvSpPr>
          <p:cNvPr id="99" name="Google Shape;99;p1"/>
          <p:cNvSpPr txBox="1"/>
          <p:nvPr>
            <p:ph idx="1" type="subTitle"/>
          </p:nvPr>
        </p:nvSpPr>
        <p:spPr>
          <a:xfrm>
            <a:off x="668451" y="4757000"/>
            <a:ext cx="7738200" cy="1752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600"/>
              <a:buNone/>
            </a:pPr>
            <a:r>
              <a:rPr lang="en-US" sz="3600">
                <a:solidFill>
                  <a:srgbClr val="000000"/>
                </a:solidFill>
              </a:rPr>
              <a:t>Tim mahasiswa jaga: </a:t>
            </a:r>
            <a:endParaRPr sz="3600">
              <a:solidFill>
                <a:srgbClr val="000000"/>
              </a:solidFill>
            </a:endParaRPr>
          </a:p>
          <a:p>
            <a:pPr indent="0" lvl="0" marL="0" rtl="0" algn="l">
              <a:lnSpc>
                <a:spcPct val="100000"/>
              </a:lnSpc>
              <a:spcBef>
                <a:spcPts val="0"/>
              </a:spcBef>
              <a:spcAft>
                <a:spcPts val="0"/>
              </a:spcAft>
              <a:buSzPts val="3600"/>
              <a:buNone/>
            </a:pPr>
            <a:r>
              <a:rPr lang="en-US" sz="3600">
                <a:solidFill>
                  <a:srgbClr val="000000"/>
                </a:solidFill>
              </a:rPr>
              <a:t>Fasilitator Laporan Jaga: </a:t>
            </a:r>
            <a:endParaRPr sz="3600">
              <a:solidFill>
                <a:srgbClr val="000000"/>
              </a:solidFill>
            </a:endParaRPr>
          </a:p>
          <a:p>
            <a:pPr indent="0" lvl="0" marL="0" rtl="0" algn="l">
              <a:lnSpc>
                <a:spcPct val="100000"/>
              </a:lnSpc>
              <a:spcBef>
                <a:spcPts val="0"/>
              </a:spcBef>
              <a:spcAft>
                <a:spcPts val="0"/>
              </a:spcAft>
              <a:buSzPts val="3600"/>
              <a:buNone/>
            </a:pPr>
            <a:r>
              <a:rPr lang="en-US" sz="3600">
                <a:solidFill>
                  <a:srgbClr val="000000"/>
                </a:solidFill>
              </a:rPr>
              <a:t>DPJP Jaga: </a:t>
            </a:r>
            <a:endParaRPr sz="3600">
              <a:solidFill>
                <a:srgbClr val="000000"/>
              </a:solidFill>
            </a:endParaRPr>
          </a:p>
        </p:txBody>
      </p:sp>
      <p:pic>
        <p:nvPicPr>
          <p:cNvPr descr="C:\Users\LudiDhyani\Pictures\logo-RSCM.jpg" id="100" name="Google Shape;100;p1"/>
          <p:cNvPicPr preferRelativeResize="0"/>
          <p:nvPr/>
        </p:nvPicPr>
        <p:blipFill rotWithShape="1">
          <a:blip r:embed="rId3">
            <a:alphaModFix/>
          </a:blip>
          <a:srcRect b="9477" l="9590" r="6573" t="11050"/>
          <a:stretch/>
        </p:blipFill>
        <p:spPr>
          <a:xfrm>
            <a:off x="9777039" y="5237229"/>
            <a:ext cx="2174875" cy="792162"/>
          </a:xfrm>
          <a:prstGeom prst="rect">
            <a:avLst/>
          </a:prstGeom>
          <a:noFill/>
          <a:ln>
            <a:noFill/>
          </a:ln>
        </p:spPr>
      </p:pic>
      <p:pic>
        <p:nvPicPr>
          <p:cNvPr descr="Makara-ui-fk.png" id="101" name="Google Shape;101;p1"/>
          <p:cNvPicPr preferRelativeResize="0"/>
          <p:nvPr/>
        </p:nvPicPr>
        <p:blipFill rotWithShape="1">
          <a:blip r:embed="rId4">
            <a:alphaModFix/>
          </a:blip>
          <a:srcRect b="0" l="0" r="0" t="0"/>
          <a:stretch/>
        </p:blipFill>
        <p:spPr>
          <a:xfrm>
            <a:off x="8724930" y="4789604"/>
            <a:ext cx="1279470" cy="1720006"/>
          </a:xfrm>
          <a:prstGeom prst="rect">
            <a:avLst/>
          </a:prstGeom>
          <a:noFill/>
          <a:ln>
            <a:noFill/>
          </a:ln>
        </p:spPr>
      </p:pic>
      <p:sp>
        <p:nvSpPr>
          <p:cNvPr id="102" name="Google Shape;102;p1"/>
          <p:cNvSpPr txBox="1"/>
          <p:nvPr/>
        </p:nvSpPr>
        <p:spPr>
          <a:xfrm>
            <a:off x="244930" y="-734786"/>
            <a:ext cx="18466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1500">
        <p14:window dir="vert"/>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746128" y="128591"/>
            <a:ext cx="10690225" cy="1228725"/>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PASIEN BARU:  3 PASIEN</a:t>
            </a:r>
            <a:endParaRPr/>
          </a:p>
        </p:txBody>
      </p:sp>
      <p:graphicFrame>
        <p:nvGraphicFramePr>
          <p:cNvPr id="109" name="Google Shape;109;p2"/>
          <p:cNvGraphicFramePr/>
          <p:nvPr/>
        </p:nvGraphicFramePr>
        <p:xfrm>
          <a:off x="464990" y="1357316"/>
          <a:ext cx="3000000" cy="3000000"/>
        </p:xfrm>
        <a:graphic>
          <a:graphicData uri="http://schemas.openxmlformats.org/drawingml/2006/table">
            <a:tbl>
              <a:tblPr bandRow="1" firstRow="1">
                <a:noFill/>
                <a:tableStyleId>{1A3FD3BB-6AEC-4177-8B16-0444DD7132F1}</a:tableStyleId>
              </a:tblPr>
              <a:tblGrid>
                <a:gridCol w="687325"/>
                <a:gridCol w="2297250"/>
                <a:gridCol w="6012925"/>
                <a:gridCol w="1973875"/>
              </a:tblGrid>
              <a:tr h="31640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No.</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Nama</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Diagnosis </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Kegawatan (True/False)</a:t>
                      </a:r>
                      <a:endParaRPr sz="1800" u="none" cap="none" strike="noStrike"/>
                    </a:p>
                  </a:txBody>
                  <a:tcPr marT="45725" marB="45725" marR="91450" marL="91450"/>
                </a:tc>
              </a:tr>
              <a:tr h="467825">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1. </a:t>
                      </a:r>
                      <a:endParaRPr b="0" sz="2000" u="none" cap="none" strike="noStrike"/>
                    </a:p>
                  </a:txBody>
                  <a:tcPr marT="45725" marB="45725" marR="91450" marL="91450">
                    <a:solidFill>
                      <a:srgbClr val="D0EEF9"/>
                    </a:solidFill>
                  </a:tcPr>
                </a:tc>
                <a:tc>
                  <a:txBody>
                    <a:bodyPr/>
                    <a:lstStyle/>
                    <a:p>
                      <a:pPr indent="0" lvl="0" marL="0" marR="0" rtl="0" algn="l">
                        <a:lnSpc>
                          <a:spcPct val="100000"/>
                        </a:lnSpc>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QHS </a:t>
                      </a:r>
                      <a:r>
                        <a:rPr lang="en-US" sz="2000" u="none" cap="none" strike="noStrike">
                          <a:solidFill>
                            <a:schemeClr val="dk1"/>
                          </a:solidFill>
                          <a:latin typeface="Calibri"/>
                          <a:ea typeface="Calibri"/>
                          <a:cs typeface="Calibri"/>
                          <a:sym typeface="Calibri"/>
                        </a:rPr>
                        <a:t>/</a:t>
                      </a:r>
                      <a:r>
                        <a:rPr lang="en-US" sz="2000" u="none" cap="none" strike="noStrike">
                          <a:latin typeface="Calibri"/>
                          <a:ea typeface="Calibri"/>
                          <a:cs typeface="Calibri"/>
                          <a:sym typeface="Calibri"/>
                        </a:rPr>
                        <a:t>P</a:t>
                      </a:r>
                      <a:r>
                        <a:rPr lang="en-US" sz="2000" u="none" cap="none" strike="noStrike">
                          <a:solidFill>
                            <a:schemeClr val="dk1"/>
                          </a:solidFill>
                          <a:latin typeface="Calibri"/>
                          <a:ea typeface="Calibri"/>
                          <a:cs typeface="Calibri"/>
                          <a:sym typeface="Calibri"/>
                        </a:rPr>
                        <a:t>/</a:t>
                      </a:r>
                      <a:r>
                        <a:rPr lang="en-US" sz="2000" u="none" cap="none" strike="noStrike">
                          <a:latin typeface="Calibri"/>
                          <a:ea typeface="Calibri"/>
                          <a:cs typeface="Calibri"/>
                          <a:sym typeface="Calibri"/>
                        </a:rPr>
                        <a:t>9 bulan</a:t>
                      </a:r>
                      <a:endParaRPr b="0" sz="2000" u="none" cap="none" strike="noStrike"/>
                    </a:p>
                  </a:txBody>
                  <a:tcPr marT="45725" marB="45725" marR="91450" marL="91450">
                    <a:solidFill>
                      <a:srgbClr val="D0EEF9"/>
                    </a:solidFill>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Syok hipovolemia e.c. diare akut</a:t>
                      </a:r>
                      <a:endParaRPr b="0" i="0" sz="2000" u="none" cap="none" strike="noStrike"/>
                    </a:p>
                  </a:txBody>
                  <a:tcPr marT="45725" marB="45725" marR="91450" marL="91450">
                    <a:solidFill>
                      <a:srgbClr val="D0EEF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True</a:t>
                      </a:r>
                      <a:endParaRPr b="0" sz="2000" u="none" cap="none" strike="noStrike"/>
                    </a:p>
                  </a:txBody>
                  <a:tcPr marT="45725" marB="45725" marR="91450" marL="91450">
                    <a:solidFill>
                      <a:srgbClr val="D0EEF9"/>
                    </a:solidFill>
                  </a:tcPr>
                </a:tc>
              </a:tr>
              <a:tr h="616700">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2.</a:t>
                      </a:r>
                      <a:endParaRPr b="0" sz="2000" u="none" cap="none" strike="noStrike"/>
                    </a:p>
                  </a:txBody>
                  <a:tcPr marT="45725" marB="45725" marR="91450" marL="91450">
                    <a:solidFill>
                      <a:srgbClr val="D0EEF9"/>
                    </a:solidFill>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…/L/15 tahun</a:t>
                      </a:r>
                      <a:endParaRPr b="0" sz="2000" u="none" cap="none" strike="noStrike"/>
                    </a:p>
                  </a:txBody>
                  <a:tcPr marT="45725" marB="45725" marR="91450" marL="91450">
                    <a:solidFill>
                      <a:srgbClr val="D0EEF9"/>
                    </a:solidFill>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Pucat e.c. AIHA</a:t>
                      </a:r>
                      <a:endParaRPr b="0" i="0" sz="2000" u="none" cap="none" strike="noStrike"/>
                    </a:p>
                  </a:txBody>
                  <a:tcPr marT="45725" marB="45725" marR="91450" marL="91450">
                    <a:solidFill>
                      <a:srgbClr val="D0EEF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True</a:t>
                      </a:r>
                      <a:endParaRPr b="0" sz="2000" u="none" cap="none" strike="noStrike"/>
                    </a:p>
                  </a:txBody>
                  <a:tcPr marT="45725" marB="45725" marR="91450" marL="91450">
                    <a:solidFill>
                      <a:srgbClr val="D0EEF9"/>
                    </a:solidFill>
                  </a:tcPr>
                </a:tc>
              </a:tr>
              <a:tr h="531625">
                <a:tc>
                  <a:txBody>
                    <a:bodyPr/>
                    <a:lstStyle/>
                    <a:p>
                      <a:pPr indent="0" lvl="0" marL="0" marR="0" rtl="0" algn="ctr">
                        <a:lnSpc>
                          <a:spcPct val="100000"/>
                        </a:lnSpc>
                        <a:spcBef>
                          <a:spcPts val="0"/>
                        </a:spcBef>
                        <a:spcAft>
                          <a:spcPts val="0"/>
                        </a:spcAft>
                        <a:buClr>
                          <a:srgbClr val="000000"/>
                        </a:buClr>
                        <a:buSzPts val="2000"/>
                        <a:buFont typeface="Arial"/>
                        <a:buNone/>
                      </a:pPr>
                      <a:r>
                        <a:rPr b="0" lang="en-US" sz="2000" u="none" cap="none" strike="noStrike"/>
                        <a:t>3.</a:t>
                      </a:r>
                      <a:endParaRPr sz="1400" u="none" cap="none" strike="noStrike"/>
                    </a:p>
                  </a:txBody>
                  <a:tcPr marT="45725" marB="45725" marR="91450" marL="91450">
                    <a:solidFill>
                      <a:srgbClr val="D0EEF9"/>
                    </a:solidFill>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…/L/2 tahun</a:t>
                      </a:r>
                      <a:endParaRPr b="0" sz="2000" u="none" cap="none" strike="noStrike"/>
                    </a:p>
                  </a:txBody>
                  <a:tcPr marT="45725" marB="45725" marR="91450" marL="91450">
                    <a:solidFill>
                      <a:srgbClr val="D0EEF9"/>
                    </a:solidFill>
                  </a:tcP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sesak nafas e.c. demam susp. campak</a:t>
                      </a:r>
                      <a:endParaRPr b="0" i="0" sz="2000" u="none" cap="none" strike="noStrike"/>
                    </a:p>
                  </a:txBody>
                  <a:tcPr marT="45725" marB="45725" marR="91450" marL="91450">
                    <a:solidFill>
                      <a:srgbClr val="D0EEF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t>True</a:t>
                      </a:r>
                      <a:endParaRPr b="0" sz="2000" u="none" cap="none" strike="noStrike"/>
                    </a:p>
                  </a:txBody>
                  <a:tcPr marT="45725" marB="45725" marR="91450" marL="91450">
                    <a:solidFill>
                      <a:srgbClr val="D0EEF9"/>
                    </a:solidFill>
                  </a:tcPr>
                </a:tc>
              </a:tr>
            </a:tbl>
          </a:graphicData>
        </a:graphic>
      </p:graphicFrame>
    </p:spTree>
  </p:cSld>
  <p:clrMapOvr>
    <a:masterClrMapping/>
  </p:clrMapOvr>
  <mc:AlternateContent>
    <mc:Choice Requires="p14">
      <p:transition spd="slow" p14:dur="1500">
        <p14:window dir="ver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IDENTITAS </a:t>
            </a:r>
            <a:endParaRPr/>
          </a:p>
        </p:txBody>
      </p:sp>
      <p:sp>
        <p:nvSpPr>
          <p:cNvPr id="115" name="Google Shape;115;p3"/>
          <p:cNvSpPr txBox="1"/>
          <p:nvPr>
            <p:ph idx="1" type="body"/>
          </p:nvPr>
        </p:nvSpPr>
        <p:spPr>
          <a:xfrm>
            <a:off x="627530" y="1804670"/>
            <a:ext cx="6443980" cy="3383280"/>
          </a:xfrm>
          <a:prstGeom prst="rect">
            <a:avLst/>
          </a:prstGeom>
          <a:noFill/>
          <a:ln>
            <a:noFill/>
          </a:ln>
        </p:spPr>
        <p:txBody>
          <a:bodyPr anchorCtr="0" anchor="t" bIns="45700" lIns="45700" spcFirstLastPara="1" rIns="45700" wrap="square" tIns="45700">
            <a:normAutofit/>
          </a:bodyPr>
          <a:lstStyle/>
          <a:p>
            <a:pPr indent="-91440" lvl="0" marL="91440" rtl="0" algn="l">
              <a:lnSpc>
                <a:spcPct val="80000"/>
              </a:lnSpc>
              <a:spcBef>
                <a:spcPts val="0"/>
              </a:spcBef>
              <a:spcAft>
                <a:spcPts val="0"/>
              </a:spcAft>
              <a:buSzPts val="2400"/>
              <a:buChar char=" "/>
            </a:pPr>
            <a:r>
              <a:rPr lang="en-US" sz="2400"/>
              <a:t>Nama		: QHS</a:t>
            </a:r>
            <a:endParaRPr/>
          </a:p>
          <a:p>
            <a:pPr indent="-91440" lvl="0" marL="91440" rtl="0" algn="l">
              <a:lnSpc>
                <a:spcPct val="80000"/>
              </a:lnSpc>
              <a:spcBef>
                <a:spcPts val="1400"/>
              </a:spcBef>
              <a:spcAft>
                <a:spcPts val="0"/>
              </a:spcAft>
              <a:buSzPts val="2400"/>
              <a:buChar char=" "/>
            </a:pPr>
            <a:r>
              <a:rPr lang="en-US" sz="2400"/>
              <a:t>Usia		: 9 bulan</a:t>
            </a:r>
            <a:endParaRPr/>
          </a:p>
          <a:p>
            <a:pPr indent="-91440" lvl="0" marL="91440" rtl="0" algn="l">
              <a:lnSpc>
                <a:spcPct val="80000"/>
              </a:lnSpc>
              <a:spcBef>
                <a:spcPts val="1400"/>
              </a:spcBef>
              <a:spcAft>
                <a:spcPts val="0"/>
              </a:spcAft>
              <a:buSzPts val="2400"/>
              <a:buChar char=" "/>
            </a:pPr>
            <a:r>
              <a:rPr lang="en-US" sz="2400"/>
              <a:t>Tanggal lahir	: 27 April 2023</a:t>
            </a:r>
            <a:endParaRPr/>
          </a:p>
          <a:p>
            <a:pPr indent="-91440" lvl="0" marL="91440" rtl="0" algn="l">
              <a:lnSpc>
                <a:spcPct val="80000"/>
              </a:lnSpc>
              <a:spcBef>
                <a:spcPts val="1400"/>
              </a:spcBef>
              <a:spcAft>
                <a:spcPts val="0"/>
              </a:spcAft>
              <a:buSzPts val="2400"/>
              <a:buChar char=" "/>
            </a:pPr>
            <a:r>
              <a:rPr lang="en-US" sz="2400"/>
              <a:t>Jenis kelamin 	: Perempuan</a:t>
            </a:r>
            <a:endParaRPr/>
          </a:p>
          <a:p>
            <a:pPr indent="-91440" lvl="0" marL="91440" rtl="0" algn="l">
              <a:lnSpc>
                <a:spcPct val="80000"/>
              </a:lnSpc>
              <a:spcBef>
                <a:spcPts val="1400"/>
              </a:spcBef>
              <a:spcAft>
                <a:spcPts val="0"/>
              </a:spcAft>
              <a:buSzPts val="2400"/>
              <a:buChar char=" "/>
            </a:pPr>
            <a:r>
              <a:rPr lang="en-US" sz="2400"/>
              <a:t>NRM		: 466-XX-XX</a:t>
            </a:r>
            <a:endParaRPr/>
          </a:p>
          <a:p>
            <a:pPr indent="-91440" lvl="0" marL="91440" rtl="0" algn="l">
              <a:lnSpc>
                <a:spcPct val="80000"/>
              </a:lnSpc>
              <a:spcBef>
                <a:spcPts val="1400"/>
              </a:spcBef>
              <a:spcAft>
                <a:spcPts val="0"/>
              </a:spcAft>
              <a:buSzPts val="2400"/>
              <a:buChar char=" "/>
            </a:pPr>
            <a:r>
              <a:rPr lang="en-US" sz="2400"/>
              <a:t>Alamat	: Pancoran</a:t>
            </a:r>
            <a:endParaRPr/>
          </a:p>
        </p:txBody>
      </p:sp>
      <p:sp>
        <p:nvSpPr>
          <p:cNvPr id="116" name="Google Shape;116;p3"/>
          <p:cNvSpPr/>
          <p:nvPr/>
        </p:nvSpPr>
        <p:spPr>
          <a:xfrm>
            <a:off x="473075" y="5187950"/>
            <a:ext cx="10408285" cy="1230630"/>
          </a:xfrm>
          <a:prstGeom prst="roundRect">
            <a:avLst>
              <a:gd fmla="val 16667" name="adj"/>
            </a:avLst>
          </a:prstGeom>
          <a:solidFill>
            <a:srgbClr val="D0EEF9"/>
          </a:solidFill>
          <a:ln cap="flat" cmpd="sng" w="15875">
            <a:solidFill>
              <a:srgbClr val="147E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wentieth Century"/>
                <a:ea typeface="Twentieth Century"/>
                <a:cs typeface="Twentieth Century"/>
                <a:sym typeface="Twentieth Century"/>
              </a:rPr>
              <a:t>Keluhan utama: Sesak nafas sejak 3 jam SMRS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1500">
        <p14:window dir="vert"/>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1024128" y="3900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i="1" lang="en-US"/>
              <a:t>PEDIATRIC ASSESSMENT TRIANGLE</a:t>
            </a:r>
            <a:endParaRPr i="1"/>
          </a:p>
        </p:txBody>
      </p:sp>
      <p:sp>
        <p:nvSpPr>
          <p:cNvPr id="123" name="Google Shape;123;p4"/>
          <p:cNvSpPr/>
          <p:nvPr/>
        </p:nvSpPr>
        <p:spPr>
          <a:xfrm>
            <a:off x="463827" y="5834526"/>
            <a:ext cx="11264347" cy="830997"/>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wentieth Century"/>
                <a:ea typeface="Twentieth Century"/>
                <a:cs typeface="Twentieth Century"/>
                <a:sym typeface="Twentieth Century"/>
              </a:rPr>
              <a:t>Kesan: Cardio-pulmonary failure</a:t>
            </a:r>
            <a:endParaRPr b="1" i="0" sz="2400" u="none" cap="none" strike="noStrike">
              <a:solidFill>
                <a:schemeClr val="dk1"/>
              </a:solidFill>
              <a:latin typeface="Twentieth Century"/>
              <a:ea typeface="Twentieth Century"/>
              <a:cs typeface="Twentieth Century"/>
              <a:sym typeface="Twentieth Century"/>
            </a:endParaRPr>
          </a:p>
        </p:txBody>
      </p:sp>
      <p:sp>
        <p:nvSpPr>
          <p:cNvPr id="124" name="Google Shape;124;p4"/>
          <p:cNvSpPr txBox="1"/>
          <p:nvPr/>
        </p:nvSpPr>
        <p:spPr>
          <a:xfrm>
            <a:off x="1024126" y="1762600"/>
            <a:ext cx="4854300" cy="4023300"/>
          </a:xfrm>
          <a:prstGeom prst="rect">
            <a:avLst/>
          </a:prstGeom>
          <a:noFill/>
          <a:ln>
            <a:noFill/>
          </a:ln>
        </p:spPr>
        <p:txBody>
          <a:bodyPr anchorCtr="0" anchor="t" bIns="45700" lIns="45700" spcFirstLastPara="1" rIns="45700" wrap="square" tIns="45700">
            <a:noAutofit/>
          </a:bodyPr>
          <a:lstStyle/>
          <a:p>
            <a:pPr indent="-91440" lvl="0" marL="91440" marR="0" rtl="0" algn="l">
              <a:lnSpc>
                <a:spcPct val="90000"/>
              </a:lnSpc>
              <a:spcBef>
                <a:spcPts val="0"/>
              </a:spcBef>
              <a:spcAft>
                <a:spcPts val="0"/>
              </a:spcAft>
              <a:buClr>
                <a:srgbClr val="1CADE4"/>
              </a:buClr>
              <a:buSzPts val="2600"/>
              <a:buFont typeface="Twentieth Century"/>
              <a:buChar char=" "/>
            </a:pPr>
            <a:r>
              <a:rPr b="1" i="1" lang="en-US" sz="2600" u="none" cap="none" strike="noStrike">
                <a:solidFill>
                  <a:srgbClr val="000000"/>
                </a:solidFill>
                <a:latin typeface="Twentieth Century"/>
                <a:ea typeface="Twentieth Century"/>
                <a:cs typeface="Twentieth Century"/>
                <a:sym typeface="Twentieth Century"/>
              </a:rPr>
              <a:t>Behaviour</a:t>
            </a:r>
            <a:endParaRPr b="0" i="1" sz="2600" u="none" cap="none" strike="noStrike">
              <a:solidFill>
                <a:srgbClr val="000000"/>
              </a:solidFill>
              <a:latin typeface="Twentieth Century"/>
              <a:ea typeface="Twentieth Century"/>
              <a:cs typeface="Twentieth Century"/>
              <a:sym typeface="Twentieth Century"/>
            </a:endParaRPr>
          </a:p>
          <a:p>
            <a:pPr indent="-165099" lvl="1" marL="265176" marR="0" rtl="0" algn="l">
              <a:lnSpc>
                <a:spcPct val="90000"/>
              </a:lnSpc>
              <a:spcBef>
                <a:spcPts val="400"/>
              </a:spcBef>
              <a:spcAft>
                <a:spcPts val="0"/>
              </a:spcAft>
              <a:buClr>
                <a:srgbClr val="1CADE4"/>
              </a:buClr>
              <a:buSzPts val="2600"/>
              <a:buFont typeface="Noto Sans Symbols"/>
              <a:buChar char="🢝"/>
            </a:pPr>
            <a:r>
              <a:rPr b="0" i="1" lang="en-US" sz="2600" u="none" cap="none" strike="noStrike">
                <a:solidFill>
                  <a:srgbClr val="000000"/>
                </a:solidFill>
                <a:latin typeface="Twentieth Century"/>
                <a:ea typeface="Twentieth Century"/>
                <a:cs typeface="Twentieth Century"/>
                <a:sym typeface="Twentieth Century"/>
              </a:rPr>
              <a:t>Tonus</a:t>
            </a:r>
            <a:r>
              <a:rPr b="0" i="0" lang="en-US" sz="2600" u="none" cap="none" strike="noStrike">
                <a:solidFill>
                  <a:srgbClr val="000000"/>
                </a:solidFill>
                <a:latin typeface="Twentieth Century"/>
                <a:ea typeface="Twentieth Century"/>
                <a:cs typeface="Twentieth Century"/>
                <a:sym typeface="Twentieth Century"/>
              </a:rPr>
              <a:t>			: Adekuat</a:t>
            </a:r>
            <a:endParaRPr b="0" i="0" sz="1800" u="none" cap="none" strike="noStrike">
              <a:solidFill>
                <a:srgbClr val="000000"/>
              </a:solidFill>
              <a:latin typeface="Twentieth Century"/>
              <a:ea typeface="Twentieth Century"/>
              <a:cs typeface="Twentieth Century"/>
              <a:sym typeface="Twentieth Century"/>
            </a:endParaRPr>
          </a:p>
          <a:p>
            <a:pPr indent="-16509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highlight>
                  <a:srgbClr val="F4CCCC"/>
                </a:highlight>
                <a:latin typeface="Twentieth Century"/>
                <a:ea typeface="Twentieth Century"/>
                <a:cs typeface="Twentieth Century"/>
                <a:sym typeface="Twentieth Century"/>
              </a:rPr>
              <a:t>Interactiveness	</a:t>
            </a:r>
            <a:r>
              <a:rPr b="0" i="0" lang="en-US" sz="2600" u="none" cap="none" strike="noStrike">
                <a:solidFill>
                  <a:srgbClr val="000000"/>
                </a:solidFill>
                <a:highlight>
                  <a:srgbClr val="F4CCCC"/>
                </a:highlight>
                <a:latin typeface="Twentieth Century"/>
                <a:ea typeface="Twentieth Century"/>
                <a:cs typeface="Twentieth Century"/>
                <a:sym typeface="Twentieth Century"/>
              </a:rPr>
              <a:t>: tidak adekuat</a:t>
            </a:r>
            <a:endParaRPr b="0" i="0" sz="1800" u="none" cap="none" strike="noStrike">
              <a:solidFill>
                <a:srgbClr val="000000"/>
              </a:solidFill>
              <a:highlight>
                <a:srgbClr val="F4CCCC"/>
              </a:highlight>
              <a:latin typeface="Twentieth Century"/>
              <a:ea typeface="Twentieth Century"/>
              <a:cs typeface="Twentieth Century"/>
              <a:sym typeface="Twentieth Century"/>
            </a:endParaRPr>
          </a:p>
          <a:p>
            <a:pPr indent="-16509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highlight>
                  <a:srgbClr val="F4CCCC"/>
                </a:highlight>
                <a:latin typeface="Twentieth Century"/>
                <a:ea typeface="Twentieth Century"/>
                <a:cs typeface="Twentieth Century"/>
                <a:sym typeface="Twentieth Century"/>
              </a:rPr>
              <a:t>Consolability</a:t>
            </a:r>
            <a:r>
              <a:rPr b="0" i="0" lang="en-US" sz="2600" u="none" cap="none" strike="noStrike">
                <a:solidFill>
                  <a:srgbClr val="000000"/>
                </a:solidFill>
                <a:highlight>
                  <a:srgbClr val="F4CCCC"/>
                </a:highlight>
                <a:latin typeface="Twentieth Century"/>
                <a:ea typeface="Twentieth Century"/>
                <a:cs typeface="Twentieth Century"/>
                <a:sym typeface="Twentieth Century"/>
              </a:rPr>
              <a:t> 	: </a:t>
            </a:r>
            <a:r>
              <a:rPr b="0" i="0" lang="en-US" sz="2600" u="none" cap="none" strike="noStrike">
                <a:solidFill>
                  <a:schemeClr val="dk1"/>
                </a:solidFill>
                <a:highlight>
                  <a:srgbClr val="F4CCCC"/>
                </a:highlight>
                <a:latin typeface="Twentieth Century"/>
                <a:ea typeface="Twentieth Century"/>
                <a:cs typeface="Twentieth Century"/>
                <a:sym typeface="Twentieth Century"/>
              </a:rPr>
              <a:t>tidak adekuat</a:t>
            </a:r>
            <a:endParaRPr b="0" i="0" sz="1800" u="none" cap="none" strike="noStrike">
              <a:solidFill>
                <a:srgbClr val="000000"/>
              </a:solidFill>
              <a:highlight>
                <a:srgbClr val="F4CCCC"/>
              </a:highlight>
              <a:latin typeface="Twentieth Century"/>
              <a:ea typeface="Twentieth Century"/>
              <a:cs typeface="Twentieth Century"/>
              <a:sym typeface="Twentieth Century"/>
            </a:endParaRPr>
          </a:p>
          <a:p>
            <a:pPr indent="-16509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highlight>
                  <a:srgbClr val="F4CCCC"/>
                </a:highlight>
                <a:latin typeface="Twentieth Century"/>
                <a:ea typeface="Twentieth Century"/>
                <a:cs typeface="Twentieth Century"/>
                <a:sym typeface="Twentieth Century"/>
              </a:rPr>
              <a:t>Look or gaze</a:t>
            </a:r>
            <a:r>
              <a:rPr b="0" i="0" lang="en-US" sz="2600" u="none" cap="none" strike="noStrike">
                <a:solidFill>
                  <a:srgbClr val="000000"/>
                </a:solidFill>
                <a:highlight>
                  <a:srgbClr val="F4CCCC"/>
                </a:highlight>
                <a:latin typeface="Twentieth Century"/>
                <a:ea typeface="Twentieth Century"/>
                <a:cs typeface="Twentieth Century"/>
                <a:sym typeface="Twentieth Century"/>
              </a:rPr>
              <a:t> 	: </a:t>
            </a:r>
            <a:r>
              <a:rPr b="0" i="0" lang="en-US" sz="2600" u="none" cap="none" strike="noStrike">
                <a:solidFill>
                  <a:schemeClr val="dk1"/>
                </a:solidFill>
                <a:highlight>
                  <a:srgbClr val="F4CCCC"/>
                </a:highlight>
                <a:latin typeface="Twentieth Century"/>
                <a:ea typeface="Twentieth Century"/>
                <a:cs typeface="Twentieth Century"/>
                <a:sym typeface="Twentieth Century"/>
              </a:rPr>
              <a:t>tidak adekuat</a:t>
            </a:r>
            <a:endParaRPr b="0" i="0" sz="1800" u="none" cap="none" strike="noStrike">
              <a:solidFill>
                <a:srgbClr val="000000"/>
              </a:solidFill>
              <a:highlight>
                <a:srgbClr val="F4CCCC"/>
              </a:highlight>
              <a:latin typeface="Twentieth Century"/>
              <a:ea typeface="Twentieth Century"/>
              <a:cs typeface="Twentieth Century"/>
              <a:sym typeface="Twentieth Century"/>
            </a:endParaRPr>
          </a:p>
          <a:p>
            <a:pPr indent="-16509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latin typeface="Twentieth Century"/>
                <a:ea typeface="Twentieth Century"/>
                <a:cs typeface="Twentieth Century"/>
                <a:sym typeface="Twentieth Century"/>
              </a:rPr>
              <a:t>Speech and cry</a:t>
            </a:r>
            <a:r>
              <a:rPr b="0" i="0" lang="en-US" sz="2600" u="none" cap="none" strike="noStrike">
                <a:solidFill>
                  <a:srgbClr val="000000"/>
                </a:solidFill>
                <a:latin typeface="Twentieth Century"/>
                <a:ea typeface="Twentieth Century"/>
                <a:cs typeface="Twentieth Century"/>
                <a:sym typeface="Twentieth Century"/>
              </a:rPr>
              <a:t> 	: adekuat</a:t>
            </a:r>
            <a:endParaRPr b="0" i="0" sz="2600" u="none" cap="none" strike="noStrike">
              <a:solidFill>
                <a:srgbClr val="000000"/>
              </a:solidFill>
              <a:latin typeface="Twentieth Century"/>
              <a:ea typeface="Twentieth Century"/>
              <a:cs typeface="Twentieth Century"/>
              <a:sym typeface="Twentieth Century"/>
            </a:endParaRPr>
          </a:p>
          <a:p>
            <a:pPr indent="-91440" lvl="0" marL="91440" marR="0" rtl="0" algn="l">
              <a:lnSpc>
                <a:spcPct val="90000"/>
              </a:lnSpc>
              <a:spcBef>
                <a:spcPts val="1600"/>
              </a:spcBef>
              <a:spcAft>
                <a:spcPts val="0"/>
              </a:spcAft>
              <a:buClr>
                <a:srgbClr val="1CADE4"/>
              </a:buClr>
              <a:buSzPts val="2600"/>
              <a:buFont typeface="Twentieth Century"/>
              <a:buChar char=" "/>
            </a:pPr>
            <a:r>
              <a:t/>
            </a:r>
            <a:endParaRPr b="0" i="0" sz="2200" u="none" cap="none" strike="noStrike">
              <a:solidFill>
                <a:srgbClr val="000000"/>
              </a:solidFill>
              <a:latin typeface="Twentieth Century"/>
              <a:ea typeface="Twentieth Century"/>
              <a:cs typeface="Twentieth Century"/>
              <a:sym typeface="Twentieth Century"/>
            </a:endParaRPr>
          </a:p>
          <a:p>
            <a:pPr indent="0" lvl="0" marL="0" marR="0" rtl="0" algn="l">
              <a:lnSpc>
                <a:spcPct val="90000"/>
              </a:lnSpc>
              <a:spcBef>
                <a:spcPts val="1400"/>
              </a:spcBef>
              <a:spcAft>
                <a:spcPts val="0"/>
              </a:spcAft>
              <a:buClr>
                <a:srgbClr val="000000"/>
              </a:buClr>
              <a:buSzPts val="2600"/>
              <a:buFont typeface="Arial"/>
              <a:buNone/>
            </a:pPr>
            <a:r>
              <a:t/>
            </a:r>
            <a:endParaRPr b="0" i="0" sz="2600" u="none" cap="none" strike="noStrike">
              <a:solidFill>
                <a:srgbClr val="000000"/>
              </a:solidFill>
              <a:latin typeface="Twentieth Century"/>
              <a:ea typeface="Twentieth Century"/>
              <a:cs typeface="Twentieth Century"/>
              <a:sym typeface="Twentieth Century"/>
            </a:endParaRPr>
          </a:p>
        </p:txBody>
      </p:sp>
      <p:sp>
        <p:nvSpPr>
          <p:cNvPr id="125" name="Google Shape;125;p4"/>
          <p:cNvSpPr txBox="1"/>
          <p:nvPr/>
        </p:nvSpPr>
        <p:spPr>
          <a:xfrm>
            <a:off x="5878425" y="1548575"/>
            <a:ext cx="6313500" cy="4160100"/>
          </a:xfrm>
          <a:prstGeom prst="rect">
            <a:avLst/>
          </a:prstGeom>
          <a:noFill/>
          <a:ln>
            <a:noFill/>
          </a:ln>
        </p:spPr>
        <p:txBody>
          <a:bodyPr anchorCtr="0" anchor="t" bIns="45700" lIns="45700" spcFirstLastPara="1" rIns="45700" wrap="square" tIns="45700">
            <a:noAutofit/>
          </a:bodyPr>
          <a:lstStyle/>
          <a:p>
            <a:pPr indent="-91440" lvl="0" marL="91440" marR="0" rtl="0" algn="l">
              <a:lnSpc>
                <a:spcPct val="90000"/>
              </a:lnSpc>
              <a:spcBef>
                <a:spcPts val="1600"/>
              </a:spcBef>
              <a:spcAft>
                <a:spcPts val="0"/>
              </a:spcAft>
              <a:buClr>
                <a:srgbClr val="1CADE4"/>
              </a:buClr>
              <a:buSzPts val="2600"/>
              <a:buFont typeface="Twentieth Century"/>
              <a:buChar char=" "/>
            </a:pPr>
            <a:r>
              <a:rPr b="1" i="1" lang="en-US" sz="2600" u="none" cap="none" strike="noStrike">
                <a:solidFill>
                  <a:srgbClr val="000000"/>
                </a:solidFill>
                <a:latin typeface="Twentieth Century"/>
                <a:ea typeface="Twentieth Century"/>
                <a:cs typeface="Twentieth Century"/>
                <a:sym typeface="Twentieth Century"/>
              </a:rPr>
              <a:t>Breathing:</a:t>
            </a:r>
            <a:endParaRPr b="0" i="1" sz="2600" u="none" cap="none" strike="noStrike">
              <a:solidFill>
                <a:srgbClr val="000000"/>
              </a:solidFill>
              <a:latin typeface="Twentieth Century"/>
              <a:ea typeface="Twentieth Century"/>
              <a:cs typeface="Twentieth Century"/>
              <a:sym typeface="Twentieth Century"/>
            </a:endParaRPr>
          </a:p>
          <a:p>
            <a:pPr indent="-18795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highlight>
                  <a:srgbClr val="F4CCCC"/>
                </a:highlight>
                <a:latin typeface="Twentieth Century"/>
                <a:ea typeface="Twentieth Century"/>
                <a:cs typeface="Twentieth Century"/>
                <a:sym typeface="Twentieth Century"/>
              </a:rPr>
              <a:t>Retraksi	</a:t>
            </a:r>
            <a:r>
              <a:rPr b="0" i="0" lang="en-US" sz="2600" u="none" cap="none" strike="noStrike">
                <a:solidFill>
                  <a:srgbClr val="000000"/>
                </a:solidFill>
                <a:highlight>
                  <a:srgbClr val="F4CCCC"/>
                </a:highlight>
                <a:latin typeface="Twentieth Century"/>
                <a:ea typeface="Twentieth Century"/>
                <a:cs typeface="Twentieth Century"/>
                <a:sym typeface="Twentieth Century"/>
              </a:rPr>
              <a:t>: (+) otot sternocleidomastoideus, suprasternal, subcostal, intracostal</a:t>
            </a:r>
            <a:endParaRPr b="0" i="0" sz="1800" u="none" cap="none" strike="noStrike">
              <a:solidFill>
                <a:srgbClr val="000000"/>
              </a:solidFill>
              <a:highlight>
                <a:srgbClr val="F4CCCC"/>
              </a:highlight>
              <a:latin typeface="Twentieth Century"/>
              <a:ea typeface="Twentieth Century"/>
              <a:cs typeface="Twentieth Century"/>
              <a:sym typeface="Twentieth Century"/>
            </a:endParaRPr>
          </a:p>
          <a:p>
            <a:pPr indent="-18795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highlight>
                  <a:srgbClr val="F4CCCC"/>
                </a:highlight>
                <a:latin typeface="Twentieth Century"/>
                <a:ea typeface="Twentieth Century"/>
                <a:cs typeface="Twentieth Century"/>
                <a:sym typeface="Twentieth Century"/>
              </a:rPr>
              <a:t>Nafas cuping hidung 	: (+)</a:t>
            </a:r>
            <a:endParaRPr b="0" i="1" sz="2600" u="none" cap="none" strike="noStrike">
              <a:solidFill>
                <a:srgbClr val="000000"/>
              </a:solidFill>
              <a:highlight>
                <a:srgbClr val="F4CCCC"/>
              </a:highlight>
              <a:latin typeface="Twentieth Century"/>
              <a:ea typeface="Twentieth Century"/>
              <a:cs typeface="Twentieth Century"/>
              <a:sym typeface="Twentieth Century"/>
            </a:endParaRPr>
          </a:p>
          <a:p>
            <a:pPr indent="-18795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latin typeface="Twentieth Century"/>
                <a:ea typeface="Twentieth Century"/>
                <a:cs typeface="Twentieth Century"/>
                <a:sym typeface="Twentieth Century"/>
              </a:rPr>
              <a:t>Suara nafas tambahan</a:t>
            </a:r>
            <a:r>
              <a:rPr b="0" i="0" lang="en-US" sz="2600" u="none" cap="none" strike="noStrike">
                <a:solidFill>
                  <a:srgbClr val="000000"/>
                </a:solidFill>
                <a:latin typeface="Twentieth Century"/>
                <a:ea typeface="Twentieth Century"/>
                <a:cs typeface="Twentieth Century"/>
                <a:sym typeface="Twentieth Century"/>
              </a:rPr>
              <a:t> : (-)</a:t>
            </a:r>
            <a:endParaRPr b="0" i="0" sz="1800" u="none" cap="none" strike="noStrike">
              <a:solidFill>
                <a:srgbClr val="000000"/>
              </a:solidFill>
              <a:latin typeface="Twentieth Century"/>
              <a:ea typeface="Twentieth Century"/>
              <a:cs typeface="Twentieth Century"/>
              <a:sym typeface="Twentieth Century"/>
            </a:endParaRPr>
          </a:p>
          <a:p>
            <a:pPr indent="-18795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latin typeface="Twentieth Century"/>
                <a:ea typeface="Twentieth Century"/>
                <a:cs typeface="Twentieth Century"/>
                <a:sym typeface="Twentieth Century"/>
              </a:rPr>
              <a:t>Posisi abnormal</a:t>
            </a:r>
            <a:r>
              <a:rPr b="0" i="0" lang="en-US" sz="2600" u="none" cap="none" strike="noStrike">
                <a:solidFill>
                  <a:srgbClr val="000000"/>
                </a:solidFill>
                <a:latin typeface="Twentieth Century"/>
                <a:ea typeface="Twentieth Century"/>
                <a:cs typeface="Twentieth Century"/>
                <a:sym typeface="Twentieth Century"/>
              </a:rPr>
              <a:t> 		: (-)</a:t>
            </a:r>
            <a:endParaRPr b="1" i="1" sz="2600" u="none" cap="none" strike="noStrike">
              <a:solidFill>
                <a:srgbClr val="000000"/>
              </a:solidFill>
              <a:latin typeface="Twentieth Century"/>
              <a:ea typeface="Twentieth Century"/>
              <a:cs typeface="Twentieth Century"/>
              <a:sym typeface="Twentieth Century"/>
            </a:endParaRPr>
          </a:p>
          <a:p>
            <a:pPr indent="0" lvl="0" marL="0" marR="0" rtl="0" algn="l">
              <a:lnSpc>
                <a:spcPct val="90000"/>
              </a:lnSpc>
              <a:spcBef>
                <a:spcPts val="1400"/>
              </a:spcBef>
              <a:spcAft>
                <a:spcPts val="0"/>
              </a:spcAft>
              <a:buClr>
                <a:srgbClr val="000000"/>
              </a:buClr>
              <a:buSzPts val="2600"/>
              <a:buFont typeface="Arial"/>
              <a:buNone/>
            </a:pPr>
            <a:r>
              <a:rPr b="0" i="1" lang="en-US" sz="2600" u="none" cap="none" strike="noStrike">
                <a:solidFill>
                  <a:srgbClr val="000000"/>
                </a:solidFill>
                <a:latin typeface="Twentieth Century"/>
                <a:ea typeface="Twentieth Century"/>
                <a:cs typeface="Twentieth Century"/>
                <a:sym typeface="Twentieth Century"/>
              </a:rPr>
              <a:t> </a:t>
            </a:r>
            <a:r>
              <a:rPr b="1" i="1" lang="en-US" sz="2600" u="none" cap="none" strike="noStrike">
                <a:solidFill>
                  <a:srgbClr val="000000"/>
                </a:solidFill>
                <a:latin typeface="Twentieth Century"/>
                <a:ea typeface="Twentieth Century"/>
                <a:cs typeface="Twentieth Century"/>
                <a:sym typeface="Twentieth Century"/>
              </a:rPr>
              <a:t>Body Colour</a:t>
            </a:r>
            <a:r>
              <a:rPr b="1" i="0" lang="en-US" sz="2600" u="none" cap="none" strike="noStrike">
                <a:solidFill>
                  <a:srgbClr val="000000"/>
                </a:solidFill>
                <a:latin typeface="Twentieth Century"/>
                <a:ea typeface="Twentieth Century"/>
                <a:cs typeface="Twentieth Century"/>
                <a:sym typeface="Twentieth Century"/>
              </a:rPr>
              <a:t>	</a:t>
            </a:r>
            <a:endParaRPr b="1" i="0" sz="2600" u="none" cap="none" strike="noStrike">
              <a:solidFill>
                <a:srgbClr val="000000"/>
              </a:solidFill>
              <a:latin typeface="Twentieth Century"/>
              <a:ea typeface="Twentieth Century"/>
              <a:cs typeface="Twentieth Century"/>
              <a:sym typeface="Twentieth Century"/>
            </a:endParaRPr>
          </a:p>
          <a:p>
            <a:pPr indent="-165099" lvl="1" marL="265176" marR="0" rtl="0" algn="l">
              <a:lnSpc>
                <a:spcPct val="90000"/>
              </a:lnSpc>
              <a:spcBef>
                <a:spcPts val="400"/>
              </a:spcBef>
              <a:spcAft>
                <a:spcPts val="0"/>
              </a:spcAft>
              <a:buClr>
                <a:srgbClr val="1CADE4"/>
              </a:buClr>
              <a:buSzPts val="2600"/>
              <a:buFont typeface="Noto Sans Symbols"/>
              <a:buChar char="🢝"/>
            </a:pPr>
            <a:r>
              <a:rPr b="0" i="1" lang="en-US" sz="2600" u="none" cap="none" strike="noStrike">
                <a:solidFill>
                  <a:srgbClr val="000000"/>
                </a:solidFill>
                <a:highlight>
                  <a:srgbClr val="F4CCCC"/>
                </a:highlight>
                <a:latin typeface="Twentieth Century"/>
                <a:ea typeface="Twentieth Century"/>
                <a:cs typeface="Twentieth Century"/>
                <a:sym typeface="Twentieth Century"/>
              </a:rPr>
              <a:t>Pallor</a:t>
            </a:r>
            <a:r>
              <a:rPr b="0" i="0" lang="en-US" sz="2600" u="none" cap="none" strike="noStrike">
                <a:solidFill>
                  <a:srgbClr val="000000"/>
                </a:solidFill>
                <a:highlight>
                  <a:srgbClr val="F4CCCC"/>
                </a:highlight>
                <a:latin typeface="Twentieth Century"/>
                <a:ea typeface="Twentieth Century"/>
                <a:cs typeface="Twentieth Century"/>
                <a:sym typeface="Twentieth Century"/>
              </a:rPr>
              <a:t>		: (+)</a:t>
            </a:r>
            <a:endParaRPr b="0" i="0" sz="1800" u="none" cap="none" strike="noStrike">
              <a:solidFill>
                <a:srgbClr val="000000"/>
              </a:solidFill>
              <a:highlight>
                <a:srgbClr val="F4CCCC"/>
              </a:highlight>
              <a:latin typeface="Twentieth Century"/>
              <a:ea typeface="Twentieth Century"/>
              <a:cs typeface="Twentieth Century"/>
              <a:sym typeface="Twentieth Century"/>
            </a:endParaRPr>
          </a:p>
          <a:p>
            <a:pPr indent="-16509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latin typeface="Twentieth Century"/>
                <a:ea typeface="Twentieth Century"/>
                <a:cs typeface="Twentieth Century"/>
                <a:sym typeface="Twentieth Century"/>
              </a:rPr>
              <a:t>Mottling`	</a:t>
            </a:r>
            <a:r>
              <a:rPr b="0" i="0" lang="en-US" sz="2600" u="none" cap="none" strike="noStrike">
                <a:solidFill>
                  <a:srgbClr val="000000"/>
                </a:solidFill>
                <a:latin typeface="Twentieth Century"/>
                <a:ea typeface="Twentieth Century"/>
                <a:cs typeface="Twentieth Century"/>
                <a:sym typeface="Twentieth Century"/>
              </a:rPr>
              <a:t>: (-)</a:t>
            </a:r>
            <a:endParaRPr b="0" i="0" sz="1800" u="none" cap="none" strike="noStrike">
              <a:solidFill>
                <a:srgbClr val="000000"/>
              </a:solidFill>
              <a:latin typeface="Twentieth Century"/>
              <a:ea typeface="Twentieth Century"/>
              <a:cs typeface="Twentieth Century"/>
              <a:sym typeface="Twentieth Century"/>
            </a:endParaRPr>
          </a:p>
          <a:p>
            <a:pPr indent="-165099" lvl="1" marL="265176" marR="0" rtl="0" algn="l">
              <a:lnSpc>
                <a:spcPct val="90000"/>
              </a:lnSpc>
              <a:spcBef>
                <a:spcPts val="600"/>
              </a:spcBef>
              <a:spcAft>
                <a:spcPts val="0"/>
              </a:spcAft>
              <a:buClr>
                <a:srgbClr val="1CADE4"/>
              </a:buClr>
              <a:buSzPts val="2600"/>
              <a:buFont typeface="Noto Sans Symbols"/>
              <a:buChar char="🢝"/>
            </a:pPr>
            <a:r>
              <a:rPr b="0" i="1" lang="en-US" sz="2600" u="none" cap="none" strike="noStrike">
                <a:solidFill>
                  <a:srgbClr val="000000"/>
                </a:solidFill>
                <a:latin typeface="Twentieth Century"/>
                <a:ea typeface="Twentieth Century"/>
                <a:cs typeface="Twentieth Century"/>
                <a:sym typeface="Twentieth Century"/>
              </a:rPr>
              <a:t>Cyanosis	</a:t>
            </a:r>
            <a:r>
              <a:rPr b="0" i="0" lang="en-US" sz="2600" u="none" cap="none" strike="noStrike">
                <a:solidFill>
                  <a:srgbClr val="000000"/>
                </a:solidFill>
                <a:latin typeface="Twentieth Century"/>
                <a:ea typeface="Twentieth Century"/>
                <a:cs typeface="Twentieth Century"/>
                <a:sym typeface="Twentieth Century"/>
              </a:rPr>
              <a:t>: (-)</a:t>
            </a:r>
            <a:endParaRPr b="1" i="0" sz="2600" u="none" cap="none" strike="noStrike">
              <a:solidFill>
                <a:srgbClr val="000000"/>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1500">
        <p14:window dir="ver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i="1" lang="en-US"/>
              <a:t>PRIMARY SURVEY</a:t>
            </a:r>
            <a:endParaRPr/>
          </a:p>
        </p:txBody>
      </p:sp>
      <p:sp>
        <p:nvSpPr>
          <p:cNvPr id="132" name="Google Shape;132;p5"/>
          <p:cNvSpPr/>
          <p:nvPr/>
        </p:nvSpPr>
        <p:spPr>
          <a:xfrm>
            <a:off x="305053" y="6087141"/>
            <a:ext cx="11582400" cy="460375"/>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wentieth Century"/>
                <a:ea typeface="Twentieth Century"/>
                <a:cs typeface="Twentieth Century"/>
                <a:sym typeface="Twentieth Century"/>
              </a:rPr>
              <a:t>Kesan: Syok hipovolemia terkompensasi</a:t>
            </a:r>
            <a:endParaRPr b="0" i="0" sz="1400" u="none" cap="none" strike="noStrike">
              <a:solidFill>
                <a:srgbClr val="000000"/>
              </a:solidFill>
              <a:latin typeface="Arial"/>
              <a:ea typeface="Arial"/>
              <a:cs typeface="Arial"/>
              <a:sym typeface="Arial"/>
            </a:endParaRPr>
          </a:p>
        </p:txBody>
      </p:sp>
      <p:sp>
        <p:nvSpPr>
          <p:cNvPr id="133" name="Google Shape;133;p5"/>
          <p:cNvSpPr txBox="1"/>
          <p:nvPr>
            <p:ph idx="1" type="body"/>
          </p:nvPr>
        </p:nvSpPr>
        <p:spPr>
          <a:xfrm>
            <a:off x="1024128" y="1819836"/>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400"/>
              <a:buChar char=" "/>
            </a:pPr>
            <a:r>
              <a:rPr b="1" i="1" lang="en-US" sz="2400"/>
              <a:t>Airway</a:t>
            </a:r>
            <a:r>
              <a:rPr b="1" lang="en-US" sz="2400"/>
              <a:t>	</a:t>
            </a:r>
            <a:r>
              <a:rPr lang="en-US" sz="2400"/>
              <a:t>: Clear</a:t>
            </a:r>
            <a:endParaRPr/>
          </a:p>
          <a:p>
            <a:pPr indent="-91440" lvl="0" marL="91440" rtl="0" algn="l">
              <a:lnSpc>
                <a:spcPct val="90000"/>
              </a:lnSpc>
              <a:spcBef>
                <a:spcPts val="1400"/>
              </a:spcBef>
              <a:spcAft>
                <a:spcPts val="0"/>
              </a:spcAft>
              <a:buSzPts val="2400"/>
              <a:buChar char=" "/>
            </a:pPr>
            <a:r>
              <a:rPr b="1" i="1" lang="en-US" sz="2400"/>
              <a:t>Breathing</a:t>
            </a:r>
            <a:r>
              <a:rPr lang="en-US" sz="2400"/>
              <a:t>	: RR 40x/menit, dalam, cepat, kussmaul </a:t>
            </a:r>
            <a:endParaRPr/>
          </a:p>
          <a:p>
            <a:pPr indent="-91440" lvl="0" marL="91440" rtl="0" algn="l">
              <a:lnSpc>
                <a:spcPct val="90000"/>
              </a:lnSpc>
              <a:spcBef>
                <a:spcPts val="1400"/>
              </a:spcBef>
              <a:spcAft>
                <a:spcPts val="0"/>
              </a:spcAft>
              <a:buSzPts val="2400"/>
              <a:buChar char=" "/>
            </a:pPr>
            <a:r>
              <a:rPr b="1" i="1" lang="en-US" sz="2400"/>
              <a:t>Circulation	</a:t>
            </a:r>
            <a:r>
              <a:rPr lang="en-US" sz="2400"/>
              <a:t>: TD 114/80 mmHg, HR 190x/menit, cukup, irama regular </a:t>
            </a:r>
            <a:endParaRPr/>
          </a:p>
          <a:p>
            <a:pPr indent="-91440" lvl="0" marL="91440" rtl="0" algn="l">
              <a:lnSpc>
                <a:spcPct val="90000"/>
              </a:lnSpc>
              <a:spcBef>
                <a:spcPts val="1400"/>
              </a:spcBef>
              <a:spcAft>
                <a:spcPts val="0"/>
              </a:spcAft>
              <a:buSzPts val="2400"/>
              <a:buChar char=" "/>
            </a:pPr>
            <a:r>
              <a:rPr b="1" i="1" lang="en-US" sz="2400"/>
              <a:t>Disability</a:t>
            </a:r>
            <a:r>
              <a:rPr lang="en-US" sz="2400"/>
              <a:t>	:  Compos mentis E4M6V5</a:t>
            </a:r>
            <a:endParaRPr/>
          </a:p>
          <a:p>
            <a:pPr indent="-91440" lvl="0" marL="91440" rtl="0" algn="l">
              <a:lnSpc>
                <a:spcPct val="90000"/>
              </a:lnSpc>
              <a:spcBef>
                <a:spcPts val="1400"/>
              </a:spcBef>
              <a:spcAft>
                <a:spcPts val="0"/>
              </a:spcAft>
              <a:buSzPts val="2400"/>
              <a:buChar char=" "/>
            </a:pPr>
            <a:r>
              <a:rPr b="1" i="1" lang="en-US" sz="2400"/>
              <a:t>Exposure</a:t>
            </a:r>
            <a:r>
              <a:rPr lang="en-US" sz="2400"/>
              <a:t>	: </a:t>
            </a:r>
            <a:r>
              <a:rPr lang="en-US" sz="2400">
                <a:highlight>
                  <a:srgbClr val="F4CCCC"/>
                </a:highlight>
              </a:rPr>
              <a:t>Buka pakaiaan pasien, lihat apakah ada jejas/ikterik/hematoma. Berapa suhu pasien? </a:t>
            </a:r>
            <a:endParaRPr sz="2400">
              <a:highlight>
                <a:srgbClr val="F4CCCC"/>
              </a:highlight>
            </a:endParaRPr>
          </a:p>
        </p:txBody>
      </p:sp>
    </p:spTree>
  </p:cSld>
  <p:clrMapOvr>
    <a:masterClrMapping/>
  </p:clrMapOvr>
  <mc:AlternateContent>
    <mc:Choice Requires="p14">
      <p:transition spd="slow" p14:dur="1500">
        <p14:window dir="ver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6a07f40bfe_3_45"/>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i="1" lang="en-US"/>
              <a:t>SECONDARY SURVEY</a:t>
            </a:r>
            <a:endParaRPr/>
          </a:p>
        </p:txBody>
      </p:sp>
      <p:sp>
        <p:nvSpPr>
          <p:cNvPr id="140" name="Google Shape;140;g26a07f40bfe_3_45"/>
          <p:cNvSpPr/>
          <p:nvPr/>
        </p:nvSpPr>
        <p:spPr>
          <a:xfrm>
            <a:off x="305053" y="6087141"/>
            <a:ext cx="11582400" cy="460500"/>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wentieth Century"/>
                <a:ea typeface="Twentieth Century"/>
                <a:cs typeface="Twentieth Century"/>
                <a:sym typeface="Twentieth Century"/>
              </a:rPr>
              <a:t>Kesan: Syok hipovolemia terkompensasi</a:t>
            </a:r>
            <a:endParaRPr b="0" i="0" sz="1400" u="none" cap="none" strike="noStrike">
              <a:solidFill>
                <a:srgbClr val="000000"/>
              </a:solidFill>
              <a:latin typeface="Arial"/>
              <a:ea typeface="Arial"/>
              <a:cs typeface="Arial"/>
              <a:sym typeface="Arial"/>
            </a:endParaRPr>
          </a:p>
        </p:txBody>
      </p:sp>
      <p:sp>
        <p:nvSpPr>
          <p:cNvPr id="141" name="Google Shape;141;g26a07f40bfe_3_45"/>
          <p:cNvSpPr txBox="1"/>
          <p:nvPr>
            <p:ph idx="1" type="body"/>
          </p:nvPr>
        </p:nvSpPr>
        <p:spPr>
          <a:xfrm>
            <a:off x="1024128" y="1819836"/>
            <a:ext cx="9720000" cy="402330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1400"/>
              </a:spcBef>
              <a:spcAft>
                <a:spcPts val="0"/>
              </a:spcAft>
              <a:buSzPts val="2400"/>
              <a:buChar char=" "/>
            </a:pPr>
            <a:r>
              <a:t/>
            </a:r>
            <a:endParaRPr/>
          </a:p>
          <a:p>
            <a:pPr indent="-91440" lvl="0" marL="91440" rtl="0" algn="l">
              <a:lnSpc>
                <a:spcPct val="90000"/>
              </a:lnSpc>
              <a:spcBef>
                <a:spcPts val="1400"/>
              </a:spcBef>
              <a:spcAft>
                <a:spcPts val="0"/>
              </a:spcAft>
              <a:buSzPts val="2400"/>
              <a:buChar char=" "/>
            </a:pPr>
            <a:r>
              <a:rPr i="1" lang="en-US" sz="2400"/>
              <a:t>Allergy</a:t>
            </a:r>
            <a:r>
              <a:rPr lang="en-US" sz="2400"/>
              <a:t>: Tidak ada </a:t>
            </a:r>
            <a:endParaRPr b="1" sz="2400"/>
          </a:p>
          <a:p>
            <a:pPr indent="-176211" lvl="4" marL="2005011" rtl="0" algn="l">
              <a:lnSpc>
                <a:spcPct val="90000"/>
              </a:lnSpc>
              <a:spcBef>
                <a:spcPts val="400"/>
              </a:spcBef>
              <a:spcAft>
                <a:spcPts val="0"/>
              </a:spcAft>
              <a:buSzPts val="2400"/>
              <a:buNone/>
            </a:pPr>
            <a:r>
              <a:rPr i="1" lang="en-US" sz="2400"/>
              <a:t>  Medication history</a:t>
            </a:r>
            <a:r>
              <a:rPr lang="en-US" sz="2400"/>
              <a:t>: Furosemid 3x5 mg po</a:t>
            </a:r>
            <a:endParaRPr sz="2400"/>
          </a:p>
          <a:p>
            <a:pPr indent="-176211" lvl="0" marL="2005011" rtl="0" algn="l">
              <a:lnSpc>
                <a:spcPct val="90000"/>
              </a:lnSpc>
              <a:spcBef>
                <a:spcPts val="400"/>
              </a:spcBef>
              <a:spcAft>
                <a:spcPts val="0"/>
              </a:spcAft>
              <a:buSzPts val="1100"/>
              <a:buNone/>
            </a:pPr>
            <a:r>
              <a:rPr lang="en-US" sz="2400"/>
              <a:t>Captopril 3x2.5 mg po, Sildenafil 3x10 mg po, Beraprost 3x2 mcg po. </a:t>
            </a:r>
            <a:endParaRPr sz="2400"/>
          </a:p>
          <a:p>
            <a:pPr indent="0" lvl="4" marL="1828800" rtl="0" algn="l">
              <a:lnSpc>
                <a:spcPct val="90000"/>
              </a:lnSpc>
              <a:spcBef>
                <a:spcPts val="600"/>
              </a:spcBef>
              <a:spcAft>
                <a:spcPts val="0"/>
              </a:spcAft>
              <a:buSzPts val="2400"/>
              <a:buNone/>
            </a:pPr>
            <a:r>
              <a:rPr i="1" lang="en-US" sz="2400"/>
              <a:t>  Past illness</a:t>
            </a:r>
            <a:r>
              <a:rPr lang="en-US" sz="2400"/>
              <a:t>: moderate PDA, Mild Co Aorta, small secundum ASD, </a:t>
            </a:r>
            <a:endParaRPr/>
          </a:p>
          <a:p>
            <a:pPr indent="0" lvl="4" marL="1828800" rtl="0" algn="l">
              <a:lnSpc>
                <a:spcPct val="90000"/>
              </a:lnSpc>
              <a:spcBef>
                <a:spcPts val="600"/>
              </a:spcBef>
              <a:spcAft>
                <a:spcPts val="0"/>
              </a:spcAft>
              <a:buSzPts val="2400"/>
              <a:buNone/>
            </a:pPr>
            <a:r>
              <a:rPr i="1" lang="en-US" sz="2400"/>
              <a:t>  Last meal</a:t>
            </a:r>
            <a:r>
              <a:rPr lang="en-US" sz="2400"/>
              <a:t>: Susu formula pada jam 15.00 </a:t>
            </a:r>
            <a:endParaRPr/>
          </a:p>
          <a:p>
            <a:pPr indent="0" lvl="4" marL="1828800" rtl="0" algn="l">
              <a:lnSpc>
                <a:spcPct val="90000"/>
              </a:lnSpc>
              <a:spcBef>
                <a:spcPts val="600"/>
              </a:spcBef>
              <a:spcAft>
                <a:spcPts val="0"/>
              </a:spcAft>
              <a:buSzPts val="2400"/>
              <a:buNone/>
            </a:pPr>
            <a:r>
              <a:rPr i="1" lang="en-US" sz="2400"/>
              <a:t>  Events leading to admission</a:t>
            </a:r>
            <a:r>
              <a:rPr lang="en-US" sz="2400"/>
              <a:t>: Sesak nafas</a:t>
            </a:r>
            <a:endParaRPr b="1"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type="title"/>
          </p:nvPr>
        </p:nvSpPr>
        <p:spPr>
          <a:xfrm>
            <a:off x="932919" y="448235"/>
            <a:ext cx="10972800" cy="880533"/>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0C0C0C"/>
              </a:buClr>
              <a:buSzPts val="5000"/>
              <a:buFont typeface="Calibri"/>
              <a:buNone/>
            </a:pPr>
            <a:br>
              <a:rPr i="1" lang="en-US">
                <a:latin typeface="Calibri"/>
                <a:ea typeface="Calibri"/>
                <a:cs typeface="Calibri"/>
                <a:sym typeface="Calibri"/>
              </a:rPr>
            </a:br>
            <a:r>
              <a:rPr i="1" lang="en-US">
                <a:latin typeface="Calibri"/>
                <a:ea typeface="Calibri"/>
                <a:cs typeface="Calibri"/>
                <a:sym typeface="Calibri"/>
              </a:rPr>
              <a:t>SECONDARY SURVEY</a:t>
            </a:r>
            <a:br>
              <a:rPr i="1" lang="en-US">
                <a:latin typeface="Calibri"/>
                <a:ea typeface="Calibri"/>
                <a:cs typeface="Calibri"/>
                <a:sym typeface="Calibri"/>
              </a:rPr>
            </a:br>
            <a:r>
              <a:rPr lang="en-US">
                <a:latin typeface="Calibri"/>
                <a:ea typeface="Calibri"/>
                <a:cs typeface="Calibri"/>
                <a:sym typeface="Calibri"/>
              </a:rPr>
              <a:t>RIWAYAT PENYAKIT SEKARANG</a:t>
            </a:r>
            <a:endParaRPr i="1">
              <a:latin typeface="Calibri"/>
              <a:ea typeface="Calibri"/>
              <a:cs typeface="Calibri"/>
              <a:sym typeface="Calibri"/>
            </a:endParaRPr>
          </a:p>
        </p:txBody>
      </p:sp>
      <p:sp>
        <p:nvSpPr>
          <p:cNvPr id="148" name="Google Shape;148;p6"/>
          <p:cNvSpPr txBox="1"/>
          <p:nvPr/>
        </p:nvSpPr>
        <p:spPr>
          <a:xfrm>
            <a:off x="1002025" y="1821850"/>
            <a:ext cx="10903800" cy="490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wentieth Century"/>
                <a:ea typeface="Twentieth Century"/>
                <a:cs typeface="Twentieth Century"/>
                <a:sym typeface="Twentieth Century"/>
              </a:rPr>
              <a:t>Pasien mengeluhkan sesak nafas yang memberat sejak 4 jam SMRS. Sesak disertai suara grok-grok, kembang kempis hidung dan dada yang lebih berat dari biasanya, dan tidak berkurang saat didudukkan atau tidur dengan ≥2 bantal. sesak didampingi dengan batuk tidak berdahak, riwayat sianosis dan kejang disangkal. Saturasi oksigen di rumah 1 hari SMRS diukur berkisar ≥90%. pada hari masuk rumah sakit, saturasi oksigen tidak mencapai 90%, dan hanya mencapai 70% pada 3 jam SMRS.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wentieth Century"/>
                <a:ea typeface="Twentieth Century"/>
                <a:cs typeface="Twentieth Century"/>
                <a:sym typeface="Twentieth Century"/>
              </a:rPr>
              <a:t>Pasien juga mengalami demam sejak 3 hari SMRS, diukur mencapai 39.0ºC, membaik sesaat ketika diberikan antipiretik, namun meningkat kembali dan tidak pernah turun mencapai suhu tubuh normal. riwayat ruam pada tubuh, petekiae, gusi berdarah, dan mimisan disangkal. Riwayat berpergian ke kota lain, ikterus disangkal.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wentieth Century"/>
                <a:ea typeface="Twentieth Century"/>
                <a:cs typeface="Twentieth Century"/>
                <a:sym typeface="Twentieth Century"/>
              </a:rPr>
              <a:t>Pasien juga mengeluhkan adanya diare sejak 1 hari SMRS, jumlah BAB tidak diketahui pasti namun ≥5 kali sehari, berwarna kuning, cairan lebih banyak dari ampas, lendir atau darah disangkal. Diare disertai penurunan kemampuan minum susu, asupan minum pasien berkurang dikarenakan adanya muntah setiap kali minum susu. </a:t>
            </a:r>
            <a:endParaRPr b="0" i="0" sz="20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pSp>
        <p:nvGrpSpPr>
          <p:cNvPr id="154" name="Google Shape;154;p7"/>
          <p:cNvGrpSpPr/>
          <p:nvPr/>
        </p:nvGrpSpPr>
        <p:grpSpPr>
          <a:xfrm>
            <a:off x="961698" y="194021"/>
            <a:ext cx="10626002" cy="6433404"/>
            <a:chOff x="0" y="5332"/>
            <a:chExt cx="10626002" cy="6433404"/>
          </a:xfrm>
        </p:grpSpPr>
        <p:sp>
          <p:nvSpPr>
            <p:cNvPr id="155" name="Google Shape;155;p7"/>
            <p:cNvSpPr/>
            <p:nvPr/>
          </p:nvSpPr>
          <p:spPr>
            <a:xfrm>
              <a:off x="0" y="595732"/>
              <a:ext cx="10625958" cy="1386000"/>
            </a:xfrm>
            <a:prstGeom prst="rect">
              <a:avLst/>
            </a:prstGeom>
            <a:solidFill>
              <a:schemeClr val="lt1">
                <a:alpha val="89411"/>
              </a:schemeClr>
            </a:solidFill>
            <a:ln cap="flat" cmpd="sng" w="15875">
              <a:solidFill>
                <a:srgbClr val="3B88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7"/>
            <p:cNvSpPr txBox="1"/>
            <p:nvPr/>
          </p:nvSpPr>
          <p:spPr>
            <a:xfrm>
              <a:off x="0" y="595732"/>
              <a:ext cx="10625958" cy="1386000"/>
            </a:xfrm>
            <a:prstGeom prst="rect">
              <a:avLst/>
            </a:prstGeom>
            <a:noFill/>
            <a:ln>
              <a:noFill/>
            </a:ln>
          </p:spPr>
          <p:txBody>
            <a:bodyPr anchorCtr="0" anchor="t" bIns="184900" lIns="824675" spcFirstLastPara="1" rIns="824675" wrap="square" tIns="833100">
              <a:noAutofit/>
            </a:bodyPr>
            <a:lstStyle/>
            <a:p>
              <a:pPr indent="-228600" lvl="1" marL="228600" marR="0" rtl="0" algn="l">
                <a:lnSpc>
                  <a:spcPct val="100000"/>
                </a:lnSpc>
                <a:spcBef>
                  <a:spcPts val="0"/>
                </a:spcBef>
                <a:spcAft>
                  <a:spcPts val="0"/>
                </a:spcAft>
                <a:buClr>
                  <a:schemeClr val="dk1"/>
                </a:buClr>
                <a:buSzPts val="2600"/>
                <a:buFont typeface="Twentieth Century"/>
                <a:buChar char="•"/>
              </a:pPr>
              <a:r>
                <a:rPr b="0" i="0" lang="en-US" sz="2600" u="none" cap="none" strike="noStrike">
                  <a:solidFill>
                    <a:schemeClr val="dk1"/>
                  </a:solidFill>
                  <a:latin typeface="Twentieth Century"/>
                  <a:ea typeface="Twentieth Century"/>
                  <a:cs typeface="Twentieth Century"/>
                  <a:sym typeface="Twentieth Century"/>
                </a:rPr>
                <a:t>Pasien didiagnosis dengan PJB, dan pneumonia berulang. </a:t>
              </a:r>
              <a:endParaRPr b="0" i="0" sz="2600" u="none" cap="none" strike="noStrike">
                <a:solidFill>
                  <a:schemeClr val="dk1"/>
                </a:solidFill>
                <a:latin typeface="Twentieth Century"/>
                <a:ea typeface="Twentieth Century"/>
                <a:cs typeface="Twentieth Century"/>
                <a:sym typeface="Twentieth Century"/>
              </a:endParaRPr>
            </a:p>
          </p:txBody>
        </p:sp>
        <p:sp>
          <p:nvSpPr>
            <p:cNvPr id="157" name="Google Shape;157;p7"/>
            <p:cNvSpPr/>
            <p:nvPr/>
          </p:nvSpPr>
          <p:spPr>
            <a:xfrm>
              <a:off x="531297" y="5332"/>
              <a:ext cx="7438171" cy="1180800"/>
            </a:xfrm>
            <a:prstGeom prst="roundRect">
              <a:avLst>
                <a:gd fmla="val 16667" name="adj"/>
              </a:avLst>
            </a:prstGeom>
            <a:solidFill>
              <a:srgbClr val="3B885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7"/>
            <p:cNvSpPr txBox="1"/>
            <p:nvPr/>
          </p:nvSpPr>
          <p:spPr>
            <a:xfrm>
              <a:off x="588939" y="62974"/>
              <a:ext cx="7322887" cy="1065516"/>
            </a:xfrm>
            <a:prstGeom prst="rect">
              <a:avLst/>
            </a:prstGeom>
            <a:noFill/>
            <a:ln>
              <a:noFill/>
            </a:ln>
          </p:spPr>
          <p:txBody>
            <a:bodyPr anchorCtr="0" anchor="ctr" bIns="0" lIns="281125" spcFirstLastPara="1" rIns="281125" wrap="square" tIns="0">
              <a:noAutofit/>
            </a:bodyPr>
            <a:lstStyle/>
            <a:p>
              <a:pPr indent="0" lvl="0" marL="0" marR="0" rtl="0" algn="l">
                <a:lnSpc>
                  <a:spcPct val="90000"/>
                </a:lnSpc>
                <a:spcBef>
                  <a:spcPts val="0"/>
                </a:spcBef>
                <a:spcAft>
                  <a:spcPts val="0"/>
                </a:spcAft>
                <a:buClr>
                  <a:schemeClr val="lt1"/>
                </a:buClr>
                <a:buSzPts val="2800"/>
                <a:buFont typeface="Twentieth Century"/>
                <a:buNone/>
              </a:pPr>
              <a:r>
                <a:rPr b="1" i="0" lang="en-US" sz="2800" u="none" cap="none" strike="noStrike">
                  <a:solidFill>
                    <a:schemeClr val="lt1"/>
                  </a:solidFill>
                  <a:latin typeface="Twentieth Century"/>
                  <a:ea typeface="Twentieth Century"/>
                  <a:cs typeface="Twentieth Century"/>
                  <a:sym typeface="Twentieth Century"/>
                </a:rPr>
                <a:t>Riwayat penyakit dahulu</a:t>
              </a:r>
              <a:endParaRPr b="0" i="0" sz="1400" u="none" cap="none" strike="noStrike">
                <a:solidFill>
                  <a:srgbClr val="000000"/>
                </a:solidFill>
                <a:latin typeface="Arial"/>
                <a:ea typeface="Arial"/>
                <a:cs typeface="Arial"/>
                <a:sym typeface="Arial"/>
              </a:endParaRPr>
            </a:p>
          </p:txBody>
        </p:sp>
        <p:sp>
          <p:nvSpPr>
            <p:cNvPr id="159" name="Google Shape;159;p7"/>
            <p:cNvSpPr/>
            <p:nvPr/>
          </p:nvSpPr>
          <p:spPr>
            <a:xfrm>
              <a:off x="0" y="2712405"/>
              <a:ext cx="10625958" cy="1449000"/>
            </a:xfrm>
            <a:prstGeom prst="rect">
              <a:avLst/>
            </a:prstGeom>
            <a:solidFill>
              <a:schemeClr val="lt1">
                <a:alpha val="89411"/>
              </a:schemeClr>
            </a:solidFill>
            <a:ln cap="flat" cmpd="sng" w="15875">
              <a:solidFill>
                <a:srgbClr val="4C96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7"/>
            <p:cNvSpPr txBox="1"/>
            <p:nvPr/>
          </p:nvSpPr>
          <p:spPr>
            <a:xfrm>
              <a:off x="0" y="2712405"/>
              <a:ext cx="10625958" cy="1449000"/>
            </a:xfrm>
            <a:prstGeom prst="rect">
              <a:avLst/>
            </a:prstGeom>
            <a:noFill/>
            <a:ln>
              <a:noFill/>
            </a:ln>
          </p:spPr>
          <p:txBody>
            <a:bodyPr anchorCtr="0" anchor="t" bIns="199125" lIns="824675" spcFirstLastPara="1" rIns="824675" wrap="square" tIns="833100">
              <a:noAutofit/>
            </a:bodyPr>
            <a:lstStyle/>
            <a:p>
              <a:pPr indent="-234950" lvl="1" marL="285750" marR="0" rtl="0" algn="l">
                <a:lnSpc>
                  <a:spcPct val="100000"/>
                </a:lnSpc>
                <a:spcBef>
                  <a:spcPts val="0"/>
                </a:spcBef>
                <a:spcAft>
                  <a:spcPts val="0"/>
                </a:spcAft>
                <a:buClr>
                  <a:schemeClr val="dk1"/>
                </a:buClr>
                <a:buSzPts val="2000"/>
                <a:buFont typeface="Twentieth Century"/>
                <a:buChar char="•"/>
              </a:pPr>
              <a:r>
                <a:rPr b="0" i="0" lang="en-US" sz="2000" u="none" cap="none" strike="noStrike">
                  <a:solidFill>
                    <a:schemeClr val="dk1"/>
                  </a:solidFill>
                  <a:latin typeface="Twentieth Century"/>
                  <a:ea typeface="Twentieth Century"/>
                  <a:cs typeface="Twentieth Century"/>
                  <a:sym typeface="Twentieth Century"/>
                </a:rPr>
                <a:t>Pasien merupakan anak ke-4 dari 4 bersaudara</a:t>
              </a:r>
              <a:endParaRPr b="0" i="0" sz="2000" u="none" cap="none" strike="noStrike">
                <a:solidFill>
                  <a:schemeClr val="dk1"/>
                </a:solidFill>
                <a:latin typeface="Twentieth Century"/>
                <a:ea typeface="Twentieth Century"/>
                <a:cs typeface="Twentieth Century"/>
                <a:sym typeface="Twentieth Century"/>
              </a:endParaRPr>
            </a:p>
            <a:p>
              <a:pPr indent="-234950" lvl="1" marL="285750" marR="0" rtl="0" algn="l">
                <a:lnSpc>
                  <a:spcPct val="100000"/>
                </a:lnSpc>
                <a:spcBef>
                  <a:spcPts val="0"/>
                </a:spcBef>
                <a:spcAft>
                  <a:spcPts val="0"/>
                </a:spcAft>
                <a:buClr>
                  <a:schemeClr val="dk1"/>
                </a:buClr>
                <a:buSzPts val="2000"/>
                <a:buFont typeface="Twentieth Century"/>
                <a:buChar char="•"/>
              </a:pPr>
              <a:r>
                <a:rPr b="0" i="0" lang="en-US" sz="2000" u="none" cap="none" strike="noStrike">
                  <a:solidFill>
                    <a:schemeClr val="dk1"/>
                  </a:solidFill>
                  <a:latin typeface="Twentieth Century"/>
                  <a:ea typeface="Twentieth Century"/>
                  <a:cs typeface="Twentieth Century"/>
                  <a:sym typeface="Twentieth Century"/>
                </a:rPr>
                <a:t>Ayah, ibu dan ketiga saudaranya sedang mengalami diare dan demam</a:t>
              </a:r>
              <a:endParaRPr b="0" i="0" sz="2000" u="none" cap="none" strike="noStrike">
                <a:solidFill>
                  <a:schemeClr val="dk1"/>
                </a:solidFill>
                <a:latin typeface="Twentieth Century"/>
                <a:ea typeface="Twentieth Century"/>
                <a:cs typeface="Twentieth Century"/>
                <a:sym typeface="Twentieth Century"/>
              </a:endParaRPr>
            </a:p>
          </p:txBody>
        </p:sp>
        <p:sp>
          <p:nvSpPr>
            <p:cNvPr id="161" name="Google Shape;161;p7"/>
            <p:cNvSpPr/>
            <p:nvPr/>
          </p:nvSpPr>
          <p:spPr>
            <a:xfrm>
              <a:off x="531297" y="2197733"/>
              <a:ext cx="7438171" cy="1180800"/>
            </a:xfrm>
            <a:prstGeom prst="roundRect">
              <a:avLst>
                <a:gd fmla="val 16667" name="adj"/>
              </a:avLst>
            </a:prstGeom>
            <a:solidFill>
              <a:srgbClr val="4C9679"/>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7"/>
            <p:cNvSpPr txBox="1"/>
            <p:nvPr/>
          </p:nvSpPr>
          <p:spPr>
            <a:xfrm>
              <a:off x="588939" y="2255375"/>
              <a:ext cx="7322887" cy="1065516"/>
            </a:xfrm>
            <a:prstGeom prst="rect">
              <a:avLst/>
            </a:prstGeom>
            <a:noFill/>
            <a:ln>
              <a:noFill/>
            </a:ln>
          </p:spPr>
          <p:txBody>
            <a:bodyPr anchorCtr="0" anchor="ctr" bIns="0" lIns="281125" spcFirstLastPara="1" rIns="281125" wrap="square" tIns="0">
              <a:noAutofit/>
            </a:bodyPr>
            <a:lstStyle/>
            <a:p>
              <a:pPr indent="0" lvl="0" marL="0" marR="0" rtl="0" algn="l">
                <a:lnSpc>
                  <a:spcPct val="90000"/>
                </a:lnSpc>
                <a:spcBef>
                  <a:spcPts val="0"/>
                </a:spcBef>
                <a:spcAft>
                  <a:spcPts val="0"/>
                </a:spcAft>
                <a:buClr>
                  <a:schemeClr val="lt1"/>
                </a:buClr>
                <a:buSzPts val="2800"/>
                <a:buFont typeface="Twentieth Century"/>
                <a:buNone/>
              </a:pPr>
              <a:r>
                <a:rPr b="1" i="0" lang="en-US" sz="2800" u="none" cap="none" strike="noStrike">
                  <a:solidFill>
                    <a:schemeClr val="lt1"/>
                  </a:solidFill>
                  <a:latin typeface="Twentieth Century"/>
                  <a:ea typeface="Twentieth Century"/>
                  <a:cs typeface="Twentieth Century"/>
                  <a:sym typeface="Twentieth Century"/>
                </a:rPr>
                <a:t>Riwayat penyakit keluarga</a:t>
              </a:r>
              <a:endParaRPr b="1" i="0" sz="2800" u="none" cap="none" strike="noStrike">
                <a:solidFill>
                  <a:schemeClr val="lt1"/>
                </a:solidFill>
                <a:latin typeface="Twentieth Century"/>
                <a:ea typeface="Twentieth Century"/>
                <a:cs typeface="Twentieth Century"/>
                <a:sym typeface="Twentieth Century"/>
              </a:endParaRPr>
            </a:p>
          </p:txBody>
        </p:sp>
        <p:sp>
          <p:nvSpPr>
            <p:cNvPr id="163" name="Google Shape;163;p7"/>
            <p:cNvSpPr/>
            <p:nvPr/>
          </p:nvSpPr>
          <p:spPr>
            <a:xfrm>
              <a:off x="0" y="4989594"/>
              <a:ext cx="10625958" cy="1449000"/>
            </a:xfrm>
            <a:prstGeom prst="rect">
              <a:avLst/>
            </a:prstGeom>
            <a:solidFill>
              <a:schemeClr val="lt1">
                <a:alpha val="89411"/>
              </a:schemeClr>
            </a:solidFill>
            <a:ln cap="flat" cmpd="sng" w="15875">
              <a:solidFill>
                <a:srgbClr val="60A2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7"/>
            <p:cNvSpPr txBox="1"/>
            <p:nvPr/>
          </p:nvSpPr>
          <p:spPr>
            <a:xfrm>
              <a:off x="2" y="4798936"/>
              <a:ext cx="10626000" cy="1639800"/>
            </a:xfrm>
            <a:prstGeom prst="rect">
              <a:avLst/>
            </a:prstGeom>
            <a:noFill/>
            <a:ln>
              <a:noFill/>
            </a:ln>
          </p:spPr>
          <p:txBody>
            <a:bodyPr anchorCtr="0" anchor="t" bIns="199125" lIns="824675" spcFirstLastPara="1" rIns="824675" wrap="square" tIns="833100">
              <a:noAutofit/>
            </a:bodyPr>
            <a:lstStyle/>
            <a:p>
              <a:pPr indent="-247650" lvl="1" marL="285750" marR="0" rtl="0" algn="l">
                <a:lnSpc>
                  <a:spcPct val="100000"/>
                </a:lnSpc>
                <a:spcBef>
                  <a:spcPts val="0"/>
                </a:spcBef>
                <a:spcAft>
                  <a:spcPts val="0"/>
                </a:spcAft>
                <a:buClr>
                  <a:schemeClr val="dk1"/>
                </a:buClr>
                <a:buSzPts val="2200"/>
                <a:buFont typeface="Twentieth Century"/>
                <a:buChar char="•"/>
              </a:pPr>
              <a:r>
                <a:rPr b="0" i="0" lang="en-US" sz="2200" u="none" cap="none" strike="noStrike">
                  <a:solidFill>
                    <a:schemeClr val="dk1"/>
                  </a:solidFill>
                  <a:latin typeface="Twentieth Century"/>
                  <a:ea typeface="Twentieth Century"/>
                  <a:cs typeface="Twentieth Century"/>
                  <a:sym typeface="Twentieth Century"/>
                </a:rPr>
                <a:t>High risk baby (prematur 33 minggu, 3200 gram)</a:t>
              </a:r>
              <a:endParaRPr b="0" i="0" sz="2200" u="none" cap="none" strike="noStrike">
                <a:solidFill>
                  <a:schemeClr val="dk1"/>
                </a:solidFill>
                <a:latin typeface="Twentieth Century"/>
                <a:ea typeface="Twentieth Century"/>
                <a:cs typeface="Twentieth Century"/>
                <a:sym typeface="Twentieth Century"/>
              </a:endParaRPr>
            </a:p>
            <a:p>
              <a:pPr indent="-247650" lvl="1" marL="285750" marR="0" rtl="0" algn="l">
                <a:lnSpc>
                  <a:spcPct val="100000"/>
                </a:lnSpc>
                <a:spcBef>
                  <a:spcPts val="0"/>
                </a:spcBef>
                <a:spcAft>
                  <a:spcPts val="0"/>
                </a:spcAft>
                <a:buClr>
                  <a:schemeClr val="dk1"/>
                </a:buClr>
                <a:buSzPts val="2200"/>
                <a:buFont typeface="Twentieth Century"/>
                <a:buChar char="•"/>
              </a:pPr>
              <a:r>
                <a:rPr b="0" i="0" lang="en-US" sz="2200" u="none" cap="none" strike="noStrike">
                  <a:solidFill>
                    <a:schemeClr val="dk1"/>
                  </a:solidFill>
                  <a:latin typeface="Twentieth Century"/>
                  <a:ea typeface="Twentieth Century"/>
                  <a:cs typeface="Twentieth Century"/>
                  <a:sym typeface="Twentieth Century"/>
                </a:rPr>
                <a:t>Lahir dengan SC atas indikasi bekas SC. tidak langsung menangis </a:t>
              </a:r>
              <a:endParaRPr b="0" i="0" sz="2200" u="none" cap="none" strike="noStrike">
                <a:solidFill>
                  <a:schemeClr val="dk1"/>
                </a:solidFill>
                <a:latin typeface="Twentieth Century"/>
                <a:ea typeface="Twentieth Century"/>
                <a:cs typeface="Twentieth Century"/>
                <a:sym typeface="Twentieth Century"/>
              </a:endParaRPr>
            </a:p>
          </p:txBody>
        </p:sp>
        <p:sp>
          <p:nvSpPr>
            <p:cNvPr id="165" name="Google Shape;165;p7"/>
            <p:cNvSpPr/>
            <p:nvPr/>
          </p:nvSpPr>
          <p:spPr>
            <a:xfrm>
              <a:off x="531297" y="4453132"/>
              <a:ext cx="7438171" cy="1180800"/>
            </a:xfrm>
            <a:prstGeom prst="roundRect">
              <a:avLst>
                <a:gd fmla="val 16667" name="adj"/>
              </a:avLst>
            </a:prstGeom>
            <a:solidFill>
              <a:srgbClr val="60A29E"/>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7"/>
            <p:cNvSpPr txBox="1"/>
            <p:nvPr/>
          </p:nvSpPr>
          <p:spPr>
            <a:xfrm>
              <a:off x="588939" y="4510774"/>
              <a:ext cx="7322887" cy="1065516"/>
            </a:xfrm>
            <a:prstGeom prst="rect">
              <a:avLst/>
            </a:prstGeom>
            <a:noFill/>
            <a:ln>
              <a:noFill/>
            </a:ln>
          </p:spPr>
          <p:txBody>
            <a:bodyPr anchorCtr="0" anchor="ctr" bIns="0" lIns="281125" spcFirstLastPara="1" rIns="281125" wrap="square" tIns="0">
              <a:noAutofit/>
            </a:bodyPr>
            <a:lstStyle/>
            <a:p>
              <a:pPr indent="0" lvl="0" marL="0" marR="0" rtl="0" algn="l">
                <a:lnSpc>
                  <a:spcPct val="90000"/>
                </a:lnSpc>
                <a:spcBef>
                  <a:spcPts val="0"/>
                </a:spcBef>
                <a:spcAft>
                  <a:spcPts val="0"/>
                </a:spcAft>
                <a:buClr>
                  <a:schemeClr val="lt1"/>
                </a:buClr>
                <a:buSzPts val="2800"/>
                <a:buFont typeface="Twentieth Century"/>
                <a:buNone/>
              </a:pPr>
              <a:r>
                <a:rPr b="1" i="0" lang="en-US" sz="2800" u="none" cap="none" strike="noStrike">
                  <a:solidFill>
                    <a:schemeClr val="lt1"/>
                  </a:solidFill>
                  <a:latin typeface="Twentieth Century"/>
                  <a:ea typeface="Twentieth Century"/>
                  <a:cs typeface="Twentieth Century"/>
                  <a:sym typeface="Twentieth Century"/>
                </a:rPr>
                <a:t>Riwayat Kehamilan &amp; Kelahiran</a:t>
              </a:r>
              <a:endParaRPr b="1" i="0" sz="2800" u="none" cap="none" strike="noStrike">
                <a:solidFill>
                  <a:schemeClr val="lt1"/>
                </a:solidFill>
                <a:latin typeface="Twentieth Century"/>
                <a:ea typeface="Twentieth Century"/>
                <a:cs typeface="Twentieth Century"/>
                <a:sym typeface="Twentieth Century"/>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grpSp>
        <p:nvGrpSpPr>
          <p:cNvPr id="172" name="Google Shape;172;p8"/>
          <p:cNvGrpSpPr/>
          <p:nvPr/>
        </p:nvGrpSpPr>
        <p:grpSpPr>
          <a:xfrm>
            <a:off x="1009650" y="434618"/>
            <a:ext cx="10020300" cy="5961779"/>
            <a:chOff x="-1" y="15517"/>
            <a:chExt cx="10020300" cy="5961779"/>
          </a:xfrm>
        </p:grpSpPr>
        <p:sp>
          <p:nvSpPr>
            <p:cNvPr id="173" name="Google Shape;173;p8"/>
            <p:cNvSpPr/>
            <p:nvPr/>
          </p:nvSpPr>
          <p:spPr>
            <a:xfrm>
              <a:off x="0" y="556255"/>
              <a:ext cx="10020299" cy="1316700"/>
            </a:xfrm>
            <a:prstGeom prst="rect">
              <a:avLst/>
            </a:prstGeom>
            <a:solidFill>
              <a:schemeClr val="lt1">
                <a:alpha val="89411"/>
              </a:schemeClr>
            </a:solidFill>
            <a:ln cap="flat" cmpd="sng" w="15875">
              <a:solidFill>
                <a:srgbClr val="2383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8"/>
            <p:cNvSpPr txBox="1"/>
            <p:nvPr/>
          </p:nvSpPr>
          <p:spPr>
            <a:xfrm>
              <a:off x="-1" y="293448"/>
              <a:ext cx="10020300" cy="1579500"/>
            </a:xfrm>
            <a:prstGeom prst="rect">
              <a:avLst/>
            </a:prstGeom>
            <a:noFill/>
            <a:ln>
              <a:noFill/>
            </a:ln>
          </p:spPr>
          <p:txBody>
            <a:bodyPr anchorCtr="0" anchor="t" bIns="170675" lIns="777675" spcFirstLastPara="1" rIns="777675" wrap="square" tIns="791450">
              <a:noAutofit/>
            </a:bodyPr>
            <a:lstStyle/>
            <a:p>
              <a:pPr indent="-228600" lvl="1" marL="228600" marR="0" rtl="0" algn="l">
                <a:lnSpc>
                  <a:spcPct val="100000"/>
                </a:lnSpc>
                <a:spcBef>
                  <a:spcPts val="0"/>
                </a:spcBef>
                <a:spcAft>
                  <a:spcPts val="0"/>
                </a:spcAft>
                <a:buClr>
                  <a:schemeClr val="dk1"/>
                </a:buClr>
                <a:buSzPts val="2400"/>
                <a:buFont typeface="Twentieth Century"/>
                <a:buChar char="•"/>
              </a:pPr>
              <a:r>
                <a:rPr b="0" i="0" lang="en-US" sz="2400" u="none" cap="none" strike="noStrike">
                  <a:solidFill>
                    <a:schemeClr val="dk1"/>
                  </a:solidFill>
                  <a:latin typeface="Twentieth Century"/>
                  <a:ea typeface="Twentieth Century"/>
                  <a:cs typeface="Twentieth Century"/>
                  <a:sym typeface="Twentieth Century"/>
                </a:rPr>
                <a:t>Tidak lengkap. Pasien hanya melengkapi imunisasi dasar sampai DPT-HiB-HepB 3</a:t>
              </a:r>
              <a:endParaRPr b="0" i="0" sz="2300" u="none" cap="none" strike="noStrike">
                <a:solidFill>
                  <a:schemeClr val="dk1"/>
                </a:solidFill>
                <a:latin typeface="Twentieth Century"/>
                <a:ea typeface="Twentieth Century"/>
                <a:cs typeface="Twentieth Century"/>
                <a:sym typeface="Twentieth Century"/>
              </a:endParaRPr>
            </a:p>
          </p:txBody>
        </p:sp>
        <p:sp>
          <p:nvSpPr>
            <p:cNvPr id="175" name="Google Shape;175;p8"/>
            <p:cNvSpPr/>
            <p:nvPr/>
          </p:nvSpPr>
          <p:spPr>
            <a:xfrm>
              <a:off x="501015" y="15517"/>
              <a:ext cx="7014300" cy="1121700"/>
            </a:xfrm>
            <a:prstGeom prst="roundRect">
              <a:avLst>
                <a:gd fmla="val 16667" name="adj"/>
              </a:avLst>
            </a:prstGeom>
            <a:solidFill>
              <a:srgbClr val="2383C6"/>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8"/>
            <p:cNvSpPr txBox="1"/>
            <p:nvPr/>
          </p:nvSpPr>
          <p:spPr>
            <a:xfrm>
              <a:off x="555775" y="70277"/>
              <a:ext cx="6904800" cy="1012200"/>
            </a:xfrm>
            <a:prstGeom prst="rect">
              <a:avLst/>
            </a:prstGeom>
            <a:noFill/>
            <a:ln>
              <a:noFill/>
            </a:ln>
          </p:spPr>
          <p:txBody>
            <a:bodyPr anchorCtr="0" anchor="ctr" bIns="0" lIns="265100" spcFirstLastPara="1" rIns="265100" wrap="square" tIns="0">
              <a:noAutofit/>
            </a:bodyPr>
            <a:lstStyle/>
            <a:p>
              <a:pPr indent="0" lvl="0" marL="0" marR="0" rtl="0" algn="l">
                <a:lnSpc>
                  <a:spcPct val="90000"/>
                </a:lnSpc>
                <a:spcBef>
                  <a:spcPts val="0"/>
                </a:spcBef>
                <a:spcAft>
                  <a:spcPts val="0"/>
                </a:spcAft>
                <a:buClr>
                  <a:schemeClr val="lt1"/>
                </a:buClr>
                <a:buSzPts val="2200"/>
                <a:buFont typeface="Twentieth Century"/>
                <a:buNone/>
              </a:pPr>
              <a:r>
                <a:rPr b="1" i="0" lang="en-US" sz="2200" u="none" cap="none" strike="noStrike">
                  <a:solidFill>
                    <a:schemeClr val="lt1"/>
                  </a:solidFill>
                  <a:latin typeface="Twentieth Century"/>
                  <a:ea typeface="Twentieth Century"/>
                  <a:cs typeface="Twentieth Century"/>
                  <a:sym typeface="Twentieth Century"/>
                </a:rPr>
                <a:t>Riwayat Imunisasi</a:t>
              </a:r>
              <a:endParaRPr b="0" i="0" sz="1400" u="none" cap="none" strike="noStrike">
                <a:solidFill>
                  <a:srgbClr val="000000"/>
                </a:solidFill>
                <a:latin typeface="Arial"/>
                <a:ea typeface="Arial"/>
                <a:cs typeface="Arial"/>
                <a:sym typeface="Arial"/>
              </a:endParaRPr>
            </a:p>
          </p:txBody>
        </p:sp>
        <p:sp>
          <p:nvSpPr>
            <p:cNvPr id="177" name="Google Shape;177;p8"/>
            <p:cNvSpPr/>
            <p:nvPr/>
          </p:nvSpPr>
          <p:spPr>
            <a:xfrm>
              <a:off x="0" y="2561324"/>
              <a:ext cx="10020299" cy="1316700"/>
            </a:xfrm>
            <a:prstGeom prst="rect">
              <a:avLst/>
            </a:prstGeom>
            <a:solidFill>
              <a:schemeClr val="lt1">
                <a:alpha val="89411"/>
              </a:schemeClr>
            </a:solidFill>
            <a:ln cap="flat" cmpd="sng" w="15875">
              <a:solidFill>
                <a:srgbClr val="24CE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8"/>
            <p:cNvSpPr txBox="1"/>
            <p:nvPr/>
          </p:nvSpPr>
          <p:spPr>
            <a:xfrm>
              <a:off x="-1" y="2298524"/>
              <a:ext cx="10020300" cy="1579500"/>
            </a:xfrm>
            <a:prstGeom prst="rect">
              <a:avLst/>
            </a:prstGeom>
            <a:noFill/>
            <a:ln>
              <a:noFill/>
            </a:ln>
          </p:spPr>
          <p:txBody>
            <a:bodyPr anchorCtr="0" anchor="t" bIns="170675" lIns="777675" spcFirstLastPara="1" rIns="777675" wrap="square" tIns="791450">
              <a:noAutofit/>
            </a:bodyPr>
            <a:lstStyle/>
            <a:p>
              <a:pPr indent="-228600" lvl="1" marL="228600" marR="0" rtl="0" algn="l">
                <a:lnSpc>
                  <a:spcPct val="100000"/>
                </a:lnSpc>
                <a:spcBef>
                  <a:spcPts val="0"/>
                </a:spcBef>
                <a:spcAft>
                  <a:spcPts val="0"/>
                </a:spcAft>
                <a:buClr>
                  <a:schemeClr val="dk1"/>
                </a:buClr>
                <a:buSzPts val="2400"/>
                <a:buFont typeface="Twentieth Century"/>
                <a:buChar char="•"/>
              </a:pPr>
              <a:r>
                <a:rPr b="0" i="0" lang="en-US" sz="2400" u="none" cap="none" strike="noStrike">
                  <a:solidFill>
                    <a:schemeClr val="dk1"/>
                  </a:solidFill>
                  <a:latin typeface="Twentieth Century"/>
                  <a:ea typeface="Twentieth Century"/>
                  <a:cs typeface="Twentieth Century"/>
                  <a:sym typeface="Twentieth Century"/>
                </a:rPr>
                <a:t>Asi eksklusif sampai 7 bulan, dan saat ini mengkonsumsi susu formula</a:t>
              </a:r>
              <a:endParaRPr b="0" i="0" sz="1400" u="none" cap="none" strike="noStrike">
                <a:solidFill>
                  <a:srgbClr val="000000"/>
                </a:solidFill>
                <a:latin typeface="Arial"/>
                <a:ea typeface="Arial"/>
                <a:cs typeface="Arial"/>
                <a:sym typeface="Arial"/>
              </a:endParaRPr>
            </a:p>
          </p:txBody>
        </p:sp>
        <p:sp>
          <p:nvSpPr>
            <p:cNvPr id="179" name="Google Shape;179;p8"/>
            <p:cNvSpPr/>
            <p:nvPr/>
          </p:nvSpPr>
          <p:spPr>
            <a:xfrm>
              <a:off x="501015" y="2098297"/>
              <a:ext cx="7106937" cy="1040398"/>
            </a:xfrm>
            <a:prstGeom prst="roundRect">
              <a:avLst>
                <a:gd fmla="val 16667" name="adj"/>
              </a:avLst>
            </a:prstGeom>
            <a:solidFill>
              <a:srgbClr val="24CED7"/>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8"/>
            <p:cNvSpPr txBox="1"/>
            <p:nvPr/>
          </p:nvSpPr>
          <p:spPr>
            <a:xfrm>
              <a:off x="551803" y="2149085"/>
              <a:ext cx="7005361" cy="938822"/>
            </a:xfrm>
            <a:prstGeom prst="rect">
              <a:avLst/>
            </a:prstGeom>
            <a:noFill/>
            <a:ln>
              <a:noFill/>
            </a:ln>
          </p:spPr>
          <p:txBody>
            <a:bodyPr anchorCtr="0" anchor="ctr" bIns="0" lIns="265100" spcFirstLastPara="1" rIns="265100" wrap="square" tIns="0">
              <a:noAutofit/>
            </a:bodyPr>
            <a:lstStyle/>
            <a:p>
              <a:pPr indent="0" lvl="0" marL="0" marR="0" rtl="0" algn="l">
                <a:lnSpc>
                  <a:spcPct val="100000"/>
                </a:lnSpc>
                <a:spcBef>
                  <a:spcPts val="0"/>
                </a:spcBef>
                <a:spcAft>
                  <a:spcPts val="0"/>
                </a:spcAft>
                <a:buClr>
                  <a:schemeClr val="lt1"/>
                </a:buClr>
                <a:buSzPts val="2000"/>
                <a:buFont typeface="Twentieth Century"/>
                <a:buNone/>
              </a:pPr>
              <a:r>
                <a:rPr b="1" i="0" lang="en-US" sz="2000" u="none" cap="none" strike="noStrike">
                  <a:solidFill>
                    <a:schemeClr val="lt1"/>
                  </a:solidFill>
                  <a:latin typeface="Twentieth Century"/>
                  <a:ea typeface="Twentieth Century"/>
                  <a:cs typeface="Twentieth Century"/>
                  <a:sym typeface="Twentieth Century"/>
                </a:rPr>
                <a:t>Riwayat Nutrisi</a:t>
              </a:r>
              <a:endParaRPr b="0" i="0" sz="2000" u="none" cap="none" strike="noStrike">
                <a:solidFill>
                  <a:schemeClr val="lt1"/>
                </a:solidFill>
                <a:latin typeface="Twentieth Century"/>
                <a:ea typeface="Twentieth Century"/>
                <a:cs typeface="Twentieth Century"/>
                <a:sym typeface="Twentieth Century"/>
              </a:endParaRPr>
            </a:p>
          </p:txBody>
        </p:sp>
        <p:sp>
          <p:nvSpPr>
            <p:cNvPr id="181" name="Google Shape;181;p8"/>
            <p:cNvSpPr/>
            <p:nvPr/>
          </p:nvSpPr>
          <p:spPr>
            <a:xfrm>
              <a:off x="0" y="4660596"/>
              <a:ext cx="10020299" cy="1316700"/>
            </a:xfrm>
            <a:prstGeom prst="rect">
              <a:avLst/>
            </a:prstGeom>
            <a:solidFill>
              <a:schemeClr val="lt1">
                <a:alpha val="89411"/>
              </a:schemeClr>
            </a:solidFill>
            <a:ln cap="flat" cmpd="sng" w="158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8"/>
            <p:cNvSpPr txBox="1"/>
            <p:nvPr/>
          </p:nvSpPr>
          <p:spPr>
            <a:xfrm>
              <a:off x="0" y="4660596"/>
              <a:ext cx="10020299" cy="1316700"/>
            </a:xfrm>
            <a:prstGeom prst="rect">
              <a:avLst/>
            </a:prstGeom>
            <a:noFill/>
            <a:ln>
              <a:noFill/>
            </a:ln>
          </p:spPr>
          <p:txBody>
            <a:bodyPr anchorCtr="0" anchor="t" bIns="170675" lIns="777675" spcFirstLastPara="1" rIns="777675" wrap="square" tIns="791450">
              <a:noAutofit/>
            </a:bodyPr>
            <a:lstStyle/>
            <a:p>
              <a:pPr indent="-228600" lvl="1" marL="228600" marR="0" rtl="0" algn="l">
                <a:lnSpc>
                  <a:spcPct val="100000"/>
                </a:lnSpc>
                <a:spcBef>
                  <a:spcPts val="0"/>
                </a:spcBef>
                <a:spcAft>
                  <a:spcPts val="0"/>
                </a:spcAft>
                <a:buClr>
                  <a:schemeClr val="dk1"/>
                </a:buClr>
                <a:buSzPts val="2400"/>
                <a:buFont typeface="Twentieth Century"/>
                <a:buChar char="•"/>
              </a:pPr>
              <a:r>
                <a:rPr b="0" i="0" lang="en-US" sz="2400" u="none" cap="none" strike="noStrike">
                  <a:solidFill>
                    <a:schemeClr val="dk1"/>
                  </a:solidFill>
                  <a:latin typeface="Twentieth Century"/>
                  <a:ea typeface="Twentieth Century"/>
                  <a:cs typeface="Twentieth Century"/>
                  <a:sym typeface="Twentieth Century"/>
                </a:rPr>
                <a:t>Pasien berobat dengan BPJS.</a:t>
              </a:r>
              <a:endParaRPr b="0" i="0" sz="1400" u="none" cap="none" strike="noStrike">
                <a:solidFill>
                  <a:srgbClr val="000000"/>
                </a:solidFill>
                <a:latin typeface="Arial"/>
                <a:ea typeface="Arial"/>
                <a:cs typeface="Arial"/>
                <a:sym typeface="Arial"/>
              </a:endParaRPr>
            </a:p>
          </p:txBody>
        </p:sp>
        <p:sp>
          <p:nvSpPr>
            <p:cNvPr id="183" name="Google Shape;183;p8"/>
            <p:cNvSpPr/>
            <p:nvPr/>
          </p:nvSpPr>
          <p:spPr>
            <a:xfrm>
              <a:off x="501015" y="4099716"/>
              <a:ext cx="7014210" cy="1121760"/>
            </a:xfrm>
            <a:prstGeom prst="roundRect">
              <a:avLst>
                <a:gd fmla="val 16667" name="adj"/>
              </a:avLst>
            </a:prstGeom>
            <a:solidFill>
              <a:schemeClr val="accent4"/>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8"/>
            <p:cNvSpPr txBox="1"/>
            <p:nvPr/>
          </p:nvSpPr>
          <p:spPr>
            <a:xfrm>
              <a:off x="555775" y="4154476"/>
              <a:ext cx="6904690" cy="1012240"/>
            </a:xfrm>
            <a:prstGeom prst="rect">
              <a:avLst/>
            </a:prstGeom>
            <a:noFill/>
            <a:ln>
              <a:noFill/>
            </a:ln>
          </p:spPr>
          <p:txBody>
            <a:bodyPr anchorCtr="0" anchor="ctr" bIns="0" lIns="265100" spcFirstLastPara="1" rIns="265100" wrap="square" tIns="0">
              <a:noAutofit/>
            </a:bodyPr>
            <a:lstStyle/>
            <a:p>
              <a:pPr indent="0" lvl="0" marL="0" marR="0" rtl="0" algn="l">
                <a:lnSpc>
                  <a:spcPct val="90000"/>
                </a:lnSpc>
                <a:spcBef>
                  <a:spcPts val="0"/>
                </a:spcBef>
                <a:spcAft>
                  <a:spcPts val="0"/>
                </a:spcAft>
                <a:buClr>
                  <a:schemeClr val="lt1"/>
                </a:buClr>
                <a:buSzPts val="2400"/>
                <a:buFont typeface="Twentieth Century"/>
                <a:buNone/>
              </a:pPr>
              <a:r>
                <a:rPr b="1" i="0" lang="en-US" sz="2400" u="none" cap="none" strike="noStrike">
                  <a:solidFill>
                    <a:schemeClr val="lt1"/>
                  </a:solidFill>
                  <a:latin typeface="Twentieth Century"/>
                  <a:ea typeface="Twentieth Century"/>
                  <a:cs typeface="Twentieth Century"/>
                  <a:sym typeface="Twentieth Century"/>
                </a:rPr>
                <a:t>Riwayat sosioekonomi</a:t>
              </a:r>
              <a:endParaRPr b="1" i="0" sz="2400" u="none" cap="none" strike="noStrike">
                <a:solidFill>
                  <a:schemeClr val="lt1"/>
                </a:solidFill>
                <a:latin typeface="Twentieth Century"/>
                <a:ea typeface="Twentieth Century"/>
                <a:cs typeface="Twentieth Century"/>
                <a:sym typeface="Twentieth Century"/>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9"/>
          <p:cNvSpPr txBox="1"/>
          <p:nvPr>
            <p:ph type="title"/>
          </p:nvPr>
        </p:nvSpPr>
        <p:spPr>
          <a:xfrm>
            <a:off x="3945255" y="424815"/>
            <a:ext cx="4824095" cy="69913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rgbClr val="0C0C0C"/>
              </a:buClr>
              <a:buSzPct val="100000"/>
              <a:buFont typeface="Twentieth Century"/>
              <a:buNone/>
            </a:pPr>
            <a:r>
              <a:rPr lang="en-US"/>
              <a:t>STATUS ANTROPOMETRI</a:t>
            </a:r>
            <a:endParaRPr/>
          </a:p>
        </p:txBody>
      </p:sp>
      <p:sp>
        <p:nvSpPr>
          <p:cNvPr id="190" name="Google Shape;190;p9"/>
          <p:cNvSpPr txBox="1"/>
          <p:nvPr>
            <p:ph idx="1" type="body"/>
          </p:nvPr>
        </p:nvSpPr>
        <p:spPr>
          <a:xfrm>
            <a:off x="838201" y="1428750"/>
            <a:ext cx="10211400" cy="4637400"/>
          </a:xfrm>
          <a:prstGeom prst="rect">
            <a:avLst/>
          </a:prstGeom>
          <a:noFill/>
          <a:ln>
            <a:noFill/>
          </a:ln>
        </p:spPr>
        <p:txBody>
          <a:bodyPr anchorCtr="0" anchor="t" bIns="45700" lIns="45700" spcFirstLastPara="1" rIns="45700" wrap="square" tIns="45700">
            <a:normAutofit/>
          </a:bodyPr>
          <a:lstStyle/>
          <a:p>
            <a:pPr indent="-196850" lvl="0" marL="91440" rtl="0" algn="l">
              <a:lnSpc>
                <a:spcPct val="80000"/>
              </a:lnSpc>
              <a:spcBef>
                <a:spcPts val="0"/>
              </a:spcBef>
              <a:spcAft>
                <a:spcPts val="0"/>
              </a:spcAft>
              <a:buSzPts val="3100"/>
              <a:buChar char=" "/>
            </a:pPr>
            <a:r>
              <a:rPr lang="en-US" sz="3100"/>
              <a:t>BB		:  4.1 kg (BB sebelum sakit 4.8 kg)</a:t>
            </a:r>
            <a:endParaRPr sz="3100"/>
          </a:p>
          <a:p>
            <a:pPr indent="-196850" lvl="0" marL="91440" rtl="0" algn="l">
              <a:lnSpc>
                <a:spcPct val="80000"/>
              </a:lnSpc>
              <a:spcBef>
                <a:spcPts val="1400"/>
              </a:spcBef>
              <a:spcAft>
                <a:spcPts val="0"/>
              </a:spcAft>
              <a:buSzPts val="3100"/>
              <a:buChar char=" "/>
            </a:pPr>
            <a:r>
              <a:rPr lang="en-US" sz="3100"/>
              <a:t>TB		:  60 cm</a:t>
            </a:r>
            <a:endParaRPr sz="2100"/>
          </a:p>
          <a:p>
            <a:pPr indent="-196850" lvl="0" marL="91440" rtl="0" algn="l">
              <a:lnSpc>
                <a:spcPct val="80000"/>
              </a:lnSpc>
              <a:spcBef>
                <a:spcPts val="1400"/>
              </a:spcBef>
              <a:spcAft>
                <a:spcPts val="0"/>
              </a:spcAft>
              <a:buSzPts val="3100"/>
              <a:buChar char=" "/>
            </a:pPr>
            <a:r>
              <a:rPr lang="en-US" sz="3100"/>
              <a:t>BB/U 	: z score &lt; -3 (BB sangat kurang)</a:t>
            </a:r>
            <a:endParaRPr sz="3100"/>
          </a:p>
          <a:p>
            <a:pPr indent="-196850" lvl="0" marL="91440" rtl="0" algn="l">
              <a:lnSpc>
                <a:spcPct val="80000"/>
              </a:lnSpc>
              <a:spcBef>
                <a:spcPts val="1400"/>
              </a:spcBef>
              <a:spcAft>
                <a:spcPts val="0"/>
              </a:spcAft>
              <a:buSzPts val="3100"/>
              <a:buChar char=" "/>
            </a:pPr>
            <a:r>
              <a:rPr lang="en-US" sz="3100"/>
              <a:t>TB/U 	: z score &lt; -3 (Perawakan pendek)</a:t>
            </a:r>
            <a:endParaRPr sz="3100"/>
          </a:p>
          <a:p>
            <a:pPr indent="-196850" lvl="0" marL="91440" rtl="0" algn="l">
              <a:lnSpc>
                <a:spcPct val="80000"/>
              </a:lnSpc>
              <a:spcBef>
                <a:spcPts val="1400"/>
              </a:spcBef>
              <a:spcAft>
                <a:spcPts val="0"/>
              </a:spcAft>
              <a:buSzPts val="3100"/>
              <a:buChar char=" "/>
            </a:pPr>
            <a:r>
              <a:rPr lang="en-US" sz="3100"/>
              <a:t>BB/TB 	: z score &lt; -3 (Gizi buruk)</a:t>
            </a:r>
            <a:endParaRPr sz="3100"/>
          </a:p>
          <a:p>
            <a:pPr indent="-196850" lvl="0" marL="91440" rtl="0" algn="l">
              <a:lnSpc>
                <a:spcPct val="80000"/>
              </a:lnSpc>
              <a:spcBef>
                <a:spcPts val="1400"/>
              </a:spcBef>
              <a:spcAft>
                <a:spcPts val="0"/>
              </a:spcAft>
              <a:buSzPts val="3100"/>
              <a:buChar char=" "/>
            </a:pPr>
            <a:r>
              <a:rPr lang="en-US" sz="3100"/>
              <a:t>Height age:  3 bulan</a:t>
            </a:r>
            <a:endParaRPr sz="3100"/>
          </a:p>
          <a:p>
            <a:pPr indent="-196850" lvl="0" marL="91440" rtl="0" algn="l">
              <a:lnSpc>
                <a:spcPct val="80000"/>
              </a:lnSpc>
              <a:spcBef>
                <a:spcPts val="1400"/>
              </a:spcBef>
              <a:spcAft>
                <a:spcPts val="0"/>
              </a:spcAft>
              <a:buSzPts val="3100"/>
              <a:buChar char=" "/>
            </a:pPr>
            <a:r>
              <a:rPr lang="en-US" sz="3100"/>
              <a:t>RDA	: 120 x 5.8 = 696 kkal/hari</a:t>
            </a:r>
            <a:endParaRPr sz="3100"/>
          </a:p>
        </p:txBody>
      </p:sp>
      <p:sp>
        <p:nvSpPr>
          <p:cNvPr id="191" name="Google Shape;191;p9"/>
          <p:cNvSpPr/>
          <p:nvPr/>
        </p:nvSpPr>
        <p:spPr>
          <a:xfrm>
            <a:off x="2585402" y="5797371"/>
            <a:ext cx="7543800" cy="609600"/>
          </a:xfrm>
          <a:prstGeom prst="roundRect">
            <a:avLst>
              <a:gd fmla="val 16667" name="adj"/>
            </a:avLst>
          </a:prstGeom>
          <a:solidFill>
            <a:schemeClr val="lt1"/>
          </a:solidFill>
          <a:ln cap="flat" cmpd="sng" w="15875">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wentieth Century"/>
                <a:ea typeface="Twentieth Century"/>
                <a:cs typeface="Twentieth Century"/>
                <a:sym typeface="Twentieth Century"/>
              </a:rPr>
              <a:t>Kesan : Gizi buruk, perawakan sangat pendek</a:t>
            </a:r>
            <a:endParaRPr b="1" i="0" sz="2800" u="none" cap="none" strike="noStrike">
              <a:solidFill>
                <a:schemeClr val="dk1"/>
              </a:solidFill>
              <a:latin typeface="Twentieth Century"/>
              <a:ea typeface="Twentieth Century"/>
              <a:cs typeface="Twentieth Century"/>
              <a:sym typeface="Twentieth Century"/>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6a07f40bfe_2_5"/>
          <p:cNvPicPr preferRelativeResize="0"/>
          <p:nvPr/>
        </p:nvPicPr>
        <p:blipFill rotWithShape="1">
          <a:blip r:embed="rId3">
            <a:alphaModFix/>
          </a:blip>
          <a:srcRect b="0" l="0" r="0" t="0"/>
          <a:stretch/>
        </p:blipFill>
        <p:spPr>
          <a:xfrm>
            <a:off x="1118425" y="12700"/>
            <a:ext cx="9955150" cy="68579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g26a07f40bfe_2_12"/>
          <p:cNvPicPr preferRelativeResize="0"/>
          <p:nvPr/>
        </p:nvPicPr>
        <p:blipFill rotWithShape="1">
          <a:blip r:embed="rId3">
            <a:alphaModFix/>
          </a:blip>
          <a:srcRect b="0" l="0" r="0" t="0"/>
          <a:stretch/>
        </p:blipFill>
        <p:spPr>
          <a:xfrm>
            <a:off x="1104525" y="12700"/>
            <a:ext cx="9982960" cy="68580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g26a07f40bfe_2_17"/>
          <p:cNvPicPr preferRelativeResize="0"/>
          <p:nvPr/>
        </p:nvPicPr>
        <p:blipFill rotWithShape="1">
          <a:blip r:embed="rId3">
            <a:alphaModFix/>
          </a:blip>
          <a:srcRect b="0" l="0" r="0" t="0"/>
          <a:stretch/>
        </p:blipFill>
        <p:spPr>
          <a:xfrm>
            <a:off x="1095600" y="12700"/>
            <a:ext cx="10000808" cy="68579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PEMERIKSAAN FISIS</a:t>
            </a:r>
            <a:endParaRPr/>
          </a:p>
        </p:txBody>
      </p:sp>
      <p:sp>
        <p:nvSpPr>
          <p:cNvPr id="212" name="Google Shape;212;p10"/>
          <p:cNvSpPr/>
          <p:nvPr/>
        </p:nvSpPr>
        <p:spPr>
          <a:xfrm>
            <a:off x="609599" y="1886158"/>
            <a:ext cx="11078845" cy="539115"/>
          </a:xfrm>
          <a:prstGeom prst="rect">
            <a:avLst/>
          </a:prstGeom>
          <a:gradFill>
            <a:gsLst>
              <a:gs pos="0">
                <a:srgbClr val="19A0D2"/>
              </a:gs>
              <a:gs pos="100000">
                <a:srgbClr val="39C0FE"/>
              </a:gs>
            </a:gsLst>
            <a:path path="circle">
              <a:fillToRect b="50%" l="50%" r="50%" t="50%"/>
            </a:path>
            <a:tileRect/>
          </a:gradFill>
          <a:ln cap="flat" cmpd="sng" w="9525">
            <a:solidFill>
              <a:schemeClr val="accent1"/>
            </a:solidFill>
            <a:prstDash val="solid"/>
            <a:round/>
            <a:headEnd len="sm" w="sm" type="none"/>
            <a:tailEnd len="sm" w="sm" type="none"/>
          </a:ln>
          <a:effectLst>
            <a:outerShdw blurRad="50800" rotWithShape="0" algn="ctr" dir="5400000" dist="12700">
              <a:srgbClr val="000000">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Twentieth Century"/>
                <a:ea typeface="Twentieth Century"/>
                <a:cs typeface="Twentieth Century"/>
                <a:sym typeface="Twentieth Century"/>
              </a:rPr>
              <a:t>Keadaan Umum</a:t>
            </a:r>
            <a:endParaRPr b="0" i="0" sz="1400" u="none" cap="none" strike="noStrike">
              <a:solidFill>
                <a:srgbClr val="000000"/>
              </a:solidFill>
              <a:latin typeface="Arial"/>
              <a:ea typeface="Arial"/>
              <a:cs typeface="Arial"/>
              <a:sym typeface="Arial"/>
            </a:endParaRPr>
          </a:p>
        </p:txBody>
      </p:sp>
      <p:sp>
        <p:nvSpPr>
          <p:cNvPr id="213" name="Google Shape;213;p10"/>
          <p:cNvSpPr txBox="1"/>
          <p:nvPr/>
        </p:nvSpPr>
        <p:spPr>
          <a:xfrm>
            <a:off x="615396" y="2554644"/>
            <a:ext cx="11073048" cy="461665"/>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wentieth Century"/>
                <a:ea typeface="Twentieth Century"/>
                <a:cs typeface="Twentieth Century"/>
                <a:sym typeface="Twentieth Century"/>
              </a:rPr>
              <a:t>Kesadaran compos mentis, (GCS E4M6V5)</a:t>
            </a:r>
            <a:endParaRPr b="0" i="0" sz="1400" u="none" cap="none" strike="noStrike">
              <a:solidFill>
                <a:srgbClr val="000000"/>
              </a:solidFill>
              <a:latin typeface="Arial"/>
              <a:ea typeface="Arial"/>
              <a:cs typeface="Arial"/>
              <a:sym typeface="Arial"/>
            </a:endParaRPr>
          </a:p>
        </p:txBody>
      </p:sp>
      <p:sp>
        <p:nvSpPr>
          <p:cNvPr id="214" name="Google Shape;214;p10"/>
          <p:cNvSpPr/>
          <p:nvPr/>
        </p:nvSpPr>
        <p:spPr>
          <a:xfrm>
            <a:off x="609599" y="3310019"/>
            <a:ext cx="11078845" cy="539115"/>
          </a:xfrm>
          <a:prstGeom prst="rect">
            <a:avLst/>
          </a:prstGeom>
          <a:gradFill>
            <a:gsLst>
              <a:gs pos="0">
                <a:srgbClr val="19A0D2"/>
              </a:gs>
              <a:gs pos="100000">
                <a:srgbClr val="39C0FE"/>
              </a:gs>
            </a:gsLst>
            <a:path path="circle">
              <a:fillToRect b="50%" l="50%" r="50%" t="50%"/>
            </a:path>
            <a:tileRect/>
          </a:gradFill>
          <a:ln cap="flat" cmpd="sng" w="9525">
            <a:solidFill>
              <a:schemeClr val="accent1"/>
            </a:solidFill>
            <a:prstDash val="solid"/>
            <a:round/>
            <a:headEnd len="sm" w="sm" type="none"/>
            <a:tailEnd len="sm" w="sm" type="none"/>
          </a:ln>
          <a:effectLst>
            <a:outerShdw blurRad="50800" rotWithShape="0" algn="ctr" dir="5400000" dist="12700">
              <a:srgbClr val="000000">
                <a:alpha val="4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Twentieth Century"/>
                <a:ea typeface="Twentieth Century"/>
                <a:cs typeface="Twentieth Century"/>
                <a:sym typeface="Twentieth Century"/>
              </a:rPr>
              <a:t>Tanda Vital</a:t>
            </a:r>
            <a:endParaRPr b="0" i="0" sz="1400" u="none" cap="none" strike="noStrike">
              <a:solidFill>
                <a:srgbClr val="000000"/>
              </a:solidFill>
              <a:latin typeface="Arial"/>
              <a:ea typeface="Arial"/>
              <a:cs typeface="Arial"/>
              <a:sym typeface="Arial"/>
            </a:endParaRPr>
          </a:p>
        </p:txBody>
      </p:sp>
      <p:sp>
        <p:nvSpPr>
          <p:cNvPr id="215" name="Google Shape;215;p10"/>
          <p:cNvSpPr txBox="1"/>
          <p:nvPr/>
        </p:nvSpPr>
        <p:spPr>
          <a:xfrm>
            <a:off x="615396" y="4002740"/>
            <a:ext cx="11073000" cy="1939500"/>
          </a:xfrm>
          <a:prstGeom prst="rect">
            <a:avLst/>
          </a:prstGeom>
          <a:solidFill>
            <a:schemeClr val="lt1"/>
          </a:solidFill>
          <a:ln cap="flat" cmpd="sng" w="158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wentieth Century"/>
                <a:ea typeface="Twentieth Century"/>
                <a:cs typeface="Twentieth Century"/>
                <a:sym typeface="Twentieth Century"/>
              </a:rPr>
              <a:t>Tekanan darah: 114/80</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wentieth Century"/>
                <a:ea typeface="Twentieth Century"/>
                <a:cs typeface="Twentieth Century"/>
                <a:sym typeface="Twentieth Century"/>
              </a:rPr>
              <a:t>Laju nadi: HR </a:t>
            </a:r>
            <a:r>
              <a:rPr b="1" i="0" lang="en-US" sz="2400" u="none" cap="none" strike="noStrike">
                <a:solidFill>
                  <a:schemeClr val="dk1"/>
                </a:solidFill>
                <a:latin typeface="Twentieth Century"/>
                <a:ea typeface="Twentieth Century"/>
                <a:cs typeface="Twentieth Century"/>
                <a:sym typeface="Twentieth Century"/>
              </a:rPr>
              <a:t>190x/menit</a:t>
            </a:r>
            <a:r>
              <a:rPr b="0" i="0" lang="en-US" sz="2400" u="none" cap="none" strike="noStrike">
                <a:solidFill>
                  <a:schemeClr val="dk1"/>
                </a:solidFill>
                <a:latin typeface="Twentieth Century"/>
                <a:ea typeface="Twentieth Century"/>
                <a:cs typeface="Twentieth Century"/>
                <a:sym typeface="Twentieth Century"/>
              </a:rPr>
              <a:t>, cukup, irama regular </a:t>
            </a:r>
            <a:endParaRPr b="0" i="0" sz="2400" u="none" cap="none" strike="noStrike">
              <a:solidFill>
                <a:schemeClr val="dk1"/>
              </a:solidFill>
              <a:latin typeface="Twentieth Century"/>
              <a:ea typeface="Twentieth Century"/>
              <a:cs typeface="Twentieth Century"/>
              <a:sym typeface="Twentieth Century"/>
            </a:endParaRPr>
          </a:p>
          <a:p>
            <a:pPr indent="-285750" lvl="0" marL="2857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wentieth Century"/>
                <a:ea typeface="Twentieth Century"/>
                <a:cs typeface="Twentieth Century"/>
                <a:sym typeface="Twentieth Century"/>
              </a:rPr>
              <a:t>Laju napas: RR 40x/menit, dalam, regular, torakoabdominal </a:t>
            </a:r>
            <a:endParaRPr b="0" i="0" sz="2400" u="none" cap="none" strike="noStrike">
              <a:solidFill>
                <a:schemeClr val="dk1"/>
              </a:solidFill>
              <a:latin typeface="Twentieth Century"/>
              <a:ea typeface="Twentieth Century"/>
              <a:cs typeface="Twentieth Century"/>
              <a:sym typeface="Twentieth Century"/>
            </a:endParaRPr>
          </a:p>
          <a:p>
            <a:pPr indent="-285750" lvl="0" marL="285750" marR="0" rtl="0" algn="l">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Twentieth Century"/>
                <a:ea typeface="Twentieth Century"/>
                <a:cs typeface="Twentieth Century"/>
                <a:sym typeface="Twentieth Century"/>
              </a:rPr>
              <a:t>Suhu: 39.0 C</a:t>
            </a:r>
            <a:endParaRPr b="1"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wentieth Century"/>
                <a:ea typeface="Twentieth Century"/>
                <a:cs typeface="Twentieth Century"/>
                <a:sym typeface="Twentieth Century"/>
              </a:rPr>
              <a:t>SpO2: 95% (</a:t>
            </a:r>
            <a:r>
              <a:rPr b="0" i="1" lang="en-US" sz="2400" u="none" cap="none" strike="noStrike">
                <a:solidFill>
                  <a:schemeClr val="dk1"/>
                </a:solidFill>
                <a:latin typeface="Twentieth Century"/>
                <a:ea typeface="Twentieth Century"/>
                <a:cs typeface="Twentieth Century"/>
                <a:sym typeface="Twentieth Century"/>
              </a:rPr>
              <a:t>room air/NK/terapi oksigen lainnya</a:t>
            </a:r>
            <a:r>
              <a:rPr b="0" i="0" lang="en-US" sz="2400" u="none" cap="none" strike="noStrike">
                <a:solidFill>
                  <a:schemeClr val="dk1"/>
                </a:solidFill>
                <a:latin typeface="Twentieth Century"/>
                <a:ea typeface="Twentieth Century"/>
                <a:cs typeface="Twentieth Century"/>
                <a:sym typeface="Twentieth Century"/>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aphicFrame>
        <p:nvGraphicFramePr>
          <p:cNvPr id="220" name="Google Shape;220;p11"/>
          <p:cNvGraphicFramePr/>
          <p:nvPr/>
        </p:nvGraphicFramePr>
        <p:xfrm>
          <a:off x="391033" y="446487"/>
          <a:ext cx="3000000" cy="3000000"/>
        </p:xfrm>
        <a:graphic>
          <a:graphicData uri="http://schemas.openxmlformats.org/drawingml/2006/table">
            <a:tbl>
              <a:tblPr>
                <a:noFill/>
                <a:tableStyleId>{E4BE2650-F012-4872-BDB0-1B5FA276066F}</a:tableStyleId>
              </a:tblPr>
              <a:tblGrid>
                <a:gridCol w="1501800"/>
                <a:gridCol w="9923125"/>
              </a:tblGrid>
              <a:tr h="438075">
                <a:tc>
                  <a:txBody>
                    <a:bodyPr/>
                    <a:lstStyle/>
                    <a:p>
                      <a:pPr indent="0" lvl="0" marL="0" marR="0" rtl="0" algn="ctr">
                        <a:lnSpc>
                          <a:spcPct val="100000"/>
                        </a:lnSpc>
                        <a:spcBef>
                          <a:spcPts val="0"/>
                        </a:spcBef>
                        <a:spcAft>
                          <a:spcPts val="0"/>
                        </a:spcAft>
                        <a:buClr>
                          <a:schemeClr val="lt1"/>
                        </a:buClr>
                        <a:buSzPts val="2000"/>
                        <a:buFont typeface="Calibri"/>
                        <a:buNone/>
                      </a:pPr>
                      <a:r>
                        <a:rPr b="0" i="0" lang="en-US" sz="2000" u="none" cap="none" strike="noStrike">
                          <a:solidFill>
                            <a:schemeClr val="lt1"/>
                          </a:solidFill>
                          <a:latin typeface="Calibri"/>
                          <a:ea typeface="Calibri"/>
                          <a:cs typeface="Calibri"/>
                          <a:sym typeface="Calibri"/>
                        </a:rPr>
                        <a:t>Organ</a:t>
                      </a:r>
                      <a:endParaRPr sz="1400" u="none" cap="none" strike="noStrike"/>
                    </a:p>
                  </a:txBody>
                  <a:tcPr marT="34300" marB="34300"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solidFill>
                      <a:srgbClr val="4BACC6"/>
                    </a:solidFill>
                  </a:tcPr>
                </a:tc>
                <a:tc>
                  <a:txBody>
                    <a:bodyPr/>
                    <a:lstStyle/>
                    <a:p>
                      <a:pPr indent="0" lvl="0" marL="0" marR="0" rtl="0" algn="ctr">
                        <a:lnSpc>
                          <a:spcPct val="100000"/>
                        </a:lnSpc>
                        <a:spcBef>
                          <a:spcPts val="0"/>
                        </a:spcBef>
                        <a:spcAft>
                          <a:spcPts val="0"/>
                        </a:spcAft>
                        <a:buClr>
                          <a:schemeClr val="lt1"/>
                        </a:buClr>
                        <a:buSzPts val="2000"/>
                        <a:buFont typeface="Calibri"/>
                        <a:buNone/>
                      </a:pPr>
                      <a:r>
                        <a:rPr b="0" i="0" lang="en-US" sz="2000" u="none" cap="none" strike="noStrike">
                          <a:solidFill>
                            <a:schemeClr val="lt1"/>
                          </a:solidFill>
                          <a:latin typeface="Calibri"/>
                          <a:ea typeface="Calibri"/>
                          <a:cs typeface="Calibri"/>
                          <a:sym typeface="Calibri"/>
                        </a:rPr>
                        <a:t>Deskripsi</a:t>
                      </a:r>
                      <a:endParaRPr sz="1400" u="none" cap="none" strike="noStrike"/>
                    </a:p>
                  </a:txBody>
                  <a:tcPr marT="34300" marB="34300" marR="65325" marL="65325"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solidFill>
                      <a:srgbClr val="4BACC6"/>
                    </a:solidFill>
                  </a:tcPr>
                </a:tc>
              </a:tr>
              <a:tr h="40200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Kepala</a:t>
                      </a:r>
                      <a:endParaRPr sz="1800" u="none" cap="none" strike="noStrike"/>
                    </a:p>
                  </a:txBody>
                  <a:tcPr marT="34300" marB="34300"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b="1" lang="en-US" sz="1800" u="none" cap="none" strike="noStrike">
                          <a:solidFill>
                            <a:schemeClr val="dk1"/>
                          </a:solidFill>
                          <a:latin typeface="Calibri"/>
                          <a:ea typeface="Calibri"/>
                          <a:cs typeface="Calibri"/>
                          <a:sym typeface="Calibri"/>
                        </a:rPr>
                        <a:t>Ubun ubun cekung</a:t>
                      </a:r>
                      <a:r>
                        <a:rPr lang="en-US" sz="1800" u="none" cap="none" strike="noStrike">
                          <a:solidFill>
                            <a:schemeClr val="dk1"/>
                          </a:solidFill>
                          <a:latin typeface="Calibri"/>
                          <a:ea typeface="Calibri"/>
                          <a:cs typeface="Calibri"/>
                          <a:sym typeface="Calibri"/>
                        </a:rPr>
                        <a:t>, UUB belum tertutup, tidak ada deformitas </a:t>
                      </a:r>
                      <a:endParaRPr b="0" i="0" sz="1800" u="none" cap="none" strike="noStrike">
                        <a:solidFill>
                          <a:schemeClr val="dk1"/>
                        </a:solidFill>
                        <a:latin typeface="Calibri"/>
                        <a:ea typeface="Calibri"/>
                        <a:cs typeface="Calibri"/>
                        <a:sym typeface="Calibri"/>
                      </a:endParaRPr>
                    </a:p>
                  </a:txBody>
                  <a:tcPr marT="34300" marB="34300" marR="65325" marL="65325"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46635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Mata</a:t>
                      </a:r>
                      <a:endParaRPr sz="1800" u="none" cap="none" strike="noStrike"/>
                    </a:p>
                  </a:txBody>
                  <a:tcPr marT="34300" marB="34300"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b="1" lang="en-US" sz="1800" u="none" cap="none" strike="noStrike">
                          <a:solidFill>
                            <a:schemeClr val="dk1"/>
                          </a:solidFill>
                          <a:latin typeface="Calibri"/>
                          <a:ea typeface="Calibri"/>
                          <a:cs typeface="Calibri"/>
                          <a:sym typeface="Calibri"/>
                        </a:rPr>
                        <a:t>Sangat cekung (+)</a:t>
                      </a:r>
                      <a:r>
                        <a:rPr lang="en-US" sz="1800" u="none" cap="none" strike="noStrike">
                          <a:solidFill>
                            <a:schemeClr val="dk1"/>
                          </a:solidFill>
                          <a:latin typeface="Calibri"/>
                          <a:ea typeface="Calibri"/>
                          <a:cs typeface="Calibri"/>
                          <a:sym typeface="Calibri"/>
                        </a:rPr>
                        <a:t>, sekret (-), sclera anicteric, conjunctiva tidak anemis</a:t>
                      </a:r>
                      <a:endParaRPr b="0" sz="1800" u="none" cap="none" strike="noStrike">
                        <a:solidFill>
                          <a:schemeClr val="dk1"/>
                        </a:solidFill>
                        <a:latin typeface="Calibri"/>
                        <a:ea typeface="Calibri"/>
                        <a:cs typeface="Calibri"/>
                        <a:sym typeface="Calibri"/>
                      </a:endParaRPr>
                    </a:p>
                  </a:txBody>
                  <a:tcPr marT="34300" marB="34300" marR="65325" marL="65325"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45820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Mulut</a:t>
                      </a:r>
                      <a:endParaRPr sz="1800" u="none" cap="none" strike="noStrike"/>
                    </a:p>
                  </a:txBody>
                  <a:tcPr marT="34300" marB="34300"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b="1" lang="en-US" sz="1800" u="none" cap="none" strike="noStrike">
                          <a:solidFill>
                            <a:schemeClr val="dk1"/>
                          </a:solidFill>
                          <a:latin typeface="Calibri"/>
                          <a:ea typeface="Calibri"/>
                          <a:cs typeface="Calibri"/>
                          <a:sym typeface="Calibri"/>
                        </a:rPr>
                        <a:t>Mukosa bibir kering</a:t>
                      </a:r>
                      <a:r>
                        <a:rPr lang="en-US" sz="1800" u="none" cap="none" strike="noStrike">
                          <a:solidFill>
                            <a:schemeClr val="dk1"/>
                          </a:solidFill>
                          <a:latin typeface="Calibri"/>
                          <a:ea typeface="Calibri"/>
                          <a:cs typeface="Calibri"/>
                          <a:sym typeface="Calibri"/>
                        </a:rPr>
                        <a:t>, labiopalatoskisis (-), hipersalivasi (-), sianosis (-)</a:t>
                      </a:r>
                      <a:endParaRPr b="0" i="0" sz="1800" u="none" cap="none" strike="noStrike">
                        <a:solidFill>
                          <a:schemeClr val="dk1"/>
                        </a:solidFill>
                        <a:latin typeface="Calibri"/>
                        <a:ea typeface="Calibri"/>
                        <a:cs typeface="Calibri"/>
                        <a:sym typeface="Calibri"/>
                      </a:endParaRPr>
                    </a:p>
                  </a:txBody>
                  <a:tcPr marT="34300" marB="34300" marR="65325" marL="65325"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4882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dk1"/>
                          </a:solidFill>
                          <a:latin typeface="Calibri"/>
                          <a:ea typeface="Calibri"/>
                          <a:cs typeface="Calibri"/>
                          <a:sym typeface="Calibri"/>
                        </a:rPr>
                        <a:t>Hidung</a:t>
                      </a:r>
                      <a:endParaRPr b="0" i="0" sz="1800" u="none" cap="none" strike="noStrike">
                        <a:solidFill>
                          <a:schemeClr val="dk1"/>
                        </a:solidFill>
                        <a:latin typeface="Calibri"/>
                        <a:ea typeface="Calibri"/>
                        <a:cs typeface="Calibri"/>
                        <a:sym typeface="Calibri"/>
                      </a:endParaRPr>
                    </a:p>
                  </a:txBody>
                  <a:tcPr marT="34300" marB="34300"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dk1"/>
                          </a:solidFill>
                          <a:latin typeface="Calibri"/>
                          <a:ea typeface="Calibri"/>
                          <a:cs typeface="Calibri"/>
                          <a:sym typeface="Calibri"/>
                        </a:rPr>
                        <a:t>Cuping hidung (+)</a:t>
                      </a:r>
                      <a:endParaRPr b="1" sz="1800" u="none" cap="none" strike="noStrike">
                        <a:solidFill>
                          <a:schemeClr val="dk1"/>
                        </a:solidFill>
                        <a:latin typeface="Calibri"/>
                        <a:ea typeface="Calibri"/>
                        <a:cs typeface="Calibri"/>
                        <a:sym typeface="Calibri"/>
                      </a:endParaRPr>
                    </a:p>
                  </a:txBody>
                  <a:tcPr marT="34300" marB="34300" marR="65325" marL="65325"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63135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Leher</a:t>
                      </a:r>
                      <a:endParaRPr sz="1800" u="none" cap="none" strike="noStrike"/>
                    </a:p>
                  </a:txBody>
                  <a:tcPr marT="34300" marB="34300"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b="1" lang="en-US" sz="1800" u="none" cap="none" strike="noStrike">
                          <a:solidFill>
                            <a:schemeClr val="dk1"/>
                          </a:solidFill>
                          <a:latin typeface="Calibri"/>
                          <a:ea typeface="Calibri"/>
                          <a:cs typeface="Calibri"/>
                          <a:sym typeface="Calibri"/>
                        </a:rPr>
                        <a:t>Tracheal tuck</a:t>
                      </a:r>
                      <a:r>
                        <a:rPr lang="en-US" sz="1800" u="none" cap="none" strike="noStrike">
                          <a:solidFill>
                            <a:schemeClr val="dk1"/>
                          </a:solidFill>
                          <a:latin typeface="Calibri"/>
                          <a:ea typeface="Calibri"/>
                          <a:cs typeface="Calibri"/>
                          <a:sym typeface="Calibri"/>
                        </a:rPr>
                        <a:t>, tidak tampak pembesaran KGB, tortikolis (-), penggunaan otot nafas sternocleidomastoideus (-)</a:t>
                      </a:r>
                      <a:endParaRPr b="0" i="0" sz="1800" u="none" cap="none" strike="noStrike">
                        <a:solidFill>
                          <a:schemeClr val="dk1"/>
                        </a:solidFill>
                        <a:latin typeface="Calibri"/>
                        <a:ea typeface="Calibri"/>
                        <a:cs typeface="Calibri"/>
                        <a:sym typeface="Calibri"/>
                      </a:endParaRPr>
                    </a:p>
                  </a:txBody>
                  <a:tcPr marT="34300" marB="34300" marR="65325" marL="65325"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43425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Dada</a:t>
                      </a:r>
                      <a:endParaRPr sz="1800" u="none" cap="none" strike="noStrike"/>
                    </a:p>
                  </a:txBody>
                  <a:tcPr marT="34300" marB="34300"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b="1" lang="en-US" sz="1800">
                          <a:solidFill>
                            <a:schemeClr val="dk1"/>
                          </a:solidFill>
                          <a:latin typeface="Calibri"/>
                          <a:ea typeface="Calibri"/>
                          <a:cs typeface="Calibri"/>
                          <a:sym typeface="Calibri"/>
                        </a:rPr>
                        <a:t>Pectus</a:t>
                      </a:r>
                      <a:r>
                        <a:rPr b="1" lang="en-US" sz="1800" u="none" cap="none" strike="noStrike">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excavatum</a:t>
                      </a:r>
                      <a:r>
                        <a:rPr b="1" lang="en-US" sz="1800" u="none" cap="none" strike="noStrike">
                          <a:solidFill>
                            <a:schemeClr val="dk1"/>
                          </a:solidFill>
                          <a:latin typeface="Calibri"/>
                          <a:ea typeface="Calibri"/>
                          <a:cs typeface="Calibri"/>
                          <a:sym typeface="Calibri"/>
                        </a:rPr>
                        <a:t> (+), Retraksi dada (+), </a:t>
                      </a:r>
                      <a:r>
                        <a:rPr lang="en-US" sz="1800" u="none" cap="none" strike="noStrike">
                          <a:solidFill>
                            <a:schemeClr val="dk1"/>
                          </a:solidFill>
                          <a:latin typeface="Calibri"/>
                          <a:ea typeface="Calibri"/>
                          <a:cs typeface="Calibri"/>
                          <a:sym typeface="Calibri"/>
                        </a:rPr>
                        <a:t>hemitoraks simetris, toracoabdominal</a:t>
                      </a:r>
                      <a:endParaRPr i="0" sz="1800" u="none" cap="none" strike="noStrike">
                        <a:solidFill>
                          <a:schemeClr val="dk1"/>
                        </a:solidFill>
                        <a:latin typeface="Calibri"/>
                        <a:ea typeface="Calibri"/>
                        <a:cs typeface="Calibri"/>
                        <a:sym typeface="Calibri"/>
                      </a:endParaRPr>
                    </a:p>
                  </a:txBody>
                  <a:tcPr marT="0" marB="0" marR="49000" marL="49000"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46890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Jantung</a:t>
                      </a:r>
                      <a:endParaRPr sz="1800" u="none" cap="none" strike="noStrike"/>
                    </a:p>
                  </a:txBody>
                  <a:tcPr marT="34300" marB="34300"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lang="en-US" sz="1800" u="none" cap="none" strike="noStrike">
                          <a:solidFill>
                            <a:schemeClr val="dk1"/>
                          </a:solidFill>
                          <a:latin typeface="Calibri"/>
                          <a:ea typeface="Calibri"/>
                          <a:cs typeface="Calibri"/>
                          <a:sym typeface="Calibri"/>
                        </a:rPr>
                        <a:t>S1 &amp; S2 terdengar dengan jelas, iktus kordis teraba, murmur (-), gallop (-)</a:t>
                      </a:r>
                      <a:endParaRPr b="0" sz="1800" u="none" cap="none" strike="noStrike">
                        <a:solidFill>
                          <a:schemeClr val="dk1"/>
                        </a:solidFill>
                        <a:latin typeface="Calibri"/>
                        <a:ea typeface="Calibri"/>
                        <a:cs typeface="Calibri"/>
                        <a:sym typeface="Calibri"/>
                      </a:endParaRPr>
                    </a:p>
                  </a:txBody>
                  <a:tcPr marT="0" marB="0" marR="49000" marL="49000"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48560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Paru</a:t>
                      </a:r>
                      <a:endParaRPr sz="1800" u="none" cap="none" strike="noStrike"/>
                    </a:p>
                  </a:txBody>
                  <a:tcPr marT="34300" marB="34300"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lang="en-US" sz="1800" u="none" cap="none" strike="noStrike">
                          <a:solidFill>
                            <a:schemeClr val="dk1"/>
                          </a:solidFill>
                          <a:latin typeface="Calibri"/>
                          <a:ea typeface="Calibri"/>
                          <a:cs typeface="Calibri"/>
                          <a:sym typeface="Calibri"/>
                        </a:rPr>
                        <a:t>Vesikuler (+), ronkhi (-), wheezing (-)</a:t>
                      </a:r>
                      <a:endParaRPr b="0" i="0" sz="1800" u="none" cap="none" strike="noStrike">
                        <a:solidFill>
                          <a:schemeClr val="dk1"/>
                        </a:solidFill>
                        <a:latin typeface="Calibri"/>
                        <a:ea typeface="Calibri"/>
                        <a:cs typeface="Calibri"/>
                        <a:sym typeface="Calibri"/>
                      </a:endParaRPr>
                    </a:p>
                  </a:txBody>
                  <a:tcPr marT="0" marB="0" marR="49000" marL="49000"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42330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Abdomen</a:t>
                      </a:r>
                      <a:endParaRPr sz="1800" u="none" cap="none" strike="noStrike"/>
                    </a:p>
                  </a:txBody>
                  <a:tcPr marT="34275" marB="34275" marR="65325" marL="653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lang="en-US" sz="1800" u="none" cap="none" strike="noStrike">
                          <a:solidFill>
                            <a:schemeClr val="dk1"/>
                          </a:solidFill>
                          <a:latin typeface="Calibri"/>
                          <a:ea typeface="Calibri"/>
                          <a:cs typeface="Calibri"/>
                          <a:sym typeface="Calibri"/>
                        </a:rPr>
                        <a:t>Bising meningkat, simetris , </a:t>
                      </a:r>
                      <a:r>
                        <a:rPr b="1" lang="en-US" sz="1800" u="none" cap="none" strike="noStrike">
                          <a:solidFill>
                            <a:schemeClr val="dk1"/>
                          </a:solidFill>
                          <a:latin typeface="Calibri"/>
                          <a:ea typeface="Calibri"/>
                          <a:cs typeface="Calibri"/>
                          <a:sym typeface="Calibri"/>
                        </a:rPr>
                        <a:t>turgor kurang, dibawah 2 detik</a:t>
                      </a:r>
                      <a:r>
                        <a:rPr lang="en-US" sz="1800" u="none" cap="none" strike="noStrike">
                          <a:solidFill>
                            <a:schemeClr val="dk1"/>
                          </a:solidFill>
                          <a:latin typeface="Calibri"/>
                          <a:ea typeface="Calibri"/>
                          <a:cs typeface="Calibri"/>
                          <a:sym typeface="Calibri"/>
                        </a:rPr>
                        <a:t>, hepatomegaly 1cm di bawah arcus costae kanan dan proc. xiphoideus</a:t>
                      </a:r>
                      <a:endParaRPr b="0" i="0" sz="1800" u="none" cap="none" strike="noStrike">
                        <a:solidFill>
                          <a:schemeClr val="dk1"/>
                        </a:solidFill>
                        <a:latin typeface="Calibri"/>
                        <a:ea typeface="Calibri"/>
                        <a:cs typeface="Calibri"/>
                        <a:sym typeface="Calibri"/>
                      </a:endParaRPr>
                    </a:p>
                  </a:txBody>
                  <a:tcPr marT="34275" marB="34275" marR="65325" marL="65325"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60540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Ekstremitas</a:t>
                      </a:r>
                      <a:endParaRPr sz="1800" u="none" cap="none" strike="noStrike"/>
                    </a:p>
                  </a:txBody>
                  <a:tcPr marT="0" marB="0" marR="51425" marL="514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b="1" lang="en-US" sz="1800" u="none" cap="none" strike="noStrike">
                          <a:solidFill>
                            <a:schemeClr val="dk1"/>
                          </a:solidFill>
                          <a:latin typeface="Calibri"/>
                          <a:ea typeface="Calibri"/>
                          <a:cs typeface="Calibri"/>
                          <a:sym typeface="Calibri"/>
                        </a:rPr>
                        <a:t>CRT &gt;2 detik, akral dingin</a:t>
                      </a:r>
                      <a:r>
                        <a:rPr lang="en-US" sz="1800" u="none" cap="none" strike="noStrike">
                          <a:solidFill>
                            <a:schemeClr val="dk1"/>
                          </a:solidFill>
                          <a:latin typeface="Calibri"/>
                          <a:ea typeface="Calibri"/>
                          <a:cs typeface="Calibri"/>
                          <a:sym typeface="Calibri"/>
                        </a:rPr>
                        <a:t>, tonus baik, sianosis perifer (-)</a:t>
                      </a:r>
                      <a:endParaRPr sz="1800" u="none" cap="none" strike="noStrike">
                        <a:solidFill>
                          <a:schemeClr val="dk1"/>
                        </a:solidFill>
                        <a:latin typeface="Calibri"/>
                        <a:ea typeface="Calibri"/>
                        <a:cs typeface="Calibri"/>
                        <a:sym typeface="Calibri"/>
                      </a:endParaRPr>
                    </a:p>
                  </a:txBody>
                  <a:tcPr marT="0" marB="0" marR="51425" marL="51425"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r h="469550">
                <a:tc>
                  <a:txBody>
                    <a:bodyPr/>
                    <a:lstStyle/>
                    <a:p>
                      <a:pPr indent="0" lvl="0" marL="0" marR="0" rtl="0" algn="l">
                        <a:lnSpc>
                          <a:spcPct val="100000"/>
                        </a:lnSpc>
                        <a:spcBef>
                          <a:spcPts val="0"/>
                        </a:spcBef>
                        <a:spcAft>
                          <a:spcPts val="0"/>
                        </a:spcAft>
                        <a:buClr>
                          <a:schemeClr val="dk1"/>
                        </a:buClr>
                        <a:buSzPts val="2000"/>
                        <a:buFont typeface="Calibri"/>
                        <a:buNone/>
                      </a:pPr>
                      <a:r>
                        <a:rPr b="0" i="0" lang="en-US" sz="1800" u="none" cap="none" strike="noStrike">
                          <a:solidFill>
                            <a:schemeClr val="dk1"/>
                          </a:solidFill>
                          <a:latin typeface="Calibri"/>
                          <a:ea typeface="Calibri"/>
                          <a:cs typeface="Calibri"/>
                          <a:sym typeface="Calibri"/>
                        </a:rPr>
                        <a:t>Kulit</a:t>
                      </a:r>
                      <a:endParaRPr sz="1800" u="none" cap="none" strike="noStrike"/>
                    </a:p>
                  </a:txBody>
                  <a:tcPr marT="0" marB="0" marR="51425" marL="51425" anchor="ctr">
                    <a:lnL cap="flat" cmpd="sng" w="9525">
                      <a:solidFill>
                        <a:srgbClr val="46AAC5"/>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wentieth Century"/>
                        <a:buNone/>
                      </a:pPr>
                      <a:r>
                        <a:rPr b="1" lang="en-US" sz="1800" u="none" cap="none" strike="noStrike">
                          <a:solidFill>
                            <a:schemeClr val="dk1"/>
                          </a:solidFill>
                          <a:latin typeface="Calibri"/>
                          <a:ea typeface="Calibri"/>
                          <a:cs typeface="Calibri"/>
                          <a:sym typeface="Calibri"/>
                        </a:rPr>
                        <a:t>Pallor (+)</a:t>
                      </a:r>
                      <a:r>
                        <a:rPr lang="en-US" sz="1800" u="none" cap="none" strike="noStrike">
                          <a:solidFill>
                            <a:schemeClr val="dk1"/>
                          </a:solidFill>
                          <a:latin typeface="Calibri"/>
                          <a:ea typeface="Calibri"/>
                          <a:cs typeface="Calibri"/>
                          <a:sym typeface="Calibri"/>
                        </a:rPr>
                        <a:t>, sianosis (-), jaundice (-), eritema (-)</a:t>
                      </a:r>
                      <a:endParaRPr b="0" sz="1800" u="none" cap="none" strike="noStrike">
                        <a:solidFill>
                          <a:schemeClr val="dk1"/>
                        </a:solidFill>
                        <a:latin typeface="Calibri"/>
                        <a:ea typeface="Calibri"/>
                        <a:cs typeface="Calibri"/>
                        <a:sym typeface="Calibri"/>
                      </a:endParaRPr>
                    </a:p>
                  </a:txBody>
                  <a:tcPr marT="0" marB="0" marR="51425" marL="51425" anchor="ctr">
                    <a:lnL cap="flat" cmpd="sng" w="9525">
                      <a:solidFill>
                        <a:srgbClr val="000000">
                          <a:alpha val="0"/>
                        </a:srgbClr>
                      </a:solidFill>
                      <a:prstDash val="solid"/>
                      <a:round/>
                      <a:headEnd len="sm" w="sm" type="none"/>
                      <a:tailEnd len="sm" w="sm" type="none"/>
                    </a:lnL>
                    <a:lnR cap="flat" cmpd="sng" w="9525">
                      <a:solidFill>
                        <a:srgbClr val="46AAC5"/>
                      </a:solidFill>
                      <a:prstDash val="solid"/>
                      <a:round/>
                      <a:headEnd len="sm" w="sm" type="none"/>
                      <a:tailEnd len="sm" w="sm" type="none"/>
                    </a:lnR>
                    <a:lnT cap="flat" cmpd="sng" w="9525">
                      <a:solidFill>
                        <a:srgbClr val="46AAC5"/>
                      </a:solidFill>
                      <a:prstDash val="solid"/>
                      <a:round/>
                      <a:headEnd len="sm" w="sm" type="none"/>
                      <a:tailEnd len="sm" w="sm" type="none"/>
                    </a:lnT>
                    <a:lnB cap="flat" cmpd="sng" w="9525">
                      <a:solidFill>
                        <a:srgbClr val="46AAC5"/>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DIAGNOSIS AWAL</a:t>
            </a:r>
            <a:endParaRPr/>
          </a:p>
        </p:txBody>
      </p:sp>
      <p:sp>
        <p:nvSpPr>
          <p:cNvPr id="226" name="Google Shape;226;p12"/>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514350" lvl="0" marL="514350" rtl="0" algn="l">
              <a:lnSpc>
                <a:spcPct val="90000"/>
              </a:lnSpc>
              <a:spcBef>
                <a:spcPts val="0"/>
              </a:spcBef>
              <a:spcAft>
                <a:spcPts val="0"/>
              </a:spcAft>
              <a:buSzPts val="2200"/>
              <a:buFont typeface="Twentieth Century"/>
              <a:buAutoNum type="arabicPeriod"/>
            </a:pPr>
            <a:r>
              <a:rPr lang="en-US"/>
              <a:t>Syok hipovolemia e.c. diare akut </a:t>
            </a:r>
            <a:endParaRPr/>
          </a:p>
          <a:p>
            <a:pPr indent="-488950" lvl="0" marL="514350" rtl="0" algn="l">
              <a:lnSpc>
                <a:spcPct val="90000"/>
              </a:lnSpc>
              <a:spcBef>
                <a:spcPts val="0"/>
              </a:spcBef>
              <a:spcAft>
                <a:spcPts val="0"/>
              </a:spcAft>
              <a:buSzPts val="1800"/>
              <a:buAutoNum type="arabicPeriod"/>
            </a:pPr>
            <a:r>
              <a:rPr lang="en-US"/>
              <a:t>Pneumonia </a:t>
            </a:r>
            <a:endParaRPr/>
          </a:p>
          <a:p>
            <a:pPr indent="-488950" lvl="0" marL="514350" rtl="0" algn="l">
              <a:lnSpc>
                <a:spcPct val="90000"/>
              </a:lnSpc>
              <a:spcBef>
                <a:spcPts val="0"/>
              </a:spcBef>
              <a:spcAft>
                <a:spcPts val="0"/>
              </a:spcAft>
              <a:buSzPts val="1800"/>
              <a:buAutoNum type="arabicPeriod"/>
            </a:pPr>
            <a:r>
              <a:rPr lang="en-US"/>
              <a:t>Keterlembatan perkembangan motorik kasar</a:t>
            </a:r>
            <a:endParaRPr/>
          </a:p>
          <a:p>
            <a:pPr indent="-342900" lvl="0" marL="457200" rtl="0" algn="l">
              <a:lnSpc>
                <a:spcPct val="90000"/>
              </a:lnSpc>
              <a:spcBef>
                <a:spcPts val="0"/>
              </a:spcBef>
              <a:spcAft>
                <a:spcPts val="0"/>
              </a:spcAft>
              <a:buSzPts val="1800"/>
              <a:buChar char="-"/>
            </a:pPr>
            <a:r>
              <a:rPr lang="en-US" sz="1800"/>
              <a:t>Dipikirkan atas dasar: </a:t>
            </a:r>
            <a:endParaRPr sz="1800"/>
          </a:p>
          <a:p>
            <a:pPr indent="-342900" lvl="1" marL="914400" rtl="0" algn="l">
              <a:lnSpc>
                <a:spcPct val="90000"/>
              </a:lnSpc>
              <a:spcBef>
                <a:spcPts val="0"/>
              </a:spcBef>
              <a:spcAft>
                <a:spcPts val="0"/>
              </a:spcAft>
              <a:buSzPts val="1800"/>
              <a:buChar char="-"/>
            </a:pPr>
            <a:r>
              <a:rPr lang="en-US"/>
              <a:t>Anamnesis</a:t>
            </a:r>
            <a:endParaRPr/>
          </a:p>
          <a:p>
            <a:pPr indent="-342900" lvl="2" marL="1371600" rtl="0" algn="l">
              <a:lnSpc>
                <a:spcPct val="90000"/>
              </a:lnSpc>
              <a:spcBef>
                <a:spcPts val="0"/>
              </a:spcBef>
              <a:spcAft>
                <a:spcPts val="0"/>
              </a:spcAft>
              <a:buSzPts val="1800"/>
              <a:buChar char="-"/>
            </a:pPr>
            <a:r>
              <a:rPr lang="en-US"/>
              <a:t>Orang tua menyebutkan anak belum bisa duduk mandiri, belum bisa tengkurap bolak-balik, dan saat tengkurap, head lag terkadang masih terlihat</a:t>
            </a:r>
            <a:endParaRPr/>
          </a:p>
          <a:p>
            <a:pPr indent="-488950" lvl="0" marL="514350" rtl="0" algn="l">
              <a:lnSpc>
                <a:spcPct val="90000"/>
              </a:lnSpc>
              <a:spcBef>
                <a:spcPts val="0"/>
              </a:spcBef>
              <a:spcAft>
                <a:spcPts val="0"/>
              </a:spcAft>
              <a:buSzPts val="1800"/>
              <a:buAutoNum type="arabicPeriod"/>
            </a:pPr>
            <a:r>
              <a:rPr lang="en-US"/>
              <a:t>PJB → ASD, PDA, Co Aorta, severe pulmonary hypertension , severe Pulmonary hipertension</a:t>
            </a:r>
            <a:endParaRPr/>
          </a:p>
          <a:p>
            <a:pPr indent="-488950" lvl="0" marL="514350" rtl="0" algn="l">
              <a:lnSpc>
                <a:spcPct val="90000"/>
              </a:lnSpc>
              <a:spcBef>
                <a:spcPts val="0"/>
              </a:spcBef>
              <a:spcAft>
                <a:spcPts val="0"/>
              </a:spcAft>
              <a:buSzPts val="1800"/>
              <a:buAutoNum type="arabicPeriod"/>
            </a:pPr>
            <a:r>
              <a:rPr lang="en-US"/>
              <a:t>Gizi buruk, perawakan sangat pendek</a:t>
            </a:r>
            <a:endParaRPr/>
          </a:p>
          <a:p>
            <a:pPr indent="-488950" lvl="0" marL="514350" rtl="0" algn="l">
              <a:lnSpc>
                <a:spcPct val="90000"/>
              </a:lnSpc>
              <a:spcBef>
                <a:spcPts val="0"/>
              </a:spcBef>
              <a:spcAft>
                <a:spcPts val="0"/>
              </a:spcAft>
              <a:buSzPts val="1800"/>
              <a:buAutoNum type="arabicPeriod"/>
            </a:pPr>
            <a:r>
              <a:rPr lang="en-US"/>
              <a:t>Vaksinasi belum terlengkapi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26afcc48bec_0_0"/>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TATA LAKSANA AWAL</a:t>
            </a:r>
            <a:endParaRPr/>
          </a:p>
        </p:txBody>
      </p:sp>
      <p:sp>
        <p:nvSpPr>
          <p:cNvPr id="232" name="Google Shape;232;g26afcc48bec_0_0"/>
          <p:cNvSpPr txBox="1"/>
          <p:nvPr>
            <p:ph idx="1" type="body"/>
          </p:nvPr>
        </p:nvSpPr>
        <p:spPr>
          <a:xfrm>
            <a:off x="1024126" y="2286000"/>
            <a:ext cx="4884000" cy="4023300"/>
          </a:xfrm>
          <a:prstGeom prst="rect">
            <a:avLst/>
          </a:prstGeom>
          <a:noFill/>
          <a:ln>
            <a:noFill/>
          </a:ln>
        </p:spPr>
        <p:txBody>
          <a:bodyPr anchorCtr="0" anchor="t" bIns="45700" lIns="45700" spcFirstLastPara="1" rIns="45700" wrap="square" tIns="45700">
            <a:normAutofit lnSpcReduction="10000"/>
          </a:bodyPr>
          <a:lstStyle/>
          <a:p>
            <a:pPr indent="0" lvl="0" marL="0" rtl="0" algn="l">
              <a:lnSpc>
                <a:spcPct val="110000"/>
              </a:lnSpc>
              <a:spcBef>
                <a:spcPts val="0"/>
              </a:spcBef>
              <a:spcAft>
                <a:spcPts val="0"/>
              </a:spcAft>
              <a:buSzPts val="2200"/>
              <a:buNone/>
            </a:pPr>
            <a:r>
              <a:rPr lang="en-US">
                <a:latin typeface="Calibri"/>
                <a:ea typeface="Calibri"/>
                <a:cs typeface="Calibri"/>
                <a:sym typeface="Calibri"/>
              </a:rPr>
              <a:t>Tata laksana syok hipovolemia </a:t>
            </a:r>
            <a:endParaRPr>
              <a:latin typeface="Calibri"/>
              <a:ea typeface="Calibri"/>
              <a:cs typeface="Calibri"/>
              <a:sym typeface="Calibri"/>
            </a:endParaRPr>
          </a:p>
          <a:p>
            <a:pPr indent="0" lvl="0" marL="0" rtl="0" algn="l">
              <a:lnSpc>
                <a:spcPct val="110000"/>
              </a:lnSpc>
              <a:spcBef>
                <a:spcPts val="0"/>
              </a:spcBef>
              <a:spcAft>
                <a:spcPts val="0"/>
              </a:spcAft>
              <a:buSzPts val="2200"/>
              <a:buNone/>
            </a:pPr>
            <a:r>
              <a:t/>
            </a:r>
            <a:endParaRPr>
              <a:latin typeface="Calibri"/>
              <a:ea typeface="Calibri"/>
              <a:cs typeface="Calibri"/>
              <a:sym typeface="Calibri"/>
            </a:endParaRPr>
          </a:p>
          <a:p>
            <a:pPr indent="-342900" lvl="0" marL="457200" rtl="0" algn="l">
              <a:lnSpc>
                <a:spcPct val="110000"/>
              </a:lnSpc>
              <a:spcBef>
                <a:spcPts val="0"/>
              </a:spcBef>
              <a:spcAft>
                <a:spcPts val="0"/>
              </a:spcAft>
              <a:buSzPts val="1800"/>
              <a:buFont typeface="Calibri"/>
              <a:buChar char="-"/>
            </a:pPr>
            <a:r>
              <a:rPr lang="en-US">
                <a:latin typeface="Calibri"/>
                <a:ea typeface="Calibri"/>
                <a:cs typeface="Calibri"/>
                <a:sym typeface="Calibri"/>
              </a:rPr>
              <a:t>A &amp; B</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Char char="-"/>
            </a:pPr>
            <a:r>
              <a:rPr lang="en-US">
                <a:latin typeface="Calibri"/>
                <a:ea typeface="Calibri"/>
                <a:cs typeface="Calibri"/>
                <a:sym typeface="Calibri"/>
              </a:rPr>
              <a:t>Pastikan patensi jalur pernafasan anak</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Char char="-"/>
            </a:pPr>
            <a:r>
              <a:rPr i="1" lang="en-US">
                <a:latin typeface="Calibri"/>
                <a:ea typeface="Calibri"/>
                <a:cs typeface="Calibri"/>
                <a:sym typeface="Calibri"/>
              </a:rPr>
              <a:t>Assisted ventilation </a:t>
            </a:r>
            <a:r>
              <a:rPr lang="en-US">
                <a:latin typeface="Calibri"/>
                <a:ea typeface="Calibri"/>
                <a:cs typeface="Calibri"/>
                <a:sym typeface="Calibri"/>
              </a:rPr>
              <a:t>dengan FiO2 100%</a:t>
            </a:r>
            <a:endParaRPr>
              <a:latin typeface="Calibri"/>
              <a:ea typeface="Calibri"/>
              <a:cs typeface="Calibri"/>
              <a:sym typeface="Calibri"/>
            </a:endParaRPr>
          </a:p>
          <a:p>
            <a:pPr indent="-342900" lvl="2" marL="1371600" rtl="0" algn="l">
              <a:lnSpc>
                <a:spcPct val="110000"/>
              </a:lnSpc>
              <a:spcBef>
                <a:spcPts val="0"/>
              </a:spcBef>
              <a:spcAft>
                <a:spcPts val="0"/>
              </a:spcAft>
              <a:buSzPts val="1800"/>
              <a:buFont typeface="Calibri"/>
              <a:buChar char="-"/>
            </a:pPr>
            <a:r>
              <a:rPr lang="en-US">
                <a:latin typeface="Calibri"/>
                <a:ea typeface="Calibri"/>
                <a:cs typeface="Calibri"/>
                <a:sym typeface="Calibri"/>
              </a:rPr>
              <a:t>Terdapat pernafasan megap-megap</a:t>
            </a:r>
            <a:endParaRPr>
              <a:latin typeface="Calibri"/>
              <a:ea typeface="Calibri"/>
              <a:cs typeface="Calibri"/>
              <a:sym typeface="Calibri"/>
            </a:endParaRPr>
          </a:p>
          <a:p>
            <a:pPr indent="-342900" lvl="0" marL="457200" rtl="0" algn="l">
              <a:lnSpc>
                <a:spcPct val="110000"/>
              </a:lnSpc>
              <a:spcBef>
                <a:spcPts val="0"/>
              </a:spcBef>
              <a:spcAft>
                <a:spcPts val="0"/>
              </a:spcAft>
              <a:buSzPts val="1800"/>
              <a:buFont typeface="Calibri"/>
              <a:buChar char="-"/>
            </a:pPr>
            <a:r>
              <a:rPr lang="en-US">
                <a:latin typeface="Calibri"/>
                <a:ea typeface="Calibri"/>
                <a:cs typeface="Calibri"/>
                <a:sym typeface="Calibri"/>
              </a:rPr>
              <a:t>C:</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Char char="-"/>
            </a:pPr>
            <a:r>
              <a:rPr lang="en-US">
                <a:latin typeface="Calibri"/>
                <a:ea typeface="Calibri"/>
                <a:cs typeface="Calibri"/>
                <a:sym typeface="Calibri"/>
              </a:rPr>
              <a:t>Pemasangan akses vaskular perifer</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Char char="-"/>
            </a:pPr>
            <a:r>
              <a:rPr lang="en-US">
                <a:latin typeface="Calibri"/>
                <a:ea typeface="Calibri"/>
                <a:cs typeface="Calibri"/>
                <a:sym typeface="Calibri"/>
              </a:rPr>
              <a:t>Pemasangan kateter urin </a:t>
            </a:r>
            <a:endParaRPr>
              <a:latin typeface="Calibri"/>
              <a:ea typeface="Calibri"/>
              <a:cs typeface="Calibri"/>
              <a:sym typeface="Calibri"/>
            </a:endParaRPr>
          </a:p>
          <a:p>
            <a:pPr indent="-342900" lvl="2" marL="1371600" rtl="0" algn="l">
              <a:lnSpc>
                <a:spcPct val="110000"/>
              </a:lnSpc>
              <a:spcBef>
                <a:spcPts val="0"/>
              </a:spcBef>
              <a:spcAft>
                <a:spcPts val="0"/>
              </a:spcAft>
              <a:buSzPts val="1800"/>
              <a:buFont typeface="Calibri"/>
              <a:buChar char="-"/>
            </a:pPr>
            <a:r>
              <a:rPr lang="en-US">
                <a:latin typeface="Calibri"/>
                <a:ea typeface="Calibri"/>
                <a:cs typeface="Calibri"/>
                <a:sym typeface="Calibri"/>
              </a:rPr>
              <a:t>Target diuresis: 1cc/kgBB/jam </a:t>
            </a:r>
            <a:endParaRPr>
              <a:latin typeface="Calibri"/>
              <a:ea typeface="Calibri"/>
              <a:cs typeface="Calibri"/>
              <a:sym typeface="Calibri"/>
            </a:endParaRPr>
          </a:p>
          <a:p>
            <a:pPr indent="0" lvl="0" marL="457200" rtl="0" algn="l">
              <a:lnSpc>
                <a:spcPct val="110000"/>
              </a:lnSpc>
              <a:spcBef>
                <a:spcPts val="0"/>
              </a:spcBef>
              <a:spcAft>
                <a:spcPts val="0"/>
              </a:spcAft>
              <a:buSzPts val="1800"/>
              <a:buNone/>
            </a:pPr>
            <a:r>
              <a:t/>
            </a:r>
            <a:endParaRPr>
              <a:latin typeface="Calibri"/>
              <a:ea typeface="Calibri"/>
              <a:cs typeface="Calibri"/>
              <a:sym typeface="Calibri"/>
            </a:endParaRPr>
          </a:p>
          <a:p>
            <a:pPr indent="0" lvl="0" marL="0" rtl="0" algn="l">
              <a:lnSpc>
                <a:spcPct val="110000"/>
              </a:lnSpc>
              <a:spcBef>
                <a:spcPts val="0"/>
              </a:spcBef>
              <a:spcAft>
                <a:spcPts val="0"/>
              </a:spcAft>
              <a:buSzPts val="1800"/>
              <a:buNone/>
            </a:pPr>
            <a:r>
              <a:t/>
            </a:r>
            <a:endParaRPr>
              <a:latin typeface="Calibri"/>
              <a:ea typeface="Calibri"/>
              <a:cs typeface="Calibri"/>
              <a:sym typeface="Calibri"/>
            </a:endParaRPr>
          </a:p>
        </p:txBody>
      </p:sp>
      <p:sp>
        <p:nvSpPr>
          <p:cNvPr id="233" name="Google Shape;233;g26afcc48bec_0_0"/>
          <p:cNvSpPr txBox="1"/>
          <p:nvPr>
            <p:ph idx="1" type="body"/>
          </p:nvPr>
        </p:nvSpPr>
        <p:spPr>
          <a:xfrm>
            <a:off x="6238675" y="2373325"/>
            <a:ext cx="5707500" cy="4023300"/>
          </a:xfrm>
          <a:prstGeom prst="rect">
            <a:avLst/>
          </a:prstGeom>
          <a:noFill/>
          <a:ln>
            <a:noFill/>
          </a:ln>
        </p:spPr>
        <p:txBody>
          <a:bodyPr anchorCtr="0" anchor="t" bIns="45700" lIns="45700" spcFirstLastPara="1" rIns="45700" wrap="square" tIns="45700">
            <a:normAutofit/>
          </a:bodyPr>
          <a:lstStyle/>
          <a:p>
            <a:pPr indent="-342900" lvl="0" marL="457200" rtl="0" algn="l">
              <a:lnSpc>
                <a:spcPct val="110000"/>
              </a:lnSpc>
              <a:spcBef>
                <a:spcPts val="0"/>
              </a:spcBef>
              <a:spcAft>
                <a:spcPts val="0"/>
              </a:spcAft>
              <a:buSzPts val="1800"/>
              <a:buFont typeface="Calibri"/>
              <a:buChar char="-"/>
            </a:pPr>
            <a:r>
              <a:rPr lang="en-US">
                <a:latin typeface="Calibri"/>
                <a:ea typeface="Calibri"/>
                <a:cs typeface="Calibri"/>
                <a:sym typeface="Calibri"/>
              </a:rPr>
              <a:t>Loading cairan kristaloid (RL) </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Char char="-"/>
            </a:pPr>
            <a:r>
              <a:rPr lang="en-US">
                <a:latin typeface="Calibri"/>
                <a:ea typeface="Calibri"/>
                <a:cs typeface="Calibri"/>
                <a:sym typeface="Calibri"/>
              </a:rPr>
              <a:t>Loading pertama (82cc dalam 15 menit)	</a:t>
            </a:r>
            <a:endParaRPr>
              <a:latin typeface="Calibri"/>
              <a:ea typeface="Calibri"/>
              <a:cs typeface="Calibri"/>
              <a:sym typeface="Calibri"/>
            </a:endParaRPr>
          </a:p>
          <a:p>
            <a:pPr indent="-342900" lvl="2" marL="1371600" rtl="0" algn="l">
              <a:lnSpc>
                <a:spcPct val="110000"/>
              </a:lnSpc>
              <a:spcBef>
                <a:spcPts val="0"/>
              </a:spcBef>
              <a:spcAft>
                <a:spcPts val="0"/>
              </a:spcAft>
              <a:buSzPts val="1800"/>
              <a:buFont typeface="Calibri"/>
              <a:buChar char="-"/>
            </a:pPr>
            <a:r>
              <a:rPr lang="en-US">
                <a:latin typeface="Calibri"/>
                <a:ea typeface="Calibri"/>
                <a:cs typeface="Calibri"/>
                <a:sym typeface="Calibri"/>
              </a:rPr>
              <a:t>HR: 160x/menit, TD tidak diukur, CRT&gt;2s, mata cekung (-), kesadaran membaik, retraksi berkurang, akral dingin.</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Char char="-"/>
            </a:pPr>
            <a:r>
              <a:rPr lang="en-US">
                <a:latin typeface="Calibri"/>
                <a:ea typeface="Calibri"/>
                <a:cs typeface="Calibri"/>
                <a:sym typeface="Calibri"/>
              </a:rPr>
              <a:t>Loading kedua (82 cc dalam 15 menit)</a:t>
            </a:r>
            <a:endParaRPr>
              <a:latin typeface="Calibri"/>
              <a:ea typeface="Calibri"/>
              <a:cs typeface="Calibri"/>
              <a:sym typeface="Calibri"/>
            </a:endParaRPr>
          </a:p>
          <a:p>
            <a:pPr indent="-342900" lvl="2" marL="1371600" rtl="0" algn="l">
              <a:lnSpc>
                <a:spcPct val="110000"/>
              </a:lnSpc>
              <a:spcBef>
                <a:spcPts val="0"/>
              </a:spcBef>
              <a:spcAft>
                <a:spcPts val="0"/>
              </a:spcAft>
              <a:buSzPts val="1800"/>
              <a:buFont typeface="Calibri"/>
              <a:buChar char="-"/>
            </a:pPr>
            <a:r>
              <a:rPr lang="en-US">
                <a:latin typeface="Calibri"/>
                <a:ea typeface="Calibri"/>
                <a:cs typeface="Calibri"/>
                <a:sym typeface="Calibri"/>
              </a:rPr>
              <a:t>HR: 128x/menit, cukup, laju regular, TD tidak diukur, CRT&lt;2s, mata cekung (-), Compos mentis,retraksi (-) akral hangat</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Char char="-"/>
            </a:pPr>
            <a:r>
              <a:rPr lang="en-US">
                <a:latin typeface="Calibri"/>
                <a:ea typeface="Calibri"/>
                <a:cs typeface="Calibri"/>
                <a:sym typeface="Calibri"/>
              </a:rPr>
              <a:t>Dilanjutkan dengan cairan rumatan </a:t>
            </a:r>
            <a:endParaRPr>
              <a:latin typeface="Calibri"/>
              <a:ea typeface="Calibri"/>
              <a:cs typeface="Calibri"/>
              <a:sym typeface="Calibri"/>
            </a:endParaRPr>
          </a:p>
          <a:p>
            <a:pPr indent="-342900" lvl="2" marL="1371600" rtl="0" algn="l">
              <a:lnSpc>
                <a:spcPct val="110000"/>
              </a:lnSpc>
              <a:spcBef>
                <a:spcPts val="0"/>
              </a:spcBef>
              <a:spcAft>
                <a:spcPts val="0"/>
              </a:spcAft>
              <a:buSzPts val="1800"/>
              <a:buFont typeface="Calibri"/>
              <a:buChar char="-"/>
            </a:pPr>
            <a:r>
              <a:rPr lang="en-US">
                <a:latin typeface="Calibri"/>
                <a:ea typeface="Calibri"/>
                <a:cs typeface="Calibri"/>
                <a:sym typeface="Calibri"/>
              </a:rPr>
              <a:t>IVFD KaEN3b 30 ml/kg selama 1 jam dilanjutkan 70 ml/kg selama 5 jam</a:t>
            </a:r>
            <a:endParaRPr>
              <a:latin typeface="Calibri"/>
              <a:ea typeface="Calibri"/>
              <a:cs typeface="Calibri"/>
              <a:sym typeface="Calibri"/>
            </a:endParaRPr>
          </a:p>
          <a:p>
            <a:pPr indent="0" lvl="0" marL="457200" rtl="0" algn="l">
              <a:lnSpc>
                <a:spcPct val="110000"/>
              </a:lnSpc>
              <a:spcBef>
                <a:spcPts val="0"/>
              </a:spcBef>
              <a:spcAft>
                <a:spcPts val="0"/>
              </a:spcAft>
              <a:buSzPts val="1800"/>
              <a:buNone/>
            </a:pPr>
            <a:r>
              <a:t/>
            </a:r>
            <a:endParaRPr>
              <a:latin typeface="Calibri"/>
              <a:ea typeface="Calibri"/>
              <a:cs typeface="Calibri"/>
              <a:sym typeface="Calibri"/>
            </a:endParaRPr>
          </a:p>
          <a:p>
            <a:pPr indent="0" lvl="0" marL="0" rtl="0" algn="l">
              <a:lnSpc>
                <a:spcPct val="110000"/>
              </a:lnSpc>
              <a:spcBef>
                <a:spcPts val="0"/>
              </a:spcBef>
              <a:spcAft>
                <a:spcPts val="0"/>
              </a:spcAft>
              <a:buSzPts val="1800"/>
              <a:buNone/>
            </a:pPr>
            <a:r>
              <a:t/>
            </a:r>
            <a:endParaRPr>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4"/>
          <p:cNvSpPr txBox="1"/>
          <p:nvPr>
            <p:ph type="title"/>
          </p:nvPr>
        </p:nvSpPr>
        <p:spPr>
          <a:xfrm>
            <a:off x="1024128" y="-206217"/>
            <a:ext cx="9720000" cy="14997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rgbClr val="0C0C0C"/>
              </a:buClr>
              <a:buSzPts val="4500"/>
              <a:buFont typeface="Twentieth Century"/>
              <a:buNone/>
            </a:pPr>
            <a:r>
              <a:rPr lang="en-US" sz="3359"/>
              <a:t>PEMERIKSAAN PENUNJANG -(ANALISA GAS DARAH - ARTERY) -25/2/24 - 21.00</a:t>
            </a:r>
            <a:endParaRPr sz="3359"/>
          </a:p>
        </p:txBody>
      </p:sp>
      <p:graphicFrame>
        <p:nvGraphicFramePr>
          <p:cNvPr id="246" name="Google Shape;246;p14"/>
          <p:cNvGraphicFramePr/>
          <p:nvPr/>
        </p:nvGraphicFramePr>
        <p:xfrm>
          <a:off x="1024113" y="1051800"/>
          <a:ext cx="3000000" cy="3000000"/>
        </p:xfrm>
        <a:graphic>
          <a:graphicData uri="http://schemas.openxmlformats.org/drawingml/2006/table">
            <a:tbl>
              <a:tblPr>
                <a:noFill/>
                <a:tableStyleId>{A91051F6-62D5-4A95-B19F-8D2742D3A515}</a:tableStyleId>
              </a:tblPr>
              <a:tblGrid>
                <a:gridCol w="2267800"/>
                <a:gridCol w="1869825"/>
                <a:gridCol w="1869825"/>
                <a:gridCol w="186982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Pemeriksaan</a:t>
                      </a:r>
                      <a:endParaRPr b="1"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solidFill>
                      <a:srgbClr val="EAD1D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Nilai Rujukan</a:t>
                      </a:r>
                      <a:endParaRPr b="1"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EAD1D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Unit</a:t>
                      </a:r>
                      <a:endParaRPr b="1"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EAD1DC"/>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Hasil</a:t>
                      </a:r>
                      <a:endParaRPr b="1"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solidFill>
                      <a:srgbClr val="EAD1DC"/>
                    </a:solidFill>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pH</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7.35 - 7.45</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D0EEF9"/>
                          </a:highlight>
                        </a:rPr>
                        <a:t>7.232</a:t>
                      </a:r>
                      <a:endParaRPr sz="1400" u="none" cap="none" strike="noStrike">
                        <a:highlight>
                          <a:srgbClr val="D0EEF9"/>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pCO2</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35.00 - 45.00</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mmHg</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D0EEF9"/>
                          </a:highlight>
                        </a:rPr>
                        <a:t>21.10</a:t>
                      </a:r>
                      <a:endParaRPr sz="1400" u="none" cap="none" strike="noStrike">
                        <a:highlight>
                          <a:srgbClr val="D0EEF9"/>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pO2</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83.00 - 108.00</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mmHg</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FFDDDD"/>
                          </a:highlight>
                        </a:rPr>
                        <a:t>193.80</a:t>
                      </a:r>
                      <a:endParaRPr sz="1400" u="none" cap="none" strike="noStrike">
                        <a:highlight>
                          <a:srgbClr val="FFDDDD"/>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Base excess</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-2.50 - +2.50</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mmol/L</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D0EEF9"/>
                          </a:highlight>
                        </a:rPr>
                        <a:t>-15.80</a:t>
                      </a:r>
                      <a:endParaRPr sz="1400" u="none" cap="none" strike="noStrike">
                        <a:highlight>
                          <a:srgbClr val="D0EEF9"/>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Standard base excess</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mmol/L</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D0EEF9"/>
                          </a:highlight>
                        </a:rPr>
                        <a:t>-18.8</a:t>
                      </a:r>
                      <a:endParaRPr sz="1400" u="none" cap="none" strike="noStrike">
                        <a:highlight>
                          <a:srgbClr val="D0EEF9"/>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HCO3</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21.00 - 25.00</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mEq/L</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D0EEF9"/>
                          </a:highlight>
                        </a:rPr>
                        <a:t>8.90</a:t>
                      </a:r>
                      <a:endParaRPr sz="1400" u="none" cap="none" strike="noStrike">
                        <a:highlight>
                          <a:srgbClr val="D0EEF9"/>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Standard HCO3</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22.0 - 24.0</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mmol/L</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D0EEF9"/>
                          </a:highlight>
                        </a:rPr>
                        <a:t>12.8</a:t>
                      </a:r>
                      <a:endParaRPr sz="1400" u="none" cap="none" strike="noStrike">
                        <a:highlight>
                          <a:srgbClr val="D0EEF9"/>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O2 saturation</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94.00 - 98.00</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FFDDDD"/>
                          </a:highlight>
                        </a:rPr>
                        <a:t>99.50</a:t>
                      </a:r>
                      <a:endParaRPr sz="1400" u="none" cap="none" strike="noStrike">
                        <a:highlight>
                          <a:srgbClr val="FFDDDD"/>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Natrium (Na) Darah</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139 - 146</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mEq/L</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140</a:t>
                      </a:r>
                      <a:endParaRPr sz="1400" u="none" cap="none" strike="noStrike"/>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Kalium (K) Darah</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4.1 - 5.3</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mEq/L</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5.3</a:t>
                      </a:r>
                      <a:endParaRPr sz="1400" u="none" cap="none" strike="noStrike"/>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Klorida (Cl) Darah</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98.0 - 107.0</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mEq/L</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F4CCCC"/>
                          </a:highlight>
                        </a:rPr>
                        <a:t>109.0</a:t>
                      </a:r>
                      <a:endParaRPr sz="1400" u="none" cap="none" strike="noStrike">
                        <a:highlight>
                          <a:srgbClr val="F4CCCC"/>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bl>
          </a:graphicData>
        </a:graphic>
      </p:graphicFrame>
      <p:sp>
        <p:nvSpPr>
          <p:cNvPr id="247" name="Google Shape;247;p14"/>
          <p:cNvSpPr txBox="1"/>
          <p:nvPr>
            <p:ph idx="1" type="body"/>
          </p:nvPr>
        </p:nvSpPr>
        <p:spPr>
          <a:xfrm>
            <a:off x="9161675" y="1856325"/>
            <a:ext cx="2615400" cy="4734600"/>
          </a:xfrm>
          <a:prstGeom prst="rect">
            <a:avLst/>
          </a:prstGeom>
          <a:noFill/>
          <a:ln>
            <a:noFill/>
          </a:ln>
        </p:spPr>
        <p:txBody>
          <a:bodyPr anchorCtr="0" anchor="t" bIns="45700" lIns="45700" spcFirstLastPara="1" rIns="45700" wrap="square" tIns="45700">
            <a:normAutofit fontScale="92500" lnSpcReduction="10000"/>
          </a:bodyPr>
          <a:lstStyle/>
          <a:p>
            <a:pPr indent="0" lvl="0" marL="0" rtl="0" algn="l">
              <a:lnSpc>
                <a:spcPct val="110000"/>
              </a:lnSpc>
              <a:spcBef>
                <a:spcPts val="0"/>
              </a:spcBef>
              <a:spcAft>
                <a:spcPts val="0"/>
              </a:spcAft>
              <a:buSzPct val="100000"/>
              <a:buNone/>
            </a:pPr>
            <a:r>
              <a:rPr lang="en-US">
                <a:latin typeface="Calibri"/>
                <a:ea typeface="Calibri"/>
                <a:cs typeface="Calibri"/>
                <a:sym typeface="Calibri"/>
              </a:rPr>
              <a:t>Kesan: asidosis metabolik tidak terkompensasi</a:t>
            </a:r>
            <a:endParaRPr>
              <a:latin typeface="Calibri"/>
              <a:ea typeface="Calibri"/>
              <a:cs typeface="Calibri"/>
              <a:sym typeface="Calibri"/>
            </a:endParaRPr>
          </a:p>
          <a:p>
            <a:pPr indent="0" lvl="0" marL="0" rtl="0" algn="l">
              <a:lnSpc>
                <a:spcPct val="110000"/>
              </a:lnSpc>
              <a:spcBef>
                <a:spcPts val="0"/>
              </a:spcBef>
              <a:spcAft>
                <a:spcPts val="0"/>
              </a:spcAft>
              <a:buSzPct val="100000"/>
              <a:buNone/>
            </a:pPr>
            <a:r>
              <a:t/>
            </a:r>
            <a:endParaRPr>
              <a:latin typeface="Calibri"/>
              <a:ea typeface="Calibri"/>
              <a:cs typeface="Calibri"/>
              <a:sym typeface="Calibri"/>
            </a:endParaRPr>
          </a:p>
          <a:p>
            <a:pPr indent="0" lvl="0" marL="0" rtl="0" algn="l">
              <a:lnSpc>
                <a:spcPct val="110000"/>
              </a:lnSpc>
              <a:spcBef>
                <a:spcPts val="0"/>
              </a:spcBef>
              <a:spcAft>
                <a:spcPts val="0"/>
              </a:spcAft>
              <a:buSzPct val="100000"/>
              <a:buNone/>
            </a:pPr>
            <a:r>
              <a:rPr i="1" lang="en-US">
                <a:latin typeface="Calibri"/>
                <a:ea typeface="Calibri"/>
                <a:cs typeface="Calibri"/>
                <a:sym typeface="Calibri"/>
              </a:rPr>
              <a:t>Stewart analysis</a:t>
            </a:r>
            <a:r>
              <a:rPr lang="en-US">
                <a:latin typeface="Calibri"/>
                <a:ea typeface="Calibri"/>
                <a:cs typeface="Calibri"/>
                <a:sym typeface="Calibri"/>
              </a:rPr>
              <a:t> </a:t>
            </a:r>
            <a:r>
              <a:rPr i="1" lang="en-US">
                <a:latin typeface="Calibri"/>
                <a:ea typeface="Calibri"/>
                <a:cs typeface="Calibri"/>
                <a:sym typeface="Calibri"/>
              </a:rPr>
              <a:t>for pCO2 compensation</a:t>
            </a:r>
            <a:endParaRPr i="1">
              <a:latin typeface="Calibri"/>
              <a:ea typeface="Calibri"/>
              <a:cs typeface="Calibri"/>
              <a:sym typeface="Calibri"/>
            </a:endParaRPr>
          </a:p>
          <a:p>
            <a:pPr indent="0" lvl="0" marL="0" rtl="0" algn="l">
              <a:lnSpc>
                <a:spcPct val="110000"/>
              </a:lnSpc>
              <a:spcBef>
                <a:spcPts val="0"/>
              </a:spcBef>
              <a:spcAft>
                <a:spcPts val="0"/>
              </a:spcAft>
              <a:buSzPct val="100000"/>
              <a:buNone/>
            </a:pPr>
            <a:r>
              <a:rPr lang="en-US">
                <a:latin typeface="Calibri"/>
                <a:ea typeface="Calibri"/>
                <a:cs typeface="Calibri"/>
                <a:sym typeface="Calibri"/>
              </a:rPr>
              <a:t>(HCO3 x 1.5) + 8 = 21.35  (fully compensated) </a:t>
            </a:r>
            <a:endParaRPr>
              <a:latin typeface="Calibri"/>
              <a:ea typeface="Calibri"/>
              <a:cs typeface="Calibri"/>
              <a:sym typeface="Calibri"/>
            </a:endParaRPr>
          </a:p>
          <a:p>
            <a:pPr indent="0" lvl="0" marL="0" rtl="0" algn="l">
              <a:lnSpc>
                <a:spcPct val="110000"/>
              </a:lnSpc>
              <a:spcBef>
                <a:spcPts val="0"/>
              </a:spcBef>
              <a:spcAft>
                <a:spcPts val="0"/>
              </a:spcAft>
              <a:buSzPct val="100000"/>
              <a:buNone/>
            </a:pPr>
            <a:r>
              <a:t/>
            </a:r>
            <a:endParaRPr>
              <a:latin typeface="Calibri"/>
              <a:ea typeface="Calibri"/>
              <a:cs typeface="Calibri"/>
              <a:sym typeface="Calibri"/>
            </a:endParaRPr>
          </a:p>
          <a:p>
            <a:pPr indent="0" lvl="0" marL="0" rtl="0" algn="l">
              <a:lnSpc>
                <a:spcPct val="110000"/>
              </a:lnSpc>
              <a:spcBef>
                <a:spcPts val="0"/>
              </a:spcBef>
              <a:spcAft>
                <a:spcPts val="0"/>
              </a:spcAft>
              <a:buClr>
                <a:schemeClr val="dk1"/>
              </a:buClr>
              <a:buSzPct val="50000"/>
              <a:buFont typeface="Arial"/>
              <a:buNone/>
            </a:pPr>
            <a:r>
              <a:rPr lang="en-US">
                <a:latin typeface="Calibri"/>
                <a:ea typeface="Calibri"/>
                <a:cs typeface="Calibri"/>
                <a:sym typeface="Calibri"/>
              </a:rPr>
              <a:t>Anion gap (Na+ + K+) – (Cl- + HCO3-) </a:t>
            </a:r>
            <a:endParaRPr>
              <a:latin typeface="Calibri"/>
              <a:ea typeface="Calibri"/>
              <a:cs typeface="Calibri"/>
              <a:sym typeface="Calibri"/>
            </a:endParaRPr>
          </a:p>
          <a:p>
            <a:pPr indent="0" lvl="0" marL="0" rtl="0" algn="l">
              <a:lnSpc>
                <a:spcPct val="110000"/>
              </a:lnSpc>
              <a:spcBef>
                <a:spcPts val="0"/>
              </a:spcBef>
              <a:spcAft>
                <a:spcPts val="0"/>
              </a:spcAft>
              <a:buClr>
                <a:schemeClr val="dk1"/>
              </a:buClr>
              <a:buSzPct val="50000"/>
              <a:buFont typeface="Arial"/>
              <a:buNone/>
            </a:pPr>
            <a:r>
              <a:t/>
            </a:r>
            <a:endParaRPr>
              <a:latin typeface="Calibri"/>
              <a:ea typeface="Calibri"/>
              <a:cs typeface="Calibri"/>
              <a:sym typeface="Calibri"/>
            </a:endParaRPr>
          </a:p>
          <a:p>
            <a:pPr indent="0" lvl="0" marL="0" rtl="0" algn="l">
              <a:lnSpc>
                <a:spcPct val="110000"/>
              </a:lnSpc>
              <a:spcBef>
                <a:spcPts val="0"/>
              </a:spcBef>
              <a:spcAft>
                <a:spcPts val="0"/>
              </a:spcAft>
              <a:buSzPct val="50000"/>
              <a:buNone/>
            </a:pPr>
            <a:r>
              <a:rPr lang="en-US">
                <a:latin typeface="Calibri"/>
                <a:ea typeface="Calibri"/>
                <a:cs typeface="Calibri"/>
                <a:sym typeface="Calibri"/>
              </a:rPr>
              <a:t>(140 + 5.3) - (8.9 +109) = 27.4 (high anion gap)</a:t>
            </a:r>
            <a:endParaRPr>
              <a:latin typeface="Calibri"/>
              <a:ea typeface="Calibri"/>
              <a:cs typeface="Calibri"/>
              <a:sym typeface="Calibri"/>
            </a:endParaRPr>
          </a:p>
        </p:txBody>
      </p:sp>
      <p:graphicFrame>
        <p:nvGraphicFramePr>
          <p:cNvPr id="248" name="Google Shape;248;p14"/>
          <p:cNvGraphicFramePr/>
          <p:nvPr/>
        </p:nvGraphicFramePr>
        <p:xfrm>
          <a:off x="1024113" y="5950775"/>
          <a:ext cx="3000000" cy="3000000"/>
        </p:xfrm>
        <a:graphic>
          <a:graphicData uri="http://schemas.openxmlformats.org/drawingml/2006/table">
            <a:tbl>
              <a:tblPr>
                <a:noFill/>
                <a:tableStyleId>{A91051F6-62D5-4A95-B19F-8D2742D3A515}</a:tableStyleId>
              </a:tblPr>
              <a:tblGrid>
                <a:gridCol w="2267800"/>
                <a:gridCol w="1869825"/>
                <a:gridCol w="1869825"/>
                <a:gridCol w="186982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Pemeriksaan</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Nilai Rujukan</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Unit</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Hasil</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Asam Laktat</a:t>
                      </a:r>
                      <a:endParaRPr sz="1400" u="none" cap="none" strike="noStrike"/>
                    </a:p>
                  </a:txBody>
                  <a:tcPr marT="26000" marB="26000" marR="26000" marL="26000" anchor="ctr">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12700">
                      <a:solidFill>
                        <a:srgbClr val="434343"/>
                      </a:solidFill>
                      <a:prstDash val="solid"/>
                      <a:round/>
                      <a:headEnd len="sm" w="sm" type="none"/>
                      <a:tailEnd len="sm" w="sm" type="none"/>
                    </a:lnT>
                    <a:lnB cap="flat" cmpd="sng" w="12700">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0.7 - 2.5</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mmol/L</a:t>
                      </a:r>
                      <a:endParaRPr sz="1400" u="none" cap="none" strike="noStrike"/>
                    </a:p>
                  </a:txBody>
                  <a:tcPr marT="91425" marB="91425" marR="91425" marL="91425">
                    <a:lnL cap="flat" cmpd="sng" w="9525">
                      <a:solidFill>
                        <a:srgbClr val="434343"/>
                      </a:solidFill>
                      <a:prstDash val="solid"/>
                      <a:round/>
                      <a:headEnd len="sm" w="sm" type="none"/>
                      <a:tailEnd len="sm" w="sm" type="none"/>
                    </a:lnL>
                    <a:lnR cap="flat" cmpd="sng" w="12700">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highlight>
                            <a:srgbClr val="D0EEF9"/>
                          </a:highlight>
                        </a:rPr>
                        <a:t>0.5</a:t>
                      </a:r>
                      <a:endParaRPr sz="1400" u="none" cap="none" strike="noStrike">
                        <a:highlight>
                          <a:srgbClr val="D0EEF9"/>
                        </a:highlight>
                      </a:endParaRPr>
                    </a:p>
                  </a:txBody>
                  <a:tcPr marT="91425" marB="91425" marR="91425" marL="91425">
                    <a:lnL cap="flat" cmpd="sng" w="12700">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26a07f40bfe_3_37"/>
          <p:cNvSpPr txBox="1"/>
          <p:nvPr>
            <p:ph type="title"/>
          </p:nvPr>
        </p:nvSpPr>
        <p:spPr>
          <a:xfrm>
            <a:off x="1003900" y="899550"/>
            <a:ext cx="4539000" cy="50589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1800"/>
              <a:buNone/>
            </a:pPr>
            <a:r>
              <a:rPr lang="en-US"/>
              <a:t>Penyebab asidosis metabolik </a:t>
            </a:r>
            <a:r>
              <a:rPr i="1" lang="en-US"/>
              <a:t>high anion gap </a:t>
            </a:r>
            <a:endParaRPr/>
          </a:p>
        </p:txBody>
      </p:sp>
      <p:pic>
        <p:nvPicPr>
          <p:cNvPr id="255" name="Google Shape;255;g26a07f40bfe_3_37"/>
          <p:cNvPicPr preferRelativeResize="0"/>
          <p:nvPr/>
        </p:nvPicPr>
        <p:blipFill rotWithShape="1">
          <a:blip r:embed="rId3">
            <a:alphaModFix/>
          </a:blip>
          <a:srcRect b="0" l="0" r="0" t="0"/>
          <a:stretch/>
        </p:blipFill>
        <p:spPr>
          <a:xfrm>
            <a:off x="5334000" y="12700"/>
            <a:ext cx="6858000" cy="6858000"/>
          </a:xfrm>
          <a:prstGeom prst="rect">
            <a:avLst/>
          </a:prstGeom>
          <a:noFill/>
          <a:ln>
            <a:noFill/>
          </a:ln>
        </p:spPr>
      </p:pic>
      <p:sp>
        <p:nvSpPr>
          <p:cNvPr id="256" name="Google Shape;256;g26a07f40bfe_3_37"/>
          <p:cNvSpPr/>
          <p:nvPr/>
        </p:nvSpPr>
        <p:spPr>
          <a:xfrm>
            <a:off x="7376100" y="4622000"/>
            <a:ext cx="818100" cy="2862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wentieth Century"/>
              <a:ea typeface="Twentieth Century"/>
              <a:cs typeface="Twentieth Century"/>
              <a:sym typeface="Twentieth Century"/>
            </a:endParaRPr>
          </a:p>
        </p:txBody>
      </p:sp>
      <p:sp>
        <p:nvSpPr>
          <p:cNvPr id="257" name="Google Shape;257;g26a07f40bfe_3_37"/>
          <p:cNvSpPr/>
          <p:nvPr/>
        </p:nvSpPr>
        <p:spPr>
          <a:xfrm>
            <a:off x="5417575" y="6249025"/>
            <a:ext cx="1450500" cy="487800"/>
          </a:xfrm>
          <a:prstGeom prst="roundRect">
            <a:avLst>
              <a:gd fmla="val 16667" name="adj"/>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wentieth Century"/>
              <a:ea typeface="Twentieth Century"/>
              <a:cs typeface="Twentieth Century"/>
              <a:sym typeface="Twentieth Centur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26a07f40bfe_2_59"/>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PEMERIKSAAN PENUNJANG </a:t>
            </a:r>
            <a:br>
              <a:rPr lang="en-US"/>
            </a:br>
            <a:r>
              <a:rPr lang="en-US"/>
              <a:t>(DARAH RUTIN - )</a:t>
            </a:r>
            <a:endParaRPr/>
          </a:p>
        </p:txBody>
      </p:sp>
      <p:graphicFrame>
        <p:nvGraphicFramePr>
          <p:cNvPr id="263" name="Google Shape;263;g26a07f40bfe_2_59"/>
          <p:cNvGraphicFramePr/>
          <p:nvPr/>
        </p:nvGraphicFramePr>
        <p:xfrm>
          <a:off x="834600" y="2237313"/>
          <a:ext cx="3000000" cy="3000000"/>
        </p:xfrm>
        <a:graphic>
          <a:graphicData uri="http://schemas.openxmlformats.org/drawingml/2006/table">
            <a:tbl>
              <a:tblPr>
                <a:noFill/>
                <a:tableStyleId>{36CFF632-D1ED-4598-934C-71CC27260839}</a:tableStyleId>
              </a:tblPr>
              <a:tblGrid>
                <a:gridCol w="2630700"/>
                <a:gridCol w="2630700"/>
                <a:gridCol w="2630700"/>
                <a:gridCol w="2630700"/>
              </a:tblGrid>
              <a:tr h="3832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solidFill>
                            <a:srgbClr val="000000"/>
                          </a:solidFill>
                        </a:rPr>
                        <a:t>Pemeriksaan </a:t>
                      </a:r>
                      <a:endParaRPr b="1" sz="1600" u="none" cap="none" strike="noStrike">
                        <a:solidFill>
                          <a:srgbClr val="000000"/>
                        </a:solidFill>
                        <a:latin typeface="Tahoma"/>
                        <a:ea typeface="Tahoma"/>
                        <a:cs typeface="Tahoma"/>
                        <a:sym typeface="Tahoma"/>
                      </a:endParaRPr>
                    </a:p>
                  </a:txBody>
                  <a:tcPr marT="26000" marB="26000" marR="26000" marL="26000" anchor="ctr">
                    <a:solidFill>
                      <a:srgbClr val="EAD1DC"/>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Hasil</a:t>
                      </a:r>
                      <a:endParaRPr b="1" sz="1600" u="none" cap="none" strike="noStrike">
                        <a:solidFill>
                          <a:srgbClr val="000000"/>
                        </a:solidFill>
                        <a:latin typeface="Tahoma"/>
                        <a:ea typeface="Tahoma"/>
                        <a:cs typeface="Tahoma"/>
                        <a:sym typeface="Tahoma"/>
                      </a:endParaRPr>
                    </a:p>
                  </a:txBody>
                  <a:tcPr marT="26000" marB="26000" marR="26000" marL="26000" anchor="ctr">
                    <a:solidFill>
                      <a:srgbClr val="EAD1DC"/>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Reference Range</a:t>
                      </a:r>
                      <a:endParaRPr b="1" sz="1600" u="none" cap="none" strike="noStrike"/>
                    </a:p>
                  </a:txBody>
                  <a:tcPr marT="26000" marB="26000" marR="26000" marL="26000" anchor="ctr">
                    <a:solidFill>
                      <a:srgbClr val="EAD1DC"/>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Unit</a:t>
                      </a:r>
                      <a:endParaRPr b="1" sz="1600" u="none" cap="none" strike="noStrike"/>
                    </a:p>
                  </a:txBody>
                  <a:tcPr marT="26000" marB="26000" marR="26000" marL="26000" anchor="ctr">
                    <a:lnB cap="flat" cmpd="sng" w="12700">
                      <a:solidFill>
                        <a:srgbClr val="000000"/>
                      </a:solidFill>
                      <a:prstDash val="solid"/>
                      <a:round/>
                      <a:headEnd len="sm" w="sm" type="none"/>
                      <a:tailEnd len="sm" w="sm" type="none"/>
                    </a:lnB>
                    <a:solidFill>
                      <a:srgbClr val="EAD1DC"/>
                    </a:solidFill>
                  </a:tcPr>
                </a:tc>
              </a:tr>
              <a:tr h="383250">
                <a:tc>
                  <a:txBody>
                    <a:bodyPr/>
                    <a:lstStyle/>
                    <a:p>
                      <a:pPr indent="0" lvl="0" marL="0" marR="0" rtl="0" algn="ctr">
                        <a:lnSpc>
                          <a:spcPct val="100000"/>
                        </a:lnSpc>
                        <a:spcBef>
                          <a:spcPts val="0"/>
                        </a:spcBef>
                        <a:spcAft>
                          <a:spcPts val="0"/>
                        </a:spcAft>
                        <a:buClr>
                          <a:srgbClr val="000000"/>
                        </a:buClr>
                        <a:buSzPts val="1600"/>
                        <a:buFont typeface="Arial"/>
                        <a:buNone/>
                      </a:pPr>
                      <a:r>
                        <a:rPr lang="en-US" sz="1400" u="none" cap="none" strike="noStrike"/>
                        <a:t>Hb</a:t>
                      </a:r>
                      <a:endParaRPr sz="1400" u="none" cap="none" strike="noStrike">
                        <a:solidFill>
                          <a:srgbClr val="000000"/>
                        </a:solidFill>
                        <a:latin typeface="Courier"/>
                        <a:ea typeface="Courier"/>
                        <a:cs typeface="Courier"/>
                        <a:sym typeface="Courier"/>
                      </a:endParaRPr>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US" sz="1400" u="none" cap="none" strike="noStrike"/>
                        <a:t>14.1</a:t>
                      </a:r>
                      <a:endParaRPr sz="1400" u="none" cap="none" strike="noStrike">
                        <a:solidFill>
                          <a:srgbClr val="000000"/>
                        </a:solidFill>
                        <a:latin typeface="Courier"/>
                        <a:ea typeface="Courier"/>
                        <a:cs typeface="Courier"/>
                        <a:sym typeface="Courier"/>
                      </a:endParaRPr>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12,7-18,7</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g/dL</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600"/>
                        <a:buFont typeface="Arial"/>
                        <a:buNone/>
                      </a:pPr>
                      <a:r>
                        <a:rPr lang="en-US" sz="1400" u="none" cap="none" strike="noStrike"/>
                        <a:t>Ht</a:t>
                      </a:r>
                      <a:endParaRPr sz="1400" u="none" cap="none" strike="noStrike">
                        <a:solidFill>
                          <a:srgbClr val="000000"/>
                        </a:solidFill>
                        <a:latin typeface="Courier"/>
                        <a:ea typeface="Courier"/>
                        <a:cs typeface="Courier"/>
                        <a:sym typeface="Courier"/>
                      </a:endParaRPr>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400" u="none" cap="none" strike="noStrike">
                          <a:highlight>
                            <a:srgbClr val="F4CCCC"/>
                          </a:highlight>
                        </a:rPr>
                        <a:t>44.9</a:t>
                      </a:r>
                      <a:endParaRPr b="1" sz="1400" u="none" cap="none" strike="noStrike">
                        <a:solidFill>
                          <a:srgbClr val="000000"/>
                        </a:solidFill>
                        <a:highlight>
                          <a:srgbClr val="F4CCCC"/>
                        </a:highlight>
                        <a:latin typeface="Courier"/>
                        <a:ea typeface="Courier"/>
                        <a:cs typeface="Courier"/>
                        <a:sym typeface="Courier"/>
                      </a:endParaRPr>
                    </a:p>
                  </a:txBody>
                  <a:tcPr marT="26000" marB="26000" marR="26000" marL="26000" anchor="ct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30.0 - 38.0</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Eritrosit</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highlight>
                            <a:srgbClr val="F4CCCC"/>
                          </a:highlight>
                        </a:rPr>
                        <a:t>5.68</a:t>
                      </a:r>
                      <a:endParaRPr b="1" sz="1400" u="none" cap="none" strike="noStrike">
                        <a:highlight>
                          <a:srgbClr val="F4CCCC"/>
                        </a:highlight>
                      </a:endParaRPr>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3.90 - 5.10	</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10\S\6/L	</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MCV/VER</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79.0</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72.0 - 84.0	</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fL</a:t>
                      </a:r>
                      <a:endParaRPr sz="1400" u="none" cap="none" strike="noStrike"/>
                    </a:p>
                  </a:txBody>
                  <a:tcPr marT="26000" marB="26000" marR="26000" marL="26000" anchor="ct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MCH/HER	</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highlight>
                            <a:srgbClr val="CFE2F3"/>
                          </a:highlight>
                        </a:rPr>
                        <a:t>24.8</a:t>
                      </a:r>
                      <a:endParaRPr b="1" sz="1400" u="none" cap="none" strike="noStrike">
                        <a:highlight>
                          <a:srgbClr val="CFE2F3"/>
                        </a:highlight>
                      </a:endParaRPr>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25.0 - 29.0	</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pg</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MCHC/KHER	</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highlight>
                            <a:srgbClr val="CFE2F3"/>
                          </a:highlight>
                        </a:rPr>
                        <a:t>31.4</a:t>
                      </a:r>
                      <a:endParaRPr b="1" sz="1400" u="none" cap="none" strike="noStrike">
                        <a:highlight>
                          <a:srgbClr val="CFE2F3"/>
                        </a:highlight>
                      </a:endParaRPr>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dk1"/>
                          </a:solidFill>
                        </a:rPr>
                        <a:t>32.0 - 36.0	</a:t>
                      </a:r>
                      <a:endParaRPr sz="1400" u="none" cap="none" strike="noStrike"/>
                    </a:p>
                  </a:txBody>
                  <a:tcPr marT="26000" marB="26000" marR="26000" marL="26000" anchor="ctr">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g/dL</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Jumlah Trombosit	</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420</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200 - 550	</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10\S\3/L	</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Jumlah Leukosit	</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highlight>
                            <a:srgbClr val="F4CCCC"/>
                          </a:highlight>
                        </a:rPr>
                        <a:t>26.15</a:t>
                      </a:r>
                      <a:endParaRPr b="1" sz="1400" u="none" cap="none" strike="noStrike">
                        <a:highlight>
                          <a:srgbClr val="F4CCCC"/>
                        </a:highlight>
                      </a:endParaRPr>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6.00 - 16.00	</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10\S\3/L	</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64" name="Google Shape;264;g26a07f40bfe_2_59"/>
          <p:cNvSpPr txBox="1"/>
          <p:nvPr>
            <p:ph idx="1" type="body"/>
          </p:nvPr>
        </p:nvSpPr>
        <p:spPr>
          <a:xfrm>
            <a:off x="1400024" y="5770350"/>
            <a:ext cx="8968200" cy="726600"/>
          </a:xfrm>
          <a:prstGeom prst="rect">
            <a:avLst/>
          </a:prstGeom>
          <a:noFill/>
          <a:ln>
            <a:noFill/>
          </a:ln>
        </p:spPr>
        <p:txBody>
          <a:bodyPr anchorCtr="0" anchor="t" bIns="45700" lIns="45700" spcFirstLastPara="1" rIns="45700" wrap="square" tIns="45700">
            <a:normAutofit/>
          </a:bodyPr>
          <a:lstStyle/>
          <a:p>
            <a:pPr indent="0" lvl="0" marL="0" rtl="0" algn="l">
              <a:lnSpc>
                <a:spcPct val="110000"/>
              </a:lnSpc>
              <a:spcBef>
                <a:spcPts val="0"/>
              </a:spcBef>
              <a:spcAft>
                <a:spcPts val="0"/>
              </a:spcAft>
              <a:buSzPts val="2200"/>
              <a:buNone/>
            </a:pPr>
            <a:r>
              <a:rPr lang="en-US">
                <a:latin typeface="Calibri"/>
                <a:ea typeface="Calibri"/>
                <a:cs typeface="Calibri"/>
                <a:sym typeface="Calibri"/>
              </a:rPr>
              <a:t>Kesan: peningkatan hematokrit, eritrosit, leukositosis </a:t>
            </a:r>
            <a:endParaRPr>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6a07f40bfe_2_22"/>
          <p:cNvSpPr txBox="1"/>
          <p:nvPr>
            <p:ph type="title"/>
          </p:nvPr>
        </p:nvSpPr>
        <p:spPr>
          <a:xfrm>
            <a:off x="1024128" y="204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PEMERIKSAAN PENUNJANG </a:t>
            </a:r>
            <a:br>
              <a:rPr lang="en-US"/>
            </a:br>
            <a:r>
              <a:rPr lang="en-US"/>
              <a:t>(DARAH RUTIN - )</a:t>
            </a:r>
            <a:endParaRPr/>
          </a:p>
        </p:txBody>
      </p:sp>
      <p:graphicFrame>
        <p:nvGraphicFramePr>
          <p:cNvPr id="270" name="Google Shape;270;g26a07f40bfe_2_22"/>
          <p:cNvGraphicFramePr/>
          <p:nvPr/>
        </p:nvGraphicFramePr>
        <p:xfrm>
          <a:off x="834600" y="1780113"/>
          <a:ext cx="3000000" cy="3000000"/>
        </p:xfrm>
        <a:graphic>
          <a:graphicData uri="http://schemas.openxmlformats.org/drawingml/2006/table">
            <a:tbl>
              <a:tblPr>
                <a:noFill/>
                <a:tableStyleId>{36CFF632-D1ED-4598-934C-71CC27260839}</a:tableStyleId>
              </a:tblPr>
              <a:tblGrid>
                <a:gridCol w="2630700"/>
                <a:gridCol w="2630700"/>
                <a:gridCol w="2630700"/>
                <a:gridCol w="2630700"/>
              </a:tblGrid>
              <a:tr h="3832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solidFill>
                            <a:srgbClr val="000000"/>
                          </a:solidFill>
                        </a:rPr>
                        <a:t>Pemeriksaan </a:t>
                      </a:r>
                      <a:endParaRPr b="1" sz="1600" u="none" cap="none" strike="noStrike">
                        <a:solidFill>
                          <a:srgbClr val="000000"/>
                        </a:solidFill>
                        <a:latin typeface="Tahoma"/>
                        <a:ea typeface="Tahoma"/>
                        <a:cs typeface="Tahoma"/>
                        <a:sym typeface="Tahoma"/>
                      </a:endParaRPr>
                    </a:p>
                  </a:txBody>
                  <a:tcPr marT="26000" marB="26000" marR="26000" marL="26000" anchor="ctr">
                    <a:solidFill>
                      <a:srgbClr val="EAD1DC"/>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Hasil</a:t>
                      </a:r>
                      <a:endParaRPr b="1" sz="1600" u="none" cap="none" strike="noStrike">
                        <a:solidFill>
                          <a:srgbClr val="000000"/>
                        </a:solidFill>
                        <a:latin typeface="Tahoma"/>
                        <a:ea typeface="Tahoma"/>
                        <a:cs typeface="Tahoma"/>
                        <a:sym typeface="Tahoma"/>
                      </a:endParaRPr>
                    </a:p>
                  </a:txBody>
                  <a:tcPr marT="26000" marB="26000" marR="26000" marL="26000" anchor="ctr">
                    <a:solidFill>
                      <a:srgbClr val="EAD1DC"/>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Reference Range</a:t>
                      </a:r>
                      <a:endParaRPr b="1" sz="1600" u="none" cap="none" strike="noStrike"/>
                    </a:p>
                  </a:txBody>
                  <a:tcPr marT="26000" marB="26000" marR="26000" marL="26000" anchor="ctr">
                    <a:solidFill>
                      <a:srgbClr val="EAD1DC"/>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Unit</a:t>
                      </a:r>
                      <a:endParaRPr b="1" sz="1600" u="none" cap="none" strike="noStrike"/>
                    </a:p>
                  </a:txBody>
                  <a:tcPr marT="26000" marB="26000" marR="26000" marL="26000" anchor="ctr">
                    <a:lnB cap="flat" cmpd="sng" w="12700">
                      <a:solidFill>
                        <a:srgbClr val="000000"/>
                      </a:solidFill>
                      <a:prstDash val="solid"/>
                      <a:round/>
                      <a:headEnd len="sm" w="sm" type="none"/>
                      <a:tailEnd len="sm" w="sm" type="none"/>
                    </a:lnB>
                    <a:solidFill>
                      <a:srgbClr val="EAD1DC"/>
                    </a:solidFill>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Hitung jenis</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26000" marB="26000" marR="26000" marL="26000" anchor="ct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Basofil</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0.2</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0 - 2</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Eosinofil</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highlight>
                            <a:srgbClr val="C9DAF8"/>
                          </a:highlight>
                        </a:rPr>
                        <a:t>0.0 </a:t>
                      </a:r>
                      <a:endParaRPr b="1" sz="1400" u="none" cap="none" strike="noStrike">
                        <a:highlight>
                          <a:srgbClr val="C9DAF8"/>
                        </a:highlight>
                      </a:endParaRPr>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1 - 6</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Neutrofil</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highlight>
                            <a:srgbClr val="F4CCCC"/>
                          </a:highlight>
                        </a:rPr>
                        <a:t>88.3</a:t>
                      </a:r>
                      <a:endParaRPr b="1" sz="1400" u="none" cap="none" strike="noStrike">
                        <a:highlight>
                          <a:srgbClr val="F4CCCC"/>
                        </a:highlight>
                      </a:endParaRPr>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40.0 - 80.0</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Limfosit</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highlight>
                            <a:srgbClr val="C9DAF8"/>
                          </a:highlight>
                        </a:rPr>
                        <a:t>8.8</a:t>
                      </a:r>
                      <a:endParaRPr b="1" sz="1400" u="none" cap="none" strike="noStrike">
                        <a:highlight>
                          <a:srgbClr val="C9DAF8"/>
                        </a:highlight>
                      </a:endParaRPr>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20 - 40</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Monosit</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2.7</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2 - 10</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Neutrofil count</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highlight>
                            <a:srgbClr val="F4CCCC"/>
                          </a:highlight>
                        </a:rPr>
                        <a:t>23.00</a:t>
                      </a:r>
                      <a:endParaRPr b="1" sz="1400" u="none" cap="none" strike="noStrike">
                        <a:highlight>
                          <a:srgbClr val="F4CCCC"/>
                        </a:highlight>
                      </a:endParaRPr>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1.70 - 7.50</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Lymphocyte count</a:t>
                      </a:r>
                      <a:endParaRPr sz="1400" u="none" cap="none" strike="noStrike"/>
                    </a:p>
                  </a:txBody>
                  <a:tcPr marT="26000" marB="26000" marR="26000" marL="26000"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2.3</a:t>
                      </a:r>
                      <a:endParaRPr sz="1400" u="none" cap="none" strike="noStrike"/>
                    </a:p>
                  </a:txBody>
                  <a:tcPr marT="26000" marB="26000" marR="26000" marL="26000" anchor="ctr">
                    <a:lnR cap="flat" cmpd="sng" w="12700">
                      <a:solidFill>
                        <a:srgbClr val="000000"/>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1.00 - 3.20</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497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CRP-Quantitative</a:t>
                      </a:r>
                      <a:endParaRPr sz="1400" u="none" cap="none" strike="noStrike"/>
                    </a:p>
                  </a:txBody>
                  <a:tcPr marT="26000" marB="26000" marR="26000" marL="26000" anchor="ctr">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44.0</a:t>
                      </a:r>
                      <a:endParaRPr sz="1400" u="none" cap="none" strike="noStrike"/>
                    </a:p>
                  </a:txBody>
                  <a:tcPr marT="26000" marB="26000" marR="26000" marL="26000" anchor="ctr">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sz="1400" u="none" cap="none" strike="noStrike"/>
                    </a:p>
                  </a:txBody>
                  <a:tcPr marT="26000" marB="26000" marR="26000" marL="26000" anchor="ctr">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mg/L	</a:t>
                      </a:r>
                      <a:endParaRPr sz="1400" u="none" cap="none" strike="noStrike"/>
                    </a:p>
                  </a:txBody>
                  <a:tcPr marT="26000" marB="26000" marR="26000" marL="260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271" name="Google Shape;271;g26a07f40bfe_2_22"/>
          <p:cNvSpPr txBox="1"/>
          <p:nvPr>
            <p:ph idx="1" type="body"/>
          </p:nvPr>
        </p:nvSpPr>
        <p:spPr>
          <a:xfrm>
            <a:off x="1400024" y="5617075"/>
            <a:ext cx="8968200" cy="726600"/>
          </a:xfrm>
          <a:prstGeom prst="rect">
            <a:avLst/>
          </a:prstGeom>
          <a:noFill/>
          <a:ln>
            <a:noFill/>
          </a:ln>
        </p:spPr>
        <p:txBody>
          <a:bodyPr anchorCtr="0" anchor="t" bIns="45700" lIns="45700" spcFirstLastPara="1" rIns="45700" wrap="square" tIns="45700">
            <a:normAutofit/>
          </a:bodyPr>
          <a:lstStyle/>
          <a:p>
            <a:pPr indent="0" lvl="0" marL="0" rtl="0" algn="l">
              <a:lnSpc>
                <a:spcPct val="110000"/>
              </a:lnSpc>
              <a:spcBef>
                <a:spcPts val="0"/>
              </a:spcBef>
              <a:spcAft>
                <a:spcPts val="0"/>
              </a:spcAft>
              <a:buSzPts val="2200"/>
              <a:buNone/>
            </a:pPr>
            <a:r>
              <a:rPr lang="en-US">
                <a:latin typeface="Calibri"/>
                <a:ea typeface="Calibri"/>
                <a:cs typeface="Calibri"/>
                <a:sym typeface="Calibri"/>
              </a:rPr>
              <a:t>Kesan: neutrofilia, limfositosis, peningkatan CRP → infeksi</a:t>
            </a:r>
            <a:endParaRPr>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26a07f40bfe_2_105"/>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PEMERIKSAAN PENUNJANG</a:t>
            </a:r>
            <a:endParaRPr/>
          </a:p>
          <a:p>
            <a:pPr indent="0" lvl="0" marL="0" rtl="0" algn="l">
              <a:lnSpc>
                <a:spcPct val="80000"/>
              </a:lnSpc>
              <a:spcBef>
                <a:spcPts val="0"/>
              </a:spcBef>
              <a:spcAft>
                <a:spcPts val="0"/>
              </a:spcAft>
              <a:buClr>
                <a:srgbClr val="0C0C0C"/>
              </a:buClr>
              <a:buSzPts val="5000"/>
              <a:buFont typeface="Twentieth Century"/>
              <a:buNone/>
            </a:pPr>
            <a:r>
              <a:rPr lang="en-US"/>
              <a:t>RADIOLOGI</a:t>
            </a:r>
            <a:endParaRPr/>
          </a:p>
        </p:txBody>
      </p:sp>
      <p:sp>
        <p:nvSpPr>
          <p:cNvPr id="277" name="Google Shape;277;g26a07f40bfe_2_105"/>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lnSpcReduction="20000"/>
          </a:bodyPr>
          <a:lstStyle/>
          <a:p>
            <a:pPr indent="0" lvl="0" marL="0" rtl="0" algn="l">
              <a:lnSpc>
                <a:spcPct val="90000"/>
              </a:lnSpc>
              <a:spcBef>
                <a:spcPts val="0"/>
              </a:spcBef>
              <a:spcAft>
                <a:spcPts val="0"/>
              </a:spcAft>
              <a:buClr>
                <a:schemeClr val="dk1"/>
              </a:buClr>
              <a:buSzPts val="1100"/>
              <a:buFont typeface="Arial"/>
              <a:buNone/>
            </a:pPr>
            <a:r>
              <a:rPr lang="en-US"/>
              <a:t>Jantung ukuran tidak membesar, </a:t>
            </a:r>
            <a:r>
              <a:rPr b="1" lang="en-US"/>
              <a:t>CTI 0,62</a:t>
            </a:r>
            <a:r>
              <a:rPr lang="en-US"/>
              <a:t> (N: 0,45 - 0,61). </a:t>
            </a:r>
            <a:endParaRPr/>
          </a:p>
          <a:p>
            <a:pPr indent="0" lvl="0" marL="0" rtl="0" algn="l">
              <a:lnSpc>
                <a:spcPct val="90000"/>
              </a:lnSpc>
              <a:spcBef>
                <a:spcPts val="0"/>
              </a:spcBef>
              <a:spcAft>
                <a:spcPts val="0"/>
              </a:spcAft>
              <a:buClr>
                <a:schemeClr val="dk1"/>
              </a:buClr>
              <a:buSzPts val="1100"/>
              <a:buFont typeface="Arial"/>
              <a:buNone/>
            </a:pPr>
            <a:r>
              <a:rPr lang="en-US"/>
              <a:t>Aorta tidak melebar. Mediastinum superior kiri melebar (proyeksi vaskular).</a:t>
            </a:r>
            <a:endParaRPr/>
          </a:p>
          <a:p>
            <a:pPr indent="0" lvl="0" marL="0" rtl="0" algn="l">
              <a:lnSpc>
                <a:spcPct val="90000"/>
              </a:lnSpc>
              <a:spcBef>
                <a:spcPts val="0"/>
              </a:spcBef>
              <a:spcAft>
                <a:spcPts val="0"/>
              </a:spcAft>
              <a:buClr>
                <a:schemeClr val="dk1"/>
              </a:buClr>
              <a:buSzPts val="1100"/>
              <a:buFont typeface="Arial"/>
              <a:buNone/>
            </a:pPr>
            <a:r>
              <a:rPr lang="en-US"/>
              <a:t>Trakhea relatif di tengah. Kedua hilus suram.</a:t>
            </a:r>
            <a:endParaRPr/>
          </a:p>
          <a:p>
            <a:pPr indent="0" lvl="0" marL="0" rtl="0" algn="l">
              <a:lnSpc>
                <a:spcPct val="90000"/>
              </a:lnSpc>
              <a:spcBef>
                <a:spcPts val="0"/>
              </a:spcBef>
              <a:spcAft>
                <a:spcPts val="0"/>
              </a:spcAft>
              <a:buClr>
                <a:schemeClr val="dk1"/>
              </a:buClr>
              <a:buSzPts val="1100"/>
              <a:buFont typeface="Arial"/>
              <a:buNone/>
            </a:pPr>
            <a:r>
              <a:rPr lang="en-US"/>
              <a:t>I</a:t>
            </a:r>
            <a:r>
              <a:rPr b="1" lang="en-US"/>
              <a:t>nfiltrat dan konsolidasi di lapangan atas hingga bawah paru kanan dan infiltrat di lapangan bawah paru kiri.</a:t>
            </a:r>
            <a:endParaRPr b="1"/>
          </a:p>
          <a:p>
            <a:pPr indent="0" lvl="0" marL="0" rtl="0" algn="l">
              <a:lnSpc>
                <a:spcPct val="90000"/>
              </a:lnSpc>
              <a:spcBef>
                <a:spcPts val="0"/>
              </a:spcBef>
              <a:spcAft>
                <a:spcPts val="0"/>
              </a:spcAft>
              <a:buClr>
                <a:schemeClr val="dk1"/>
              </a:buClr>
              <a:buSzPts val="1100"/>
              <a:buFont typeface="Arial"/>
              <a:buNone/>
            </a:pPr>
            <a:r>
              <a:rPr lang="en-US"/>
              <a:t>Lengkung diafragma dan sinus kostofrenikus normal.</a:t>
            </a:r>
            <a:endParaRPr/>
          </a:p>
          <a:p>
            <a:pPr indent="0" lvl="0" marL="0" rtl="0" algn="l">
              <a:lnSpc>
                <a:spcPct val="90000"/>
              </a:lnSpc>
              <a:spcBef>
                <a:spcPts val="0"/>
              </a:spcBef>
              <a:spcAft>
                <a:spcPts val="0"/>
              </a:spcAft>
              <a:buClr>
                <a:schemeClr val="dk1"/>
              </a:buClr>
              <a:buSzPts val="1100"/>
              <a:buFont typeface="Arial"/>
              <a:buNone/>
            </a:pPr>
            <a:r>
              <a:rPr lang="en-US"/>
              <a:t>Tulang-tulang yang tervisualisasi optimal kesan intak</a:t>
            </a:r>
            <a:endParaRPr/>
          </a:p>
          <a:p>
            <a:pPr indent="0" lvl="0" marL="0" rtl="0" algn="l">
              <a:lnSpc>
                <a:spcPct val="90000"/>
              </a:lnSpc>
              <a:spcBef>
                <a:spcPts val="0"/>
              </a:spcBef>
              <a:spcAft>
                <a:spcPts val="0"/>
              </a:spcAft>
              <a:buClr>
                <a:schemeClr val="dk1"/>
              </a:buClr>
              <a:buSzPts val="1100"/>
              <a:buFont typeface="Arial"/>
              <a:buNone/>
            </a:pPr>
            <a:r>
              <a:rPr lang="en-US"/>
              <a:t>Tidak tampak lagi terpasang ETT.</a:t>
            </a:r>
            <a:endParaRPr/>
          </a:p>
          <a:p>
            <a:pPr indent="0" lvl="0" marL="0" rtl="0" algn="l">
              <a:lnSpc>
                <a:spcPct val="90000"/>
              </a:lnSpc>
              <a:spcBef>
                <a:spcPts val="0"/>
              </a:spcBef>
              <a:spcAft>
                <a:spcPts val="0"/>
              </a:spcAft>
              <a:buClr>
                <a:schemeClr val="dk1"/>
              </a:buClr>
              <a:buSzPts val="1100"/>
              <a:buFont typeface="Arial"/>
              <a:buNone/>
            </a:pPr>
            <a:r>
              <a:t/>
            </a:r>
            <a:endParaRPr/>
          </a:p>
          <a:p>
            <a:pPr indent="0" lvl="0" marL="0" rtl="0" algn="l">
              <a:lnSpc>
                <a:spcPct val="90000"/>
              </a:lnSpc>
              <a:spcBef>
                <a:spcPts val="0"/>
              </a:spcBef>
              <a:spcAft>
                <a:spcPts val="0"/>
              </a:spcAft>
              <a:buClr>
                <a:schemeClr val="dk1"/>
              </a:buClr>
              <a:buSzPts val="1100"/>
              <a:buFont typeface="Arial"/>
              <a:buNone/>
            </a:pPr>
            <a:r>
              <a:t/>
            </a:r>
            <a:endParaRPr/>
          </a:p>
          <a:p>
            <a:pPr indent="0" lvl="0" marL="0" rtl="0" algn="l">
              <a:lnSpc>
                <a:spcPct val="90000"/>
              </a:lnSpc>
              <a:spcBef>
                <a:spcPts val="0"/>
              </a:spcBef>
              <a:spcAft>
                <a:spcPts val="0"/>
              </a:spcAft>
              <a:buClr>
                <a:schemeClr val="dk1"/>
              </a:buClr>
              <a:buSzPts val="1100"/>
              <a:buFont typeface="Arial"/>
              <a:buNone/>
            </a:pPr>
            <a:r>
              <a:rPr lang="en-US"/>
              <a:t>====== [Conclusion] ======</a:t>
            </a:r>
            <a:endParaRPr/>
          </a:p>
          <a:p>
            <a:pPr indent="0" lvl="0" marL="0" rtl="0" algn="l">
              <a:lnSpc>
                <a:spcPct val="90000"/>
              </a:lnSpc>
              <a:spcBef>
                <a:spcPts val="0"/>
              </a:spcBef>
              <a:spcAft>
                <a:spcPts val="0"/>
              </a:spcAft>
              <a:buClr>
                <a:schemeClr val="dk1"/>
              </a:buClr>
              <a:buSzPts val="1100"/>
              <a:buFont typeface="Arial"/>
              <a:buNone/>
            </a:pPr>
            <a:r>
              <a:rPr lang="en-US"/>
              <a:t>Dibandingkan dengan radiografi toraks sebelumnya, saat ini:</a:t>
            </a:r>
            <a:endParaRPr/>
          </a:p>
          <a:p>
            <a:pPr indent="0" lvl="0" marL="0" rtl="0" algn="l">
              <a:lnSpc>
                <a:spcPct val="90000"/>
              </a:lnSpc>
              <a:spcBef>
                <a:spcPts val="0"/>
              </a:spcBef>
              <a:spcAft>
                <a:spcPts val="0"/>
              </a:spcAft>
              <a:buClr>
                <a:schemeClr val="dk1"/>
              </a:buClr>
              <a:buSzPts val="1100"/>
              <a:buFont typeface="Arial"/>
              <a:buNone/>
            </a:pPr>
            <a:r>
              <a:rPr lang="en-US"/>
              <a:t>- </a:t>
            </a:r>
            <a:r>
              <a:rPr b="1" lang="en-US"/>
              <a:t>Infiltrat dan konsolidasi di kedua paru, bertambah terutama pada paru kanan.</a:t>
            </a:r>
            <a:endParaRPr b="1"/>
          </a:p>
          <a:p>
            <a:pPr indent="0" lvl="0" marL="0" rtl="0" algn="l">
              <a:lnSpc>
                <a:spcPct val="90000"/>
              </a:lnSpc>
              <a:spcBef>
                <a:spcPts val="0"/>
              </a:spcBef>
              <a:spcAft>
                <a:spcPts val="0"/>
              </a:spcAft>
              <a:buClr>
                <a:schemeClr val="dk1"/>
              </a:buClr>
              <a:buSzPts val="1100"/>
              <a:buFont typeface="Arial"/>
              <a:buNone/>
            </a:pPr>
            <a:r>
              <a:rPr lang="en-US"/>
              <a:t>- </a:t>
            </a:r>
            <a:r>
              <a:rPr b="1" lang="en-US"/>
              <a:t>Kardiomegali</a:t>
            </a:r>
            <a:r>
              <a:rPr lang="en-US"/>
              <a:t>, relatif stqa.</a:t>
            </a:r>
            <a:endParaRPr/>
          </a:p>
          <a:p>
            <a:pPr indent="0" lvl="0" marL="0" rtl="0" algn="l">
              <a:lnSpc>
                <a:spcPct val="90000"/>
              </a:lnSpc>
              <a:spcBef>
                <a:spcPts val="0"/>
              </a:spcBef>
              <a:spcAft>
                <a:spcPts val="0"/>
              </a:spcAft>
              <a:buSzPts val="1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DIAGNOSIS AKHIR</a:t>
            </a:r>
            <a:endParaRPr/>
          </a:p>
        </p:txBody>
      </p:sp>
      <p:sp>
        <p:nvSpPr>
          <p:cNvPr id="283" name="Google Shape;283;p15"/>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91440" lvl="0" marL="91440" rtl="0" algn="l">
              <a:lnSpc>
                <a:spcPct val="90000"/>
              </a:lnSpc>
              <a:spcBef>
                <a:spcPts val="0"/>
              </a:spcBef>
              <a:spcAft>
                <a:spcPts val="0"/>
              </a:spcAft>
              <a:buSzPts val="2200"/>
              <a:buAutoNum type="arabicPeriod"/>
            </a:pPr>
            <a:r>
              <a:rPr lang="en-US"/>
              <a:t>Syok hipovolemia e.c. diare akut </a:t>
            </a:r>
            <a:endParaRPr/>
          </a:p>
          <a:p>
            <a:pPr indent="-91440" lvl="0" marL="91440" rtl="0" algn="l">
              <a:lnSpc>
                <a:spcPct val="90000"/>
              </a:lnSpc>
              <a:spcBef>
                <a:spcPts val="0"/>
              </a:spcBef>
              <a:spcAft>
                <a:spcPts val="0"/>
              </a:spcAft>
              <a:buSzPts val="1800"/>
              <a:buAutoNum type="arabicPeriod"/>
            </a:pPr>
            <a:r>
              <a:rPr lang="en-US"/>
              <a:t>Hospital acquired pneumonia </a:t>
            </a:r>
            <a:endParaRPr/>
          </a:p>
          <a:p>
            <a:pPr indent="-91440" lvl="0" marL="91440" rtl="0" algn="l">
              <a:lnSpc>
                <a:spcPct val="90000"/>
              </a:lnSpc>
              <a:spcBef>
                <a:spcPts val="0"/>
              </a:spcBef>
              <a:spcAft>
                <a:spcPts val="0"/>
              </a:spcAft>
              <a:buSzPts val="1800"/>
              <a:buAutoNum type="arabicPeriod"/>
            </a:pPr>
            <a:r>
              <a:rPr lang="en-US"/>
              <a:t>Keterlambatan perkembangan motorik kasar</a:t>
            </a:r>
            <a:endParaRPr/>
          </a:p>
          <a:p>
            <a:pPr indent="-91440" lvl="0" marL="91440" rtl="0" algn="l">
              <a:lnSpc>
                <a:spcPct val="90000"/>
              </a:lnSpc>
              <a:spcBef>
                <a:spcPts val="0"/>
              </a:spcBef>
              <a:spcAft>
                <a:spcPts val="0"/>
              </a:spcAft>
              <a:buSzPts val="1800"/>
              <a:buAutoNum type="arabicPeriod"/>
            </a:pPr>
            <a:r>
              <a:rPr lang="en-US"/>
              <a:t>PJB → ASD, PDA, Co Aorta</a:t>
            </a:r>
            <a:endParaRPr/>
          </a:p>
          <a:p>
            <a:pPr indent="-91440" lvl="0" marL="91440" rtl="0" algn="l">
              <a:lnSpc>
                <a:spcPct val="90000"/>
              </a:lnSpc>
              <a:spcBef>
                <a:spcPts val="0"/>
              </a:spcBef>
              <a:spcAft>
                <a:spcPts val="0"/>
              </a:spcAft>
              <a:buSzPts val="1800"/>
              <a:buAutoNum type="arabicPeriod"/>
            </a:pPr>
            <a:r>
              <a:rPr lang="en-US"/>
              <a:t>Gizi buruk, perawakan sangat pendek</a:t>
            </a:r>
            <a:endParaRPr/>
          </a:p>
          <a:p>
            <a:pPr indent="-91440" lvl="0" marL="91440" rtl="0" algn="l">
              <a:lnSpc>
                <a:spcPct val="90000"/>
              </a:lnSpc>
              <a:spcBef>
                <a:spcPts val="0"/>
              </a:spcBef>
              <a:spcAft>
                <a:spcPts val="0"/>
              </a:spcAft>
              <a:buSzPts val="1800"/>
              <a:buAutoNum type="arabicPeriod"/>
            </a:pPr>
            <a:r>
              <a:rPr lang="en-US"/>
              <a:t>Vaksinasi belum terlengkapi</a:t>
            </a:r>
            <a:endParaRPr/>
          </a:p>
          <a:p>
            <a:pPr indent="0" lvl="0" marL="91440" rtl="0" algn="l">
              <a:lnSpc>
                <a:spcPct val="90000"/>
              </a:lnSpc>
              <a:spcBef>
                <a:spcPts val="0"/>
              </a:spcBef>
              <a:spcAft>
                <a:spcPts val="0"/>
              </a:spcAft>
              <a:buSzPts val="1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26a07f40bfe_3_26"/>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TATA LAKSANA AKHIR</a:t>
            </a:r>
            <a:endParaRPr/>
          </a:p>
        </p:txBody>
      </p:sp>
      <p:graphicFrame>
        <p:nvGraphicFramePr>
          <p:cNvPr id="289" name="Google Shape;289;g26a07f40bfe_3_26"/>
          <p:cNvGraphicFramePr/>
          <p:nvPr/>
        </p:nvGraphicFramePr>
        <p:xfrm>
          <a:off x="952500" y="1938175"/>
          <a:ext cx="3000000" cy="3000000"/>
        </p:xfrm>
        <a:graphic>
          <a:graphicData uri="http://schemas.openxmlformats.org/drawingml/2006/table">
            <a:tbl>
              <a:tblPr>
                <a:noFill/>
                <a:tableStyleId>{A91051F6-62D5-4A95-B19F-8D2742D3A515}</a:tableStyleId>
              </a:tblPr>
              <a:tblGrid>
                <a:gridCol w="3429000"/>
                <a:gridCol w="3429000"/>
                <a:gridCol w="34290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Diagnosis/Masalah</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Target/tujuan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Tindakan/tata laksana</a:t>
                      </a:r>
                      <a:endParaRPr sz="1400" u="none" cap="none" strike="noStrike"/>
                    </a:p>
                  </a:txBody>
                  <a:tcPr marT="91425" marB="91425" marR="91425" marL="91425"/>
                </a:tc>
              </a:tr>
              <a:tr h="381000">
                <a:tc rowSpan="5">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Syok hipovolemik terkompensasi e.c. diare akut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Oksigenasi adekuat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NK O2 2 lpm </a:t>
                      </a:r>
                      <a:endParaRPr sz="1400" u="none" cap="none" strike="noStrike"/>
                    </a:p>
                  </a:txBody>
                  <a:tcPr marT="91425" marB="91425" marR="91425" marL="91425"/>
                </a:tc>
              </a:tr>
              <a:tr h="381000">
                <a:tc vMerge="1"/>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Cairan adekuat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pasca loading RL 20ml/kgBB dalam 15 menit sebanyak 2 kali, lalu dilanjutkan IVFD KaEN3b 30 ml/kg selama 1 jam dilanjutkan 70 ml/kg selama 5 jam </a:t>
                      </a:r>
                      <a:endParaRPr sz="1400" u="none" cap="none" strike="noStrike"/>
                    </a:p>
                  </a:txBody>
                  <a:tcPr marT="91425" marB="91425" marR="91425" marL="91425"/>
                </a:tc>
              </a:tr>
              <a:tr h="381000">
                <a:tc vMerge="1"/>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atasi demam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Parasetamol IV 50mg bila demam</a:t>
                      </a:r>
                      <a:endParaRPr sz="1400" u="none" cap="none" strike="noStrike"/>
                    </a:p>
                  </a:txBody>
                  <a:tcPr marT="91425" marB="91425" marR="91425" marL="91425"/>
                </a:tc>
              </a:tr>
              <a:tr h="381000">
                <a:tc vMerge="1"/>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atasi infeksi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IV Ceftazidim 250mg setiap 8 jam</a:t>
                      </a:r>
                      <a:endParaRPr sz="1400" u="none" cap="none" strike="noStrike"/>
                    </a:p>
                  </a:txBody>
                  <a:tcPr marT="91425" marB="91425" marR="91425" marL="91425"/>
                </a:tc>
              </a:tr>
              <a:tr h="381000">
                <a:tc vMerge="1"/>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Re-epitalisasi usus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zinc 20mg PO, 1x setiap hari</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Severe pulmonary hypertension + PDA + ASD dengan PDA dan ASD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cegah gagal jantung</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Sildenafil 10 mg tiap 8 jam PO</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Furosemide 5 mg tiap 8 jam</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lang="en-US" sz="1400" u="none" cap="none" strike="noStrike"/>
                        <a:t>Captopril 2.5mg tiap 8 jan PO</a:t>
                      </a:r>
                      <a:endParaRPr sz="1400" u="none" cap="none" strike="noStrike"/>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26a07f40bfe_2_100"/>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TATA LAKSANA AKHIR GIZI BURUK</a:t>
            </a:r>
            <a:endParaRPr/>
          </a:p>
        </p:txBody>
      </p:sp>
      <p:sp>
        <p:nvSpPr>
          <p:cNvPr id="295" name="Google Shape;295;g26a07f40bfe_2_100"/>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p>
            <a:pPr indent="-342900" lvl="0" marL="457200" rtl="0" algn="l">
              <a:lnSpc>
                <a:spcPct val="110000"/>
              </a:lnSpc>
              <a:spcBef>
                <a:spcPts val="0"/>
              </a:spcBef>
              <a:spcAft>
                <a:spcPts val="0"/>
              </a:spcAft>
              <a:buSzPts val="1800"/>
              <a:buFont typeface="Calibri"/>
              <a:buAutoNum type="arabicPeriod"/>
            </a:pPr>
            <a:r>
              <a:rPr lang="en-US">
                <a:latin typeface="Calibri"/>
                <a:ea typeface="Calibri"/>
                <a:cs typeface="Calibri"/>
                <a:sym typeface="Calibri"/>
              </a:rPr>
              <a:t>Menentukan status gizi: status gizi buruk</a:t>
            </a:r>
            <a:endParaRPr>
              <a:latin typeface="Calibri"/>
              <a:ea typeface="Calibri"/>
              <a:cs typeface="Calibri"/>
              <a:sym typeface="Calibri"/>
            </a:endParaRPr>
          </a:p>
          <a:p>
            <a:pPr indent="-342900" lvl="0" marL="457200" rtl="0" algn="l">
              <a:lnSpc>
                <a:spcPct val="110000"/>
              </a:lnSpc>
              <a:spcBef>
                <a:spcPts val="0"/>
              </a:spcBef>
              <a:spcAft>
                <a:spcPts val="0"/>
              </a:spcAft>
              <a:buSzPts val="1800"/>
              <a:buFont typeface="Calibri"/>
              <a:buAutoNum type="arabicPeriod"/>
            </a:pPr>
            <a:r>
              <a:rPr lang="en-US">
                <a:latin typeface="Calibri"/>
                <a:ea typeface="Calibri"/>
                <a:cs typeface="Calibri"/>
                <a:sym typeface="Calibri"/>
              </a:rPr>
              <a:t>Menentukan kebutuhan kalori (slide berikut)</a:t>
            </a:r>
            <a:endParaRPr>
              <a:latin typeface="Calibri"/>
              <a:ea typeface="Calibri"/>
              <a:cs typeface="Calibri"/>
              <a:sym typeface="Calibri"/>
            </a:endParaRPr>
          </a:p>
          <a:p>
            <a:pPr indent="-342900" lvl="0" marL="457200" rtl="0" algn="l">
              <a:lnSpc>
                <a:spcPct val="110000"/>
              </a:lnSpc>
              <a:spcBef>
                <a:spcPts val="0"/>
              </a:spcBef>
              <a:spcAft>
                <a:spcPts val="0"/>
              </a:spcAft>
              <a:buSzPts val="1800"/>
              <a:buFont typeface="Calibri"/>
              <a:buAutoNum type="arabicPeriod"/>
            </a:pPr>
            <a:r>
              <a:rPr lang="en-US">
                <a:latin typeface="Calibri"/>
                <a:ea typeface="Calibri"/>
                <a:cs typeface="Calibri"/>
                <a:sym typeface="Calibri"/>
              </a:rPr>
              <a:t>Menentukan rute oral: NGT</a:t>
            </a:r>
            <a:endParaRPr>
              <a:latin typeface="Calibri"/>
              <a:ea typeface="Calibri"/>
              <a:cs typeface="Calibri"/>
              <a:sym typeface="Calibri"/>
            </a:endParaRPr>
          </a:p>
          <a:p>
            <a:pPr indent="-342900" lvl="0" marL="457200" rtl="0" algn="l">
              <a:lnSpc>
                <a:spcPct val="110000"/>
              </a:lnSpc>
              <a:spcBef>
                <a:spcPts val="0"/>
              </a:spcBef>
              <a:spcAft>
                <a:spcPts val="0"/>
              </a:spcAft>
              <a:buSzPts val="1800"/>
              <a:buFont typeface="Calibri"/>
              <a:buAutoNum type="arabicPeriod"/>
            </a:pPr>
            <a:r>
              <a:rPr lang="en-US">
                <a:latin typeface="Calibri"/>
                <a:ea typeface="Calibri"/>
                <a:cs typeface="Calibri"/>
                <a:sym typeface="Calibri"/>
              </a:rPr>
              <a:t>Menentukan jenis makanan</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AutoNum type="alphaLcPeriod"/>
            </a:pPr>
            <a:r>
              <a:rPr lang="en-US">
                <a:latin typeface="Calibri"/>
                <a:ea typeface="Calibri"/>
                <a:cs typeface="Calibri"/>
                <a:sym typeface="Calibri"/>
              </a:rPr>
              <a:t>Fase stabilisasi: F75</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AutoNum type="alphaLcPeriod"/>
            </a:pPr>
            <a:r>
              <a:rPr lang="en-US">
                <a:latin typeface="Calibri"/>
                <a:ea typeface="Calibri"/>
                <a:cs typeface="Calibri"/>
                <a:sym typeface="Calibri"/>
              </a:rPr>
              <a:t>Fase transisi: F100</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AutoNum type="alphaLcPeriod"/>
            </a:pPr>
            <a:r>
              <a:rPr lang="en-US">
                <a:latin typeface="Calibri"/>
                <a:ea typeface="Calibri"/>
                <a:cs typeface="Calibri"/>
                <a:sym typeface="Calibri"/>
              </a:rPr>
              <a:t>Fase rehabilitasi: F100</a:t>
            </a:r>
            <a:endParaRPr>
              <a:latin typeface="Calibri"/>
              <a:ea typeface="Calibri"/>
              <a:cs typeface="Calibri"/>
              <a:sym typeface="Calibri"/>
            </a:endParaRPr>
          </a:p>
          <a:p>
            <a:pPr indent="-342900" lvl="0" marL="457200" rtl="0" algn="l">
              <a:lnSpc>
                <a:spcPct val="110000"/>
              </a:lnSpc>
              <a:spcBef>
                <a:spcPts val="0"/>
              </a:spcBef>
              <a:spcAft>
                <a:spcPts val="0"/>
              </a:spcAft>
              <a:buSzPts val="1800"/>
              <a:buFont typeface="Calibri"/>
              <a:buAutoNum type="arabicPeriod"/>
            </a:pPr>
            <a:r>
              <a:rPr lang="en-US">
                <a:latin typeface="Calibri"/>
                <a:ea typeface="Calibri"/>
                <a:cs typeface="Calibri"/>
                <a:sym typeface="Calibri"/>
              </a:rPr>
              <a:t>Pemberiaan antibiotik empiris</a:t>
            </a:r>
            <a:endParaRPr>
              <a:latin typeface="Calibri"/>
              <a:ea typeface="Calibri"/>
              <a:cs typeface="Calibri"/>
              <a:sym typeface="Calibri"/>
            </a:endParaRPr>
          </a:p>
          <a:p>
            <a:pPr indent="-342900" lvl="1" marL="914400" rtl="0" algn="l">
              <a:lnSpc>
                <a:spcPct val="110000"/>
              </a:lnSpc>
              <a:spcBef>
                <a:spcPts val="0"/>
              </a:spcBef>
              <a:spcAft>
                <a:spcPts val="0"/>
              </a:spcAft>
              <a:buSzPts val="1800"/>
              <a:buFont typeface="Calibri"/>
              <a:buAutoNum type="alphaLcPeriod"/>
            </a:pPr>
            <a:r>
              <a:rPr lang="en-US">
                <a:latin typeface="Calibri"/>
                <a:ea typeface="Calibri"/>
                <a:cs typeface="Calibri"/>
                <a:sym typeface="Calibri"/>
              </a:rPr>
              <a:t>IV Ceftazidime 250mg tiap 8 jam</a:t>
            </a:r>
            <a:endParaRPr>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26a07f40bfe_2_90"/>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TATA LAKSANA AKHIR GIZI BURUK</a:t>
            </a:r>
            <a:endParaRPr/>
          </a:p>
        </p:txBody>
      </p:sp>
      <p:sp>
        <p:nvSpPr>
          <p:cNvPr id="301" name="Google Shape;301;g26a07f40bfe_2_90"/>
          <p:cNvSpPr txBox="1"/>
          <p:nvPr/>
        </p:nvSpPr>
        <p:spPr>
          <a:xfrm>
            <a:off x="838200" y="1901825"/>
            <a:ext cx="5181600" cy="4351200"/>
          </a:xfrm>
          <a:prstGeom prst="rect">
            <a:avLst/>
          </a:prstGeom>
          <a:noFill/>
          <a:ln>
            <a:noFill/>
          </a:ln>
        </p:spPr>
        <p:txBody>
          <a:bodyPr anchorCtr="0" anchor="t" bIns="45700" lIns="91425" spcFirstLastPara="1" rIns="91425" wrap="square" tIns="45700">
            <a:noAutofit/>
          </a:bodyPr>
          <a:lstStyle/>
          <a:p>
            <a:pPr indent="-381000" lvl="0" marL="457200" marR="0" rtl="0" algn="l">
              <a:lnSpc>
                <a:spcPct val="90000"/>
              </a:lnSpc>
              <a:spcBef>
                <a:spcPts val="1000"/>
              </a:spcBef>
              <a:spcAft>
                <a:spcPts val="0"/>
              </a:spcAft>
              <a:buClr>
                <a:srgbClr val="000000"/>
              </a:buClr>
              <a:buSzPts val="2400"/>
              <a:buFont typeface="Arial"/>
              <a:buChar char="-"/>
            </a:pPr>
            <a:r>
              <a:rPr b="1" i="0" lang="en-US" sz="2400" u="none" cap="none" strike="noStrike">
                <a:solidFill>
                  <a:srgbClr val="000000"/>
                </a:solidFill>
                <a:latin typeface="Calibri"/>
                <a:ea typeface="Calibri"/>
                <a:cs typeface="Calibri"/>
                <a:sym typeface="Calibri"/>
              </a:rPr>
              <a:t>Stabilisasi</a:t>
            </a:r>
            <a:r>
              <a:rPr b="0" i="0" lang="en-US" sz="24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a:p>
            <a:pPr indent="-381000" lvl="1" marL="9144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Energi: 80-100 kal/kg/hari</a:t>
            </a:r>
            <a:endParaRPr b="0" i="0" sz="2400" u="none" cap="none" strike="noStrike">
              <a:solidFill>
                <a:srgbClr val="000000"/>
              </a:solidFill>
              <a:latin typeface="Calibri"/>
              <a:ea typeface="Calibri"/>
              <a:cs typeface="Calibri"/>
              <a:sym typeface="Calibri"/>
            </a:endParaRPr>
          </a:p>
          <a:p>
            <a:pPr indent="-381000" lvl="2" marL="13716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328-410 kal/hari</a:t>
            </a:r>
            <a:endParaRPr b="0" i="0" sz="2400" u="none" cap="none" strike="noStrike">
              <a:solidFill>
                <a:srgbClr val="000000"/>
              </a:solidFill>
              <a:latin typeface="Calibri"/>
              <a:ea typeface="Calibri"/>
              <a:cs typeface="Calibri"/>
              <a:sym typeface="Calibri"/>
            </a:endParaRPr>
          </a:p>
          <a:p>
            <a:pPr indent="-381000" lvl="1" marL="9144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Protein: 1-1.5 g/kg/hari</a:t>
            </a:r>
            <a:endParaRPr b="0" i="0" sz="2400" u="none" cap="none" strike="noStrike">
              <a:solidFill>
                <a:srgbClr val="000000"/>
              </a:solidFill>
              <a:latin typeface="Calibri"/>
              <a:ea typeface="Calibri"/>
              <a:cs typeface="Calibri"/>
              <a:sym typeface="Calibri"/>
            </a:endParaRPr>
          </a:p>
          <a:p>
            <a:pPr indent="-381000" lvl="2" marL="13716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4.1-6.15 g/hari</a:t>
            </a:r>
            <a:endParaRPr b="0" i="0" sz="2400" u="none" cap="none" strike="noStrike">
              <a:solidFill>
                <a:srgbClr val="000000"/>
              </a:solidFill>
              <a:latin typeface="Calibri"/>
              <a:ea typeface="Calibri"/>
              <a:cs typeface="Calibri"/>
              <a:sym typeface="Calibri"/>
            </a:endParaRPr>
          </a:p>
          <a:p>
            <a:pPr indent="-381000" lvl="1" marL="9144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Cairan: 130 ml/kg/hari</a:t>
            </a:r>
            <a:endParaRPr b="0" i="0" sz="2400" u="none" cap="none" strike="noStrike">
              <a:solidFill>
                <a:srgbClr val="000000"/>
              </a:solidFill>
              <a:latin typeface="Calibri"/>
              <a:ea typeface="Calibri"/>
              <a:cs typeface="Calibri"/>
              <a:sym typeface="Calibri"/>
            </a:endParaRPr>
          </a:p>
          <a:p>
            <a:pPr indent="-381000" lvl="2" marL="13716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533 ml/hari</a:t>
            </a:r>
            <a:endParaRPr b="0" i="0" sz="2400" u="none" cap="none" strike="noStrike">
              <a:solidFill>
                <a:srgbClr val="000000"/>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302" name="Google Shape;302;g26a07f40bfe_2_90"/>
          <p:cNvSpPr txBox="1"/>
          <p:nvPr/>
        </p:nvSpPr>
        <p:spPr>
          <a:xfrm>
            <a:off x="6172200" y="1901825"/>
            <a:ext cx="5181600" cy="4351200"/>
          </a:xfrm>
          <a:prstGeom prst="rect">
            <a:avLst/>
          </a:prstGeom>
          <a:noFill/>
          <a:ln>
            <a:noFill/>
          </a:ln>
        </p:spPr>
        <p:txBody>
          <a:bodyPr anchorCtr="0" anchor="t" bIns="45700" lIns="91425" spcFirstLastPara="1" rIns="91425" wrap="square" tIns="45700">
            <a:noAutofit/>
          </a:bodyPr>
          <a:lstStyle/>
          <a:p>
            <a:pPr indent="-381000" lvl="0" marL="457200" marR="0" rtl="0" algn="l">
              <a:lnSpc>
                <a:spcPct val="90000"/>
              </a:lnSpc>
              <a:spcBef>
                <a:spcPts val="1000"/>
              </a:spcBef>
              <a:spcAft>
                <a:spcPts val="0"/>
              </a:spcAft>
              <a:buClr>
                <a:srgbClr val="000000"/>
              </a:buClr>
              <a:buSzPts val="2400"/>
              <a:buFont typeface="Arial"/>
              <a:buChar char="-"/>
            </a:pPr>
            <a:r>
              <a:rPr b="1" i="0" lang="en-US" sz="2400" u="none" cap="none" strike="noStrike">
                <a:solidFill>
                  <a:srgbClr val="000000"/>
                </a:solidFill>
                <a:latin typeface="Calibri"/>
                <a:ea typeface="Calibri"/>
                <a:cs typeface="Calibri"/>
                <a:sym typeface="Calibri"/>
              </a:rPr>
              <a:t>Transisi</a:t>
            </a:r>
            <a:r>
              <a:rPr b="0" i="0" lang="en-US" sz="2400" u="none" cap="none" strike="noStrike">
                <a:solidFill>
                  <a:srgbClr val="000000"/>
                </a:solidFill>
                <a:latin typeface="Calibri"/>
                <a:ea typeface="Calibri"/>
                <a:cs typeface="Calibri"/>
                <a:sym typeface="Calibri"/>
              </a:rPr>
              <a:t>:</a:t>
            </a:r>
            <a:endParaRPr b="0" i="0" sz="2400" u="none" cap="none" strike="noStrike">
              <a:solidFill>
                <a:srgbClr val="000000"/>
              </a:solidFill>
              <a:latin typeface="Calibri"/>
              <a:ea typeface="Calibri"/>
              <a:cs typeface="Calibri"/>
              <a:sym typeface="Calibri"/>
            </a:endParaRPr>
          </a:p>
          <a:p>
            <a:pPr indent="-381000" lvl="1" marL="9144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Energi: 100-150 kal/kg/hari</a:t>
            </a:r>
            <a:endParaRPr b="0" i="0" sz="2400" u="none" cap="none" strike="noStrike">
              <a:solidFill>
                <a:srgbClr val="000000"/>
              </a:solidFill>
              <a:latin typeface="Calibri"/>
              <a:ea typeface="Calibri"/>
              <a:cs typeface="Calibri"/>
              <a:sym typeface="Calibri"/>
            </a:endParaRPr>
          </a:p>
          <a:p>
            <a:pPr indent="-381000" lvl="2" marL="13716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410-615 kal/hari</a:t>
            </a:r>
            <a:endParaRPr b="0" i="0" sz="2400" u="none" cap="none" strike="noStrike">
              <a:solidFill>
                <a:srgbClr val="000000"/>
              </a:solidFill>
              <a:latin typeface="Calibri"/>
              <a:ea typeface="Calibri"/>
              <a:cs typeface="Calibri"/>
              <a:sym typeface="Calibri"/>
            </a:endParaRPr>
          </a:p>
          <a:p>
            <a:pPr indent="-381000" lvl="1" marL="9144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Protein: 2-3 g/kg/hari</a:t>
            </a:r>
            <a:endParaRPr b="0" i="0" sz="2400" u="none" cap="none" strike="noStrike">
              <a:solidFill>
                <a:srgbClr val="000000"/>
              </a:solidFill>
              <a:latin typeface="Calibri"/>
              <a:ea typeface="Calibri"/>
              <a:cs typeface="Calibri"/>
              <a:sym typeface="Calibri"/>
            </a:endParaRPr>
          </a:p>
          <a:p>
            <a:pPr indent="-381000" lvl="2" marL="13716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8.2-12.3 g/hari</a:t>
            </a:r>
            <a:endParaRPr b="0" i="0" sz="2400" u="none" cap="none" strike="noStrike">
              <a:solidFill>
                <a:srgbClr val="000000"/>
              </a:solidFill>
              <a:latin typeface="Calibri"/>
              <a:ea typeface="Calibri"/>
              <a:cs typeface="Calibri"/>
              <a:sym typeface="Calibri"/>
            </a:endParaRPr>
          </a:p>
          <a:p>
            <a:pPr indent="0" lvl="0" marL="1371600" marR="0" rtl="0" algn="l">
              <a:lnSpc>
                <a:spcPct val="90000"/>
              </a:lnSpc>
              <a:spcBef>
                <a:spcPts val="100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a:p>
            <a:pPr indent="-381000" lvl="0" marL="457200" marR="0" rtl="0" algn="l">
              <a:lnSpc>
                <a:spcPct val="90000"/>
              </a:lnSpc>
              <a:spcBef>
                <a:spcPts val="1000"/>
              </a:spcBef>
              <a:spcAft>
                <a:spcPts val="0"/>
              </a:spcAft>
              <a:buClr>
                <a:srgbClr val="000000"/>
              </a:buClr>
              <a:buSzPts val="2400"/>
              <a:buFont typeface="Arial"/>
              <a:buChar char="-"/>
            </a:pPr>
            <a:r>
              <a:rPr b="1" i="0" lang="en-US" sz="2400" u="none" cap="none" strike="noStrike">
                <a:solidFill>
                  <a:srgbClr val="000000"/>
                </a:solidFill>
                <a:latin typeface="Calibri"/>
                <a:ea typeface="Calibri"/>
                <a:cs typeface="Calibri"/>
                <a:sym typeface="Calibri"/>
              </a:rPr>
              <a:t>Rehabilitasi</a:t>
            </a:r>
            <a:r>
              <a:rPr b="0" i="0" lang="en-US" sz="2400" u="none" cap="none" strike="noStrike">
                <a:solidFill>
                  <a:srgbClr val="000000"/>
                </a:solidFill>
                <a:latin typeface="Calibri"/>
                <a:ea typeface="Calibri"/>
                <a:cs typeface="Calibri"/>
                <a:sym typeface="Calibri"/>
              </a:rPr>
              <a:t>:</a:t>
            </a:r>
            <a:endParaRPr b="0" i="0" sz="2400" u="none" cap="none" strike="noStrike">
              <a:solidFill>
                <a:srgbClr val="000000"/>
              </a:solidFill>
              <a:latin typeface="Calibri"/>
              <a:ea typeface="Calibri"/>
              <a:cs typeface="Calibri"/>
              <a:sym typeface="Calibri"/>
            </a:endParaRPr>
          </a:p>
          <a:p>
            <a:pPr indent="-381000" lvl="1" marL="9144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Energi: 150-220 kal/kg/hari</a:t>
            </a:r>
            <a:endParaRPr b="0" i="0" sz="2400" u="none" cap="none" strike="noStrike">
              <a:solidFill>
                <a:srgbClr val="000000"/>
              </a:solidFill>
              <a:latin typeface="Calibri"/>
              <a:ea typeface="Calibri"/>
              <a:cs typeface="Calibri"/>
              <a:sym typeface="Calibri"/>
            </a:endParaRPr>
          </a:p>
          <a:p>
            <a:pPr indent="-342900" lvl="2" marL="1371600" marR="0" rtl="0" algn="l">
              <a:lnSpc>
                <a:spcPct val="90000"/>
              </a:lnSpc>
              <a:spcBef>
                <a:spcPts val="0"/>
              </a:spcBef>
              <a:spcAft>
                <a:spcPts val="0"/>
              </a:spcAft>
              <a:buClr>
                <a:srgbClr val="000000"/>
              </a:buClr>
              <a:buSzPts val="1800"/>
              <a:buFont typeface="Arial"/>
              <a:buChar char="-"/>
            </a:pPr>
            <a:r>
              <a:rPr b="0" i="0" lang="en-US" sz="2000" u="none" cap="none" strike="noStrike">
                <a:solidFill>
                  <a:srgbClr val="000000"/>
                </a:solidFill>
                <a:latin typeface="Calibri"/>
                <a:ea typeface="Calibri"/>
                <a:cs typeface="Calibri"/>
                <a:sym typeface="Calibri"/>
              </a:rPr>
              <a:t>615-902 kal/hari</a:t>
            </a:r>
            <a:endParaRPr b="0" i="0" sz="2000" u="none" cap="none" strike="noStrike">
              <a:solidFill>
                <a:srgbClr val="000000"/>
              </a:solidFill>
              <a:latin typeface="Calibri"/>
              <a:ea typeface="Calibri"/>
              <a:cs typeface="Calibri"/>
              <a:sym typeface="Calibri"/>
            </a:endParaRPr>
          </a:p>
          <a:p>
            <a:pPr indent="-381000" lvl="1" marL="914400" marR="0" rtl="0" algn="l">
              <a:lnSpc>
                <a:spcPct val="9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Protein: 3-4 g/kg/hari</a:t>
            </a:r>
            <a:endParaRPr b="0" i="0" sz="2400" u="none" cap="none" strike="noStrike">
              <a:solidFill>
                <a:srgbClr val="000000"/>
              </a:solidFill>
              <a:latin typeface="Calibri"/>
              <a:ea typeface="Calibri"/>
              <a:cs typeface="Calibri"/>
              <a:sym typeface="Calibri"/>
            </a:endParaRPr>
          </a:p>
          <a:p>
            <a:pPr indent="-342900" lvl="2" marL="1371600" marR="0" rtl="0" algn="l">
              <a:lnSpc>
                <a:spcPct val="90000"/>
              </a:lnSpc>
              <a:spcBef>
                <a:spcPts val="0"/>
              </a:spcBef>
              <a:spcAft>
                <a:spcPts val="0"/>
              </a:spcAft>
              <a:buClr>
                <a:srgbClr val="000000"/>
              </a:buClr>
              <a:buSzPts val="1800"/>
              <a:buFont typeface="Arial"/>
              <a:buChar char="-"/>
            </a:pPr>
            <a:r>
              <a:rPr b="0" i="0" lang="en-US" sz="2000" u="none" cap="none" strike="noStrike">
                <a:solidFill>
                  <a:srgbClr val="000000"/>
                </a:solidFill>
                <a:latin typeface="Calibri"/>
                <a:ea typeface="Calibri"/>
                <a:cs typeface="Calibri"/>
                <a:sym typeface="Calibri"/>
              </a:rPr>
              <a:t>12.3-16.4 g/hari</a:t>
            </a:r>
            <a:endParaRPr b="0" i="0" sz="2000" u="none" cap="none" strike="noStrike">
              <a:solidFill>
                <a:srgbClr val="000000"/>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2800"/>
              <a:buFont typeface="Arial"/>
              <a:buNone/>
            </a:pPr>
            <a:r>
              <a:t/>
            </a:r>
            <a:endParaRPr b="0" i="0" sz="2800" u="none" cap="none" strike="noStrik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7"/>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p>
            <a:pPr indent="0" lvl="0" marL="0" rtl="0" algn="r">
              <a:lnSpc>
                <a:spcPct val="80000"/>
              </a:lnSpc>
              <a:spcBef>
                <a:spcPts val="0"/>
              </a:spcBef>
              <a:spcAft>
                <a:spcPts val="0"/>
              </a:spcAft>
              <a:buClr>
                <a:srgbClr val="0C0C0C"/>
              </a:buClr>
              <a:buSzPts val="5000"/>
              <a:buFont typeface="Twentieth Century"/>
              <a:buNone/>
            </a:pPr>
            <a:r>
              <a:rPr lang="en-US"/>
              <a:t>TERIMA KASIH</a:t>
            </a:r>
            <a:endParaRPr/>
          </a:p>
        </p:txBody>
      </p:sp>
      <p:sp>
        <p:nvSpPr>
          <p:cNvPr id="308" name="Google Shape;308;p17"/>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2018-12-02T03:53:00Z</dcterms:created>
  <dc:creator>wira febri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1033-11.2.0.9431</vt:lpwstr>
  </property>
</Properties>
</file>