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Tahom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77FEC9-6DFF-42A3-B56C-3A8664D8C4AF}">
  <a:tblStyle styleId="{6377FEC9-6DFF-42A3-B56C-3A8664D8C4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29F9A03-8583-4116-814D-CF94013DD00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A5845143-E298-4729-91D5-D1D4C1D70E30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font" Target="fonts/Tahoma-bold.fntdata"/><Relationship Id="rId12" Type="http://schemas.openxmlformats.org/officeDocument/2006/relationships/slide" Target="slides/slide5.xml"/><Relationship Id="rId23" Type="http://schemas.openxmlformats.org/officeDocument/2006/relationships/font" Target="fonts/Tahom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8f0a777974_0_4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28f0a777974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28f0a777974_0_4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8f0a777974_0_4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28f0a777974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8f0a777974_0_4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f0a777974_0_4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8f0a777974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28f0a777974_0_4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f0a777974_0_4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8f0a777974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28f0a777974_0_4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f0a777974_0_5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8f0a777974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28f0a777974_0_5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f0a777974_0_5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8f0a777974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8f0a777974_0_5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8f0a777974_0_5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28f0a777974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28f0a777974_0_5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8f0a777974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28f0a777974_0_5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8f0a777974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28f0a777974_0_5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8f0a777974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8f0a777974_0_5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8f0a777974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28f0a777974_0_5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8f0a777974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28f0a777974_0_5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8f0a777974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8f0a777974_0_5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8f0a777974_0_5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28f0a777974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8f0a777974_0_5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8f0a777974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8f0a777974_0_5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685800" y="1597823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457200" y="120015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2" name="Google Shape;72;p16"/>
          <p:cNvSpPr txBox="1"/>
          <p:nvPr>
            <p:ph idx="2" type="body"/>
          </p:nvPr>
        </p:nvSpPr>
        <p:spPr>
          <a:xfrm>
            <a:off x="4648200" y="120015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rtl="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57200" y="1151336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45026" y="1151336"/>
            <a:ext cx="4041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45026" y="1631156"/>
            <a:ext cx="40416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57202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575052" y="204792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457202" y="1076327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874750" y="-1217398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463750" y="1371633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272750" y="-609567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52400" y="114300"/>
            <a:ext cx="8839200" cy="491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24200" y="4767266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685800" y="1597823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LAPORAN JAGA IGD</a:t>
            </a:r>
            <a:br>
              <a:rPr lang="en"/>
            </a:br>
            <a:r>
              <a:rPr lang="en"/>
              <a:t>Selasa, 14 Mei 2024</a:t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"/>
              <a:t>Mahasiswa: </a:t>
            </a:r>
            <a:endParaRPr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"/>
              <a:t>DPJP IGD: </a:t>
            </a:r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1280774" y="-413317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ara-ui-fk.png" id="134" name="Google Shape;1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706" y="357504"/>
            <a:ext cx="838200" cy="1126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1975" y="434100"/>
            <a:ext cx="2792500" cy="6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Identitas </a:t>
            </a:r>
            <a:endParaRPr/>
          </a:p>
        </p:txBody>
      </p:sp>
      <p:graphicFrame>
        <p:nvGraphicFramePr>
          <p:cNvPr id="142" name="Google Shape;142;p26"/>
          <p:cNvGraphicFramePr/>
          <p:nvPr/>
        </p:nvGraphicFramePr>
        <p:xfrm>
          <a:off x="457200" y="10846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{6377FEC9-6DFF-42A3-B56C-3A8664D8C4AF}</a:tableStyleId>
              </a:tblPr>
              <a:tblGrid>
                <a:gridCol w="1732675"/>
                <a:gridCol w="4155050"/>
              </a:tblGrid>
              <a:tr h="31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 u="none" cap="none" strike="noStrike"/>
                        <a:t>Nama</a:t>
                      </a:r>
                      <a:endParaRPr b="1" sz="19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67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900"/>
                        <a:t>: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Jenis kelamin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67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900"/>
                        <a:t>: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Usia/perawatan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67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900"/>
                        <a:t>:</a:t>
                      </a:r>
                      <a:endParaRPr b="0" sz="19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Usia gestasi</a:t>
                      </a:r>
                      <a:endParaRPr b="1" sz="19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67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900"/>
                        <a:t>: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Berat lahir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67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900"/>
                        <a:t>:      gram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No. RM</a:t>
                      </a:r>
                      <a:endParaRPr b="1" sz="19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03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900"/>
                        <a:t> :</a:t>
                      </a:r>
                      <a:endParaRPr b="0" sz="19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/>
                        <a:t>Alamat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67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900"/>
                        <a:t>:</a:t>
                      </a:r>
                      <a:endParaRPr b="0" sz="19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67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4" name="Google Shape;144;p26"/>
          <p:cNvGrpSpPr/>
          <p:nvPr/>
        </p:nvGrpSpPr>
        <p:grpSpPr>
          <a:xfrm>
            <a:off x="449721" y="3559171"/>
            <a:ext cx="8237025" cy="1334520"/>
            <a:chOff x="0" y="6849"/>
            <a:chExt cx="10982700" cy="1779360"/>
          </a:xfrm>
        </p:grpSpPr>
        <p:sp>
          <p:nvSpPr>
            <p:cNvPr id="145" name="Google Shape;145;p26"/>
            <p:cNvSpPr/>
            <p:nvPr/>
          </p:nvSpPr>
          <p:spPr>
            <a:xfrm>
              <a:off x="0" y="368709"/>
              <a:ext cx="10982700" cy="14175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6"/>
            <p:cNvSpPr txBox="1"/>
            <p:nvPr/>
          </p:nvSpPr>
          <p:spPr>
            <a:xfrm>
              <a:off x="0" y="368709"/>
              <a:ext cx="10982700" cy="14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639275" spcFirstLastPara="1" rIns="639275" wrap="square" tIns="390525">
              <a:noAutofit/>
            </a:bodyPr>
            <a:lstStyle/>
            <a:p>
              <a:pPr indent="-635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549138" y="6849"/>
              <a:ext cx="7687800" cy="738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6"/>
            <p:cNvSpPr txBox="1"/>
            <p:nvPr/>
          </p:nvSpPr>
          <p:spPr>
            <a:xfrm>
              <a:off x="585164" y="42875"/>
              <a:ext cx="7615800" cy="66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925" spcFirstLastPara="1" rIns="217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lang="e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Keluhan Utama</a:t>
              </a:r>
              <a:endPara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7"/>
          <p:cNvGrpSpPr/>
          <p:nvPr/>
        </p:nvGrpSpPr>
        <p:grpSpPr>
          <a:xfrm>
            <a:off x="457200" y="291148"/>
            <a:ext cx="8229600" cy="4561316"/>
            <a:chOff x="0" y="19537"/>
            <a:chExt cx="10972800" cy="6081755"/>
          </a:xfrm>
        </p:grpSpPr>
        <p:sp>
          <p:nvSpPr>
            <p:cNvPr id="155" name="Google Shape;155;p27"/>
            <p:cNvSpPr/>
            <p:nvPr/>
          </p:nvSpPr>
          <p:spPr>
            <a:xfrm>
              <a:off x="0" y="180347"/>
              <a:ext cx="10972800" cy="36132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7"/>
            <p:cNvSpPr txBox="1"/>
            <p:nvPr/>
          </p:nvSpPr>
          <p:spPr>
            <a:xfrm>
              <a:off x="0" y="180347"/>
              <a:ext cx="10972800" cy="36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75" lIns="638700" spcFirstLastPara="1" rIns="638700" wrap="square" tIns="296800">
              <a:noAutofit/>
            </a:bodyPr>
            <a:lstStyle/>
            <a:p>
              <a:pPr indent="-50800" lvl="1" marL="12700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0800" lvl="1" marL="127000" marR="0" rtl="0" algn="just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548640" y="19537"/>
              <a:ext cx="7680900" cy="4413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7"/>
            <p:cNvSpPr txBox="1"/>
            <p:nvPr/>
          </p:nvSpPr>
          <p:spPr>
            <a:xfrm>
              <a:off x="570180" y="41077"/>
              <a:ext cx="76380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725" spcFirstLastPara="1" rIns="217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KONSULTASI ANTENATAL</a:t>
              </a:r>
              <a:endParaRPr sz="1100"/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0" y="4126092"/>
              <a:ext cx="10972800" cy="19752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7"/>
            <p:cNvSpPr txBox="1"/>
            <p:nvPr/>
          </p:nvSpPr>
          <p:spPr>
            <a:xfrm>
              <a:off x="0" y="4126092"/>
              <a:ext cx="10972800" cy="19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000" lIns="638700" spcFirstLastPara="1" rIns="638700" wrap="square" tIns="296800">
              <a:noAutofit/>
            </a:bodyPr>
            <a:lstStyle/>
            <a:p>
              <a:pPr indent="-38100" lvl="1" marL="127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" lvl="1" marL="1270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548640" y="3896232"/>
              <a:ext cx="7680900" cy="510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7"/>
            <p:cNvSpPr txBox="1"/>
            <p:nvPr/>
          </p:nvSpPr>
          <p:spPr>
            <a:xfrm>
              <a:off x="573551" y="3921143"/>
              <a:ext cx="7631100" cy="4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725" spcFirstLastPara="1" rIns="217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USG FETOMATERNAL</a:t>
              </a:r>
              <a:endParaRPr sz="1100"/>
            </a:p>
          </p:txBody>
        </p:sp>
      </p:grp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28"/>
          <p:cNvGrpSpPr/>
          <p:nvPr/>
        </p:nvGrpSpPr>
        <p:grpSpPr>
          <a:xfrm>
            <a:off x="457200" y="1200150"/>
            <a:ext cx="8229600" cy="3388374"/>
            <a:chOff x="0" y="0"/>
            <a:chExt cx="10972800" cy="4517832"/>
          </a:xfrm>
        </p:grpSpPr>
        <p:sp>
          <p:nvSpPr>
            <p:cNvPr id="171" name="Google Shape;171;p28"/>
            <p:cNvSpPr/>
            <p:nvPr/>
          </p:nvSpPr>
          <p:spPr>
            <a:xfrm>
              <a:off x="0" y="41156"/>
              <a:ext cx="10972800" cy="12852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rgbClr val="49AC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8"/>
            <p:cNvSpPr txBox="1"/>
            <p:nvPr/>
          </p:nvSpPr>
          <p:spPr>
            <a:xfrm>
              <a:off x="0" y="41156"/>
              <a:ext cx="109728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3350" lIns="638700" spcFirstLastPara="1" rIns="638700" wrap="square" tIns="249925">
              <a:noAutofit/>
            </a:bodyPr>
            <a:lstStyle/>
            <a:p>
              <a:pPr indent="-635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582864" y="0"/>
              <a:ext cx="8615400" cy="257100"/>
            </a:xfrm>
            <a:prstGeom prst="roundRect">
              <a:avLst>
                <a:gd fmla="val 16667" name="adj"/>
              </a:avLst>
            </a:prstGeom>
            <a:solidFill>
              <a:srgbClr val="49ACC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8"/>
            <p:cNvSpPr txBox="1"/>
            <p:nvPr/>
          </p:nvSpPr>
          <p:spPr>
            <a:xfrm>
              <a:off x="595408" y="12544"/>
              <a:ext cx="8590200" cy="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725" spcFirstLastPara="1" rIns="217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1" i="0" lang="en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RIWAYAT PERSALINAN SEBELUMNYA</a:t>
              </a:r>
              <a:endParaRPr sz="1100"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0" y="1425144"/>
              <a:ext cx="10972800" cy="12852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rgbClr val="5FDF4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8"/>
            <p:cNvSpPr txBox="1"/>
            <p:nvPr/>
          </p:nvSpPr>
          <p:spPr>
            <a:xfrm>
              <a:off x="0" y="1425144"/>
              <a:ext cx="109728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3350" lIns="638700" spcFirstLastPara="1" rIns="638700" wrap="square" tIns="249925">
              <a:noAutofit/>
            </a:bodyPr>
            <a:lstStyle/>
            <a:p>
              <a:pPr indent="-635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548640" y="1400594"/>
              <a:ext cx="8683800" cy="252300"/>
            </a:xfrm>
            <a:prstGeom prst="roundRect">
              <a:avLst>
                <a:gd fmla="val 16667" name="adj"/>
              </a:avLst>
            </a:prstGeom>
            <a:solidFill>
              <a:srgbClr val="5FDF4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8"/>
            <p:cNvSpPr txBox="1"/>
            <p:nvPr/>
          </p:nvSpPr>
          <p:spPr>
            <a:xfrm>
              <a:off x="560961" y="1412915"/>
              <a:ext cx="8659200" cy="2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725" spcFirstLastPara="1" rIns="217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1" i="0" lang="en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RIWAYAT PENYAKIT DAHULU</a:t>
              </a:r>
              <a:endParaRPr sz="1100"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0" y="2811732"/>
              <a:ext cx="10972800" cy="17061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rgbClr val="F69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8"/>
            <p:cNvSpPr txBox="1"/>
            <p:nvPr/>
          </p:nvSpPr>
          <p:spPr>
            <a:xfrm>
              <a:off x="0" y="2811732"/>
              <a:ext cx="10972800" cy="17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3350" lIns="638700" spcFirstLastPara="1" rIns="638700" wrap="square" tIns="249925">
              <a:noAutofit/>
            </a:bodyPr>
            <a:lstStyle/>
            <a:p>
              <a:pPr indent="-635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350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548640" y="2788423"/>
              <a:ext cx="8683800" cy="259500"/>
            </a:xfrm>
            <a:prstGeom prst="roundRect">
              <a:avLst>
                <a:gd fmla="val 16667" name="adj"/>
              </a:avLst>
            </a:prstGeom>
            <a:solidFill>
              <a:srgbClr val="F69444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8"/>
            <p:cNvSpPr txBox="1"/>
            <p:nvPr/>
          </p:nvSpPr>
          <p:spPr>
            <a:xfrm>
              <a:off x="561306" y="2801089"/>
              <a:ext cx="86586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725" spcFirstLastPara="1" rIns="217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b="1" i="0" lang="en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RIWAYAT PENYAKIT KELUARGA</a:t>
              </a:r>
              <a:endParaRPr sz="1100"/>
            </a:p>
          </p:txBody>
        </p:sp>
      </p:grp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29"/>
          <p:cNvGrpSpPr/>
          <p:nvPr/>
        </p:nvGrpSpPr>
        <p:grpSpPr>
          <a:xfrm>
            <a:off x="457200" y="1200150"/>
            <a:ext cx="8229600" cy="2456748"/>
            <a:chOff x="0" y="0"/>
            <a:chExt cx="10972800" cy="3275664"/>
          </a:xfrm>
        </p:grpSpPr>
        <p:sp>
          <p:nvSpPr>
            <p:cNvPr id="191" name="Google Shape;191;p29"/>
            <p:cNvSpPr/>
            <p:nvPr/>
          </p:nvSpPr>
          <p:spPr>
            <a:xfrm>
              <a:off x="0" y="483864"/>
              <a:ext cx="10972800" cy="27918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9"/>
            <p:cNvSpPr txBox="1"/>
            <p:nvPr/>
          </p:nvSpPr>
          <p:spPr>
            <a:xfrm>
              <a:off x="0" y="483864"/>
              <a:ext cx="10972800" cy="279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638700" spcFirstLastPara="1" rIns="638700" wrap="square" tIns="827900">
              <a:noAutofit/>
            </a:bodyPr>
            <a:lstStyle/>
            <a:p>
              <a:pPr indent="-88900" lvl="1" marL="2032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8900" lvl="1" marL="2032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8900" lvl="1" marL="2032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8900" lvl="1" marL="2032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522420" y="0"/>
              <a:ext cx="9723600" cy="8961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9"/>
            <p:cNvSpPr txBox="1"/>
            <p:nvPr/>
          </p:nvSpPr>
          <p:spPr>
            <a:xfrm>
              <a:off x="566159" y="43739"/>
              <a:ext cx="9636000" cy="8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725" spcFirstLastPara="1" rIns="217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b="1" i="0" lang="en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Persiapan Pertolongan Persalinan</a:t>
              </a:r>
              <a:endParaRPr b="1" i="0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457200" y="1726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Resusitasi neonatus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457200" y="874514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Bayi lahir secara ……… (proses persalinan</a:t>
            </a:r>
            <a:endParaRPr sz="1800"/>
          </a:p>
          <a:p>
            <a:pPr indent="-139700" lvl="0" marL="25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202" name="Google Shape;202;p30"/>
          <p:cNvGraphicFramePr/>
          <p:nvPr/>
        </p:nvGraphicFramePr>
        <p:xfrm>
          <a:off x="457200" y="19236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{929F9A03-8583-4116-814D-CF94013DD00D}</a:tableStyleId>
              </a:tblPr>
              <a:tblGrid>
                <a:gridCol w="580775"/>
                <a:gridCol w="933575"/>
                <a:gridCol w="798275"/>
                <a:gridCol w="871325"/>
                <a:gridCol w="630725"/>
                <a:gridCol w="630725"/>
                <a:gridCol w="611725"/>
                <a:gridCol w="3172550"/>
              </a:tblGrid>
              <a:tr h="39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Usia (mnt)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Apnoe/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merintih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Retraksi/NCH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Tonus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SpO2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Nadi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Suhu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Tindakan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64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4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5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4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10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4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15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Stabilisasi (S.T.A.B.L.E)</a:t>
            </a:r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Safe care &amp; sugar :  mg/dL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Temperature :  C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Airway: 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Blood pressure: CRT     detik, nadi       x/menit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Lab works: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Emotional support:</a:t>
            </a:r>
            <a:endParaRPr/>
          </a:p>
        </p:txBody>
      </p:sp>
      <p:sp>
        <p:nvSpPr>
          <p:cNvPr id="210" name="Google Shape;210;p31"/>
          <p:cNvSpPr/>
          <p:nvPr/>
        </p:nvSpPr>
        <p:spPr>
          <a:xfrm>
            <a:off x="1377051" y="4390412"/>
            <a:ext cx="6390000" cy="378000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DAE5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Kesan: ……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Antropometri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457200" y="1200152"/>
            <a:ext cx="2870700" cy="3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BB :      gram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TB :     cm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LK :     cm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Ballard score:  minggu</a:t>
            </a:r>
            <a:endParaRPr/>
          </a:p>
        </p:txBody>
      </p:sp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558388" y="3531575"/>
            <a:ext cx="2651700" cy="810000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Kesan:   </a:t>
            </a:r>
            <a:endParaRPr sz="1100"/>
          </a:p>
        </p:txBody>
      </p:sp>
      <p:sp>
        <p:nvSpPr>
          <p:cNvPr id="219" name="Google Shape;219;p32"/>
          <p:cNvSpPr/>
          <p:nvPr/>
        </p:nvSpPr>
        <p:spPr>
          <a:xfrm>
            <a:off x="6211897" y="2949792"/>
            <a:ext cx="34200" cy="540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4265" y="862957"/>
            <a:ext cx="2873303" cy="3797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8174" y="903304"/>
            <a:ext cx="2819764" cy="3757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Pemeriksaan Fisis</a:t>
            </a:r>
            <a:endParaRPr/>
          </a:p>
        </p:txBody>
      </p:sp>
      <p:grpSp>
        <p:nvGrpSpPr>
          <p:cNvPr id="227" name="Google Shape;227;p33"/>
          <p:cNvGrpSpPr/>
          <p:nvPr/>
        </p:nvGrpSpPr>
        <p:grpSpPr>
          <a:xfrm>
            <a:off x="457200" y="1245644"/>
            <a:ext cx="8229600" cy="3218277"/>
            <a:chOff x="0" y="60659"/>
            <a:chExt cx="10972800" cy="4291036"/>
          </a:xfrm>
        </p:grpSpPr>
        <p:sp>
          <p:nvSpPr>
            <p:cNvPr id="228" name="Google Shape;228;p33"/>
            <p:cNvSpPr/>
            <p:nvPr/>
          </p:nvSpPr>
          <p:spPr>
            <a:xfrm>
              <a:off x="0" y="370619"/>
              <a:ext cx="10972800" cy="12237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3"/>
            <p:cNvSpPr txBox="1"/>
            <p:nvPr/>
          </p:nvSpPr>
          <p:spPr>
            <a:xfrm>
              <a:off x="0" y="370619"/>
              <a:ext cx="109728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2025" lIns="638700" spcFirstLastPara="1" rIns="638700" wrap="square" tIns="328025">
              <a:noAutofit/>
            </a:bodyPr>
            <a:lstStyle/>
            <a:p>
              <a:pPr indent="-762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7620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548640" y="60659"/>
              <a:ext cx="7680900" cy="6198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3"/>
            <p:cNvSpPr txBox="1"/>
            <p:nvPr/>
          </p:nvSpPr>
          <p:spPr>
            <a:xfrm>
              <a:off x="578902" y="90921"/>
              <a:ext cx="7620300" cy="55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725" spcFirstLastPara="1" rIns="217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lang="en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Keadaan Umum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33"/>
            <p:cNvSpPr/>
            <p:nvPr/>
          </p:nvSpPr>
          <p:spPr>
            <a:xfrm>
              <a:off x="0" y="1903995"/>
              <a:ext cx="10972800" cy="2447700"/>
            </a:xfrm>
            <a:prstGeom prst="rect">
              <a:avLst/>
            </a:prstGeom>
            <a:solidFill>
              <a:schemeClr val="lt1">
                <a:alpha val="89800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3"/>
            <p:cNvSpPr txBox="1"/>
            <p:nvPr/>
          </p:nvSpPr>
          <p:spPr>
            <a:xfrm>
              <a:off x="0" y="1903995"/>
              <a:ext cx="10972800" cy="24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2675" lIns="638700" spcFirstLastPara="1" rIns="638700" wrap="square" tIns="328025">
              <a:noAutofit/>
            </a:bodyPr>
            <a:lstStyle/>
            <a:p>
              <a:pPr indent="-63500" lvl="1" marL="1778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Denyut jantung	:    x/menit</a:t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Laju napas		:   x/menit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Suhu			:     C</a:t>
              </a:r>
              <a:endParaRPr sz="1100"/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Char char="•"/>
              </a:pPr>
              <a:r>
                <a:rPr b="0" i="0" lang="e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Saturasi O</a:t>
              </a:r>
              <a:r>
                <a:rPr b="0" baseline="-25000" i="0" lang="e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		</a:t>
              </a:r>
              <a:r>
                <a:rPr b="0" i="0" lang="e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   %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33"/>
            <p:cNvSpPr/>
            <p:nvPr/>
          </p:nvSpPr>
          <p:spPr>
            <a:xfrm>
              <a:off x="548640" y="1707794"/>
              <a:ext cx="7680900" cy="6198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3"/>
            <p:cNvSpPr txBox="1"/>
            <p:nvPr/>
          </p:nvSpPr>
          <p:spPr>
            <a:xfrm>
              <a:off x="578902" y="1738056"/>
              <a:ext cx="7620300" cy="55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17725" spcFirstLastPara="1" rIns="217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lang="en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Tanda Vital</a:t>
              </a:r>
              <a:endParaRPr b="1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33"/>
          <p:cNvSpPr txBox="1"/>
          <p:nvPr>
            <p:ph idx="12" type="sldNum"/>
          </p:nvPr>
        </p:nvSpPr>
        <p:spPr>
          <a:xfrm>
            <a:off x="6553200" y="476726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34"/>
          <p:cNvGraphicFramePr/>
          <p:nvPr/>
        </p:nvGraphicFramePr>
        <p:xfrm>
          <a:off x="457200" y="2563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{A5845143-E298-4729-91D5-D1D4C1D70E30}</a:tableStyleId>
              </a:tblPr>
              <a:tblGrid>
                <a:gridCol w="1428275"/>
                <a:gridCol w="6801325"/>
              </a:tblGrid>
              <a:tr h="27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DESKRIPSI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BACC6"/>
                    </a:solidFill>
                  </a:tcPr>
                </a:tc>
              </a:tr>
              <a:tr h="4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Kepala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Mata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THT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Mulut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Dada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6750" marL="36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Jantung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6750" marL="36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Paru</a:t>
                      </a:r>
                      <a:endParaRPr sz="1100"/>
                    </a:p>
                  </a:txBody>
                  <a:tcPr marT="25725" marB="25725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6750" marL="36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Abdomen</a:t>
                      </a:r>
                      <a:endParaRPr sz="1100"/>
                    </a:p>
                  </a:txBody>
                  <a:tcPr marT="25700" marB="25700" marR="49000" marL="49000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700" marB="25700" marR="49000" marL="49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Ekstremitas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575" marL="3857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575" marL="3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Genitalia</a:t>
                      </a:r>
                      <a:endParaRPr sz="1100"/>
                    </a:p>
                  </a:txBody>
                  <a:tcPr marT="0" marB="0" marR="38575" marL="38575" anchor="ctr">
                    <a:lnL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38575" marL="3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AA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Diagnosis (ICD 10)</a:t>
            </a:r>
            <a:endParaRPr/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457200" y="1200150"/>
            <a:ext cx="6923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143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48" name="Google Shape;248;p35"/>
          <p:cNvSpPr txBox="1"/>
          <p:nvPr>
            <p:ph idx="2" type="body"/>
          </p:nvPr>
        </p:nvSpPr>
        <p:spPr>
          <a:xfrm>
            <a:off x="4648200" y="120015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				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Laboratorium</a:t>
            </a:r>
            <a:endParaRPr/>
          </a:p>
        </p:txBody>
      </p:sp>
      <p:graphicFrame>
        <p:nvGraphicFramePr>
          <p:cNvPr id="254" name="Google Shape;254;p36"/>
          <p:cNvGraphicFramePr/>
          <p:nvPr/>
        </p:nvGraphicFramePr>
        <p:xfrm>
          <a:off x="45720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{6377FEC9-6DFF-42A3-B56C-3A8664D8C4AF}</a:tableStyleId>
              </a:tblPr>
              <a:tblGrid>
                <a:gridCol w="1091750"/>
                <a:gridCol w="1091750"/>
                <a:gridCol w="1091750"/>
                <a:gridCol w="1091750"/>
              </a:tblGrid>
              <a:tr h="38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Pemeriksaan </a:t>
                      </a:r>
                      <a:endParaRPr b="1" sz="12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500" marB="19500" marR="19500" marL="19500" anchor="ctr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Nilai Rujukan</a:t>
                      </a:r>
                      <a:endParaRPr b="1" sz="12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500" marB="19500" marR="19500" marL="19500" anchor="ctr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Unit</a:t>
                      </a:r>
                      <a:endParaRPr b="1" sz="12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500" marB="19500" marR="19500" marL="19500" anchor="ctr"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Hasil</a:t>
                      </a:r>
                      <a:endParaRPr b="1" sz="12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500" marB="19500" marR="19500" marL="19500" anchor="ctr">
                    <a:solidFill>
                      <a:srgbClr val="8CB3E3"/>
                    </a:solidFill>
                  </a:tcPr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Hemoglobin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14.0 - 22.0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g/dL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Hematokrit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24.0 - 75.0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%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Eritrosit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5.00 - 7.00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10^6/µL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32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MCV/VER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100.0 - 120.0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MCH/HER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31.0 - 37.0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pg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MCHC/KHER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30.0 - 36.0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g/dL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38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Jumlah Trombosit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100 - 450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10^3/µL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38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Jumlah Leukosit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10.00 - 26.00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10^3/µL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Basofil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0 - 2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%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Eosinofil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1 - 6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%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Neutrofil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40.0 - 80.0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%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Limfosit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20 - 40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%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  <a:tr h="2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Monosit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2 - 10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%</a:t>
                      </a:r>
                      <a:endParaRPr sz="1200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19500" marB="19500" marR="19500" marL="19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500" marB="19500" marR="19500" marL="19500" anchor="ctr"/>
                </a:tc>
              </a:tr>
            </a:tbl>
          </a:graphicData>
        </a:graphic>
      </p:graphicFrame>
      <p:sp>
        <p:nvSpPr>
          <p:cNvPr id="255" name="Google Shape;255;p36"/>
          <p:cNvSpPr txBox="1"/>
          <p:nvPr/>
        </p:nvSpPr>
        <p:spPr>
          <a:xfrm>
            <a:off x="5081216" y="4191930"/>
            <a:ext cx="3618600" cy="623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Kesan: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Radiologi (kalau ada)</a:t>
            </a:r>
            <a:endParaRPr/>
          </a:p>
        </p:txBody>
      </p:sp>
      <p:sp>
        <p:nvSpPr>
          <p:cNvPr id="261" name="Google Shape;261;p37"/>
          <p:cNvSpPr txBox="1"/>
          <p:nvPr>
            <p:ph idx="2" type="body"/>
          </p:nvPr>
        </p:nvSpPr>
        <p:spPr>
          <a:xfrm>
            <a:off x="4648200" y="120015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143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457200" y="1200154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143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Tata Laksana</a:t>
            </a:r>
            <a:endParaRPr/>
          </a:p>
        </p:txBody>
      </p:sp>
      <p:sp>
        <p:nvSpPr>
          <p:cNvPr id="269" name="Google Shape;269;p38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Termoregulasi			: 	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Oksigenasi adekuat		: 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Nutrisi &amp; cairan adekuat 	: 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Atasi infeksi			: 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Pemantauan			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ctrTitle"/>
          </p:nvPr>
        </p:nvSpPr>
        <p:spPr>
          <a:xfrm>
            <a:off x="685800" y="1597823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Terima Kasih</a:t>
            </a:r>
            <a:endParaRPr/>
          </a:p>
        </p:txBody>
      </p:sp>
      <p:sp>
        <p:nvSpPr>
          <p:cNvPr id="275" name="Google Shape;275;p39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